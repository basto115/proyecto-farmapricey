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Gill Sans Condensed" charset="1" panose="020B0606020104020203"/>
      <p:regular r:id="rId22"/>
    </p:embeddedFont>
    <p:embeddedFont>
      <p:font typeface="DM Sans" charset="1" panose="00000000000000000000"/>
      <p:regular r:id="rId23"/>
    </p:embeddedFont>
    <p:embeddedFont>
      <p:font typeface="Gill Sans Condensed Bold" charset="1" panose="020B0608020104020203"/>
      <p:regular r:id="rId24"/>
    </p:embeddedFont>
    <p:embeddedFont>
      <p:font typeface="Handelson Three" charset="1" panose="00000100000000000000"/>
      <p:regular r:id="rId25"/>
    </p:embeddedFont>
    <p:embeddedFont>
      <p:font typeface="TT Chocolates Bold" charset="1" panose="02000803020000020003"/>
      <p:regular r:id="rId26"/>
    </p:embeddedFont>
    <p:embeddedFont>
      <p:font typeface="TT Chocolates" charset="1" panose="02000503020000020003"/>
      <p:regular r:id="rId27"/>
    </p:embeddedFont>
    <p:embeddedFont>
      <p:font typeface="Montserrat Bold" charset="1" panose="00000800000000000000"/>
      <p:regular r:id="rId28"/>
    </p:embeddedFont>
    <p:embeddedFont>
      <p:font typeface="Montserrat Semi-Bold Italics" charset="1" panose="00000700000000000000"/>
      <p:regular r:id="rId29"/>
    </p:embeddedFont>
    <p:embeddedFont>
      <p:font typeface="Montserrat Bold Italics" charset="1" panose="000008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https://drive.google.com/file/d/1MAUtBg8CSrpYuXvEYilF3M7m0yGwq8P4/view?usp=sharing"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16" Target="../media/image22.png" Type="http://schemas.openxmlformats.org/officeDocument/2006/relationships/image"/><Relationship Id="rId17" Target="../media/image23.svg" Type="http://schemas.openxmlformats.org/officeDocument/2006/relationships/image"/><Relationship Id="rId18" Target="../media/image24.png" Type="http://schemas.openxmlformats.org/officeDocument/2006/relationships/image"/><Relationship Id="rId19" Target="../media/image25.svg" Type="http://schemas.openxmlformats.org/officeDocument/2006/relationships/image"/><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24140" y="650651"/>
            <a:ext cx="14839720" cy="8985697"/>
            <a:chOff x="0" y="0"/>
            <a:chExt cx="4349566" cy="2633735"/>
          </a:xfrm>
        </p:grpSpPr>
        <p:sp>
          <p:nvSpPr>
            <p:cNvPr name="Freeform 3" id="3"/>
            <p:cNvSpPr/>
            <p:nvPr/>
          </p:nvSpPr>
          <p:spPr>
            <a:xfrm flipH="false" flipV="false" rot="0">
              <a:off x="0" y="0"/>
              <a:ext cx="4349566" cy="2633735"/>
            </a:xfrm>
            <a:custGeom>
              <a:avLst/>
              <a:gdLst/>
              <a:ahLst/>
              <a:cxnLst/>
              <a:rect r="r" b="b" t="t" l="l"/>
              <a:pathLst>
                <a:path h="2633735" w="4349566">
                  <a:moveTo>
                    <a:pt x="0" y="0"/>
                  </a:moveTo>
                  <a:lnTo>
                    <a:pt x="4349566" y="0"/>
                  </a:lnTo>
                  <a:lnTo>
                    <a:pt x="4349566" y="2633735"/>
                  </a:lnTo>
                  <a:lnTo>
                    <a:pt x="0" y="2633735"/>
                  </a:lnTo>
                  <a:close/>
                </a:path>
              </a:pathLst>
            </a:custGeom>
            <a:ln w="66675" cap="sq">
              <a:solidFill>
                <a:srgbClr val="8FA4E1"/>
              </a:solidFill>
              <a:prstDash val="solid"/>
              <a:miter/>
            </a:ln>
          </p:spPr>
        </p:sp>
        <p:sp>
          <p:nvSpPr>
            <p:cNvPr name="TextBox 4" id="4"/>
            <p:cNvSpPr txBox="true"/>
            <p:nvPr/>
          </p:nvSpPr>
          <p:spPr>
            <a:xfrm>
              <a:off x="0" y="-38100"/>
              <a:ext cx="4349566" cy="267183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028700" y="3161274"/>
            <a:ext cx="16007927" cy="3964452"/>
          </a:xfrm>
          <a:prstGeom prst="rect">
            <a:avLst/>
          </a:prstGeom>
          <a:solidFill>
            <a:srgbClr val="CFDBFF"/>
          </a:solidFill>
        </p:spPr>
      </p:sp>
      <p:sp>
        <p:nvSpPr>
          <p:cNvPr name="AutoShape 6" id="6"/>
          <p:cNvSpPr/>
          <p:nvPr/>
        </p:nvSpPr>
        <p:spPr>
          <a:xfrm rot="0">
            <a:off x="7109838" y="7608122"/>
            <a:ext cx="3320366" cy="1650178"/>
          </a:xfrm>
          <a:prstGeom prst="rect">
            <a:avLst/>
          </a:prstGeom>
          <a:solidFill>
            <a:srgbClr val="CFDBFF"/>
          </a:solidFill>
        </p:spPr>
      </p:sp>
      <p:sp>
        <p:nvSpPr>
          <p:cNvPr name="TextBox 7" id="7"/>
          <p:cNvSpPr txBox="true"/>
          <p:nvPr/>
        </p:nvSpPr>
        <p:spPr>
          <a:xfrm rot="0">
            <a:off x="1381038" y="2560711"/>
            <a:ext cx="14777966" cy="4650221"/>
          </a:xfrm>
          <a:prstGeom prst="rect">
            <a:avLst/>
          </a:prstGeom>
        </p:spPr>
        <p:txBody>
          <a:bodyPr anchor="t" rtlCol="false" tIns="0" lIns="0" bIns="0" rIns="0">
            <a:spAutoFit/>
          </a:bodyPr>
          <a:lstStyle/>
          <a:p>
            <a:pPr algn="ctr">
              <a:lnSpc>
                <a:spcPts val="33553"/>
              </a:lnSpc>
            </a:pPr>
            <a:r>
              <a:rPr lang="en-US" sz="25419">
                <a:solidFill>
                  <a:srgbClr val="000000"/>
                </a:solidFill>
                <a:latin typeface="Gill Sans Condensed"/>
                <a:ea typeface="Gill Sans Condensed"/>
                <a:cs typeface="Gill Sans Condensed"/>
                <a:sym typeface="Gill Sans Condensed"/>
              </a:rPr>
              <a:t>FARMAPRICEY</a:t>
            </a:r>
          </a:p>
        </p:txBody>
      </p:sp>
      <p:sp>
        <p:nvSpPr>
          <p:cNvPr name="TextBox 8" id="8"/>
          <p:cNvSpPr txBox="true"/>
          <p:nvPr/>
        </p:nvSpPr>
        <p:spPr>
          <a:xfrm rot="0">
            <a:off x="6348813" y="7738453"/>
            <a:ext cx="4842417" cy="1410410"/>
          </a:xfrm>
          <a:prstGeom prst="rect">
            <a:avLst/>
          </a:prstGeom>
        </p:spPr>
        <p:txBody>
          <a:bodyPr anchor="t" rtlCol="false" tIns="0" lIns="0" bIns="0" rIns="0">
            <a:spAutoFit/>
          </a:bodyPr>
          <a:lstStyle/>
          <a:p>
            <a:pPr algn="ctr">
              <a:lnSpc>
                <a:spcPts val="2284"/>
              </a:lnSpc>
            </a:pPr>
            <a:r>
              <a:rPr lang="en-US" sz="1631" spc="34">
                <a:solidFill>
                  <a:srgbClr val="000000"/>
                </a:solidFill>
                <a:latin typeface="DM Sans"/>
                <a:ea typeface="DM Sans"/>
                <a:cs typeface="DM Sans"/>
                <a:sym typeface="DM Sans"/>
              </a:rPr>
              <a:t>Integrantes: Bastian Herrera</a:t>
            </a:r>
          </a:p>
          <a:p>
            <a:pPr algn="ctr">
              <a:lnSpc>
                <a:spcPts val="2284"/>
              </a:lnSpc>
            </a:pPr>
            <a:r>
              <a:rPr lang="en-US" sz="1631" spc="34">
                <a:solidFill>
                  <a:srgbClr val="000000"/>
                </a:solidFill>
                <a:latin typeface="DM Sans"/>
                <a:ea typeface="DM Sans"/>
                <a:cs typeface="DM Sans"/>
                <a:sym typeface="DM Sans"/>
              </a:rPr>
              <a:t>Josefa Duran </a:t>
            </a:r>
          </a:p>
          <a:p>
            <a:pPr algn="ctr">
              <a:lnSpc>
                <a:spcPts val="2284"/>
              </a:lnSpc>
            </a:pPr>
            <a:r>
              <a:rPr lang="en-US" sz="1631" spc="34">
                <a:solidFill>
                  <a:srgbClr val="000000"/>
                </a:solidFill>
                <a:latin typeface="DM Sans"/>
                <a:ea typeface="DM Sans"/>
                <a:cs typeface="DM Sans"/>
                <a:sym typeface="DM Sans"/>
              </a:rPr>
              <a:t>Helen Mora</a:t>
            </a:r>
          </a:p>
          <a:p>
            <a:pPr algn="ctr">
              <a:lnSpc>
                <a:spcPts val="2284"/>
              </a:lnSpc>
            </a:pPr>
            <a:r>
              <a:rPr lang="en-US" sz="1631" spc="34">
                <a:solidFill>
                  <a:srgbClr val="000000"/>
                </a:solidFill>
                <a:latin typeface="DM Sans"/>
                <a:ea typeface="DM Sans"/>
                <a:cs typeface="DM Sans"/>
                <a:sym typeface="DM Sans"/>
              </a:rPr>
              <a:t>Curso: Capstone 004D</a:t>
            </a:r>
          </a:p>
          <a:p>
            <a:pPr algn="ctr" marL="0" indent="0" lvl="0">
              <a:lnSpc>
                <a:spcPts val="2284"/>
              </a:lnSpc>
              <a:spcBef>
                <a:spcPct val="0"/>
              </a:spcBef>
            </a:pPr>
            <a:r>
              <a:rPr lang="en-US" sz="1631" spc="34">
                <a:solidFill>
                  <a:srgbClr val="000000"/>
                </a:solidFill>
                <a:latin typeface="DM Sans"/>
                <a:ea typeface="DM Sans"/>
                <a:cs typeface="DM Sans"/>
                <a:sym typeface="DM Sans"/>
              </a:rPr>
              <a:t>Profesor: Aldo Martinez</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997417" y="223076"/>
            <a:ext cx="4374085" cy="2092173"/>
            <a:chOff x="0" y="0"/>
            <a:chExt cx="1904541" cy="910963"/>
          </a:xfrm>
        </p:grpSpPr>
        <p:sp>
          <p:nvSpPr>
            <p:cNvPr name="Freeform 3" id="3"/>
            <p:cNvSpPr/>
            <p:nvPr/>
          </p:nvSpPr>
          <p:spPr>
            <a:xfrm flipH="false" flipV="false" rot="0">
              <a:off x="0" y="0"/>
              <a:ext cx="1904541" cy="910963"/>
            </a:xfrm>
            <a:custGeom>
              <a:avLst/>
              <a:gdLst/>
              <a:ahLst/>
              <a:cxnLst/>
              <a:rect r="r" b="b" t="t" l="l"/>
              <a:pathLst>
                <a:path h="910963" w="1904541">
                  <a:moveTo>
                    <a:pt x="0" y="0"/>
                  </a:moveTo>
                  <a:lnTo>
                    <a:pt x="1904541" y="0"/>
                  </a:lnTo>
                  <a:lnTo>
                    <a:pt x="1904541" y="910963"/>
                  </a:lnTo>
                  <a:lnTo>
                    <a:pt x="0" y="910963"/>
                  </a:lnTo>
                  <a:close/>
                </a:path>
              </a:pathLst>
            </a:custGeom>
            <a:ln w="66675" cap="sq">
              <a:solidFill>
                <a:srgbClr val="8FA4E1"/>
              </a:solidFill>
              <a:prstDash val="solid"/>
              <a:miter/>
            </a:ln>
          </p:spPr>
        </p:sp>
        <p:sp>
          <p:nvSpPr>
            <p:cNvPr name="TextBox 4" id="4"/>
            <p:cNvSpPr txBox="true"/>
            <p:nvPr/>
          </p:nvSpPr>
          <p:spPr>
            <a:xfrm>
              <a:off x="0" y="-47625"/>
              <a:ext cx="1904541" cy="958588"/>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551066" y="405288"/>
            <a:ext cx="5266786" cy="1703948"/>
          </a:xfrm>
          <a:prstGeom prst="rect">
            <a:avLst/>
          </a:prstGeom>
          <a:solidFill>
            <a:srgbClr val="CFDBFF"/>
          </a:solidFill>
        </p:spPr>
      </p:sp>
      <p:sp>
        <p:nvSpPr>
          <p:cNvPr name="AutoShape 6" id="6"/>
          <p:cNvSpPr/>
          <p:nvPr/>
        </p:nvSpPr>
        <p:spPr>
          <a:xfrm rot="0">
            <a:off x="-1379812" y="-1006101"/>
            <a:ext cx="2759625" cy="12299202"/>
          </a:xfrm>
          <a:prstGeom prst="rect">
            <a:avLst/>
          </a:prstGeom>
          <a:solidFill>
            <a:srgbClr val="CFDBFF"/>
          </a:solidFill>
        </p:spPr>
      </p:sp>
      <p:grpSp>
        <p:nvGrpSpPr>
          <p:cNvPr name="Group 7" id="7"/>
          <p:cNvGrpSpPr/>
          <p:nvPr/>
        </p:nvGrpSpPr>
        <p:grpSpPr>
          <a:xfrm rot="0">
            <a:off x="3870819" y="2988761"/>
            <a:ext cx="1038068" cy="727016"/>
            <a:chOff x="0" y="0"/>
            <a:chExt cx="838717" cy="587399"/>
          </a:xfrm>
        </p:grpSpPr>
        <p:sp>
          <p:nvSpPr>
            <p:cNvPr name="Freeform 8" id="8"/>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9" id="9"/>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10" id="10"/>
          <p:cNvGrpSpPr/>
          <p:nvPr/>
        </p:nvGrpSpPr>
        <p:grpSpPr>
          <a:xfrm rot="0">
            <a:off x="3870819" y="4159986"/>
            <a:ext cx="1038068" cy="727016"/>
            <a:chOff x="0" y="0"/>
            <a:chExt cx="838717" cy="587399"/>
          </a:xfrm>
        </p:grpSpPr>
        <p:sp>
          <p:nvSpPr>
            <p:cNvPr name="Freeform 11" id="11"/>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12" id="12"/>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13" id="13"/>
          <p:cNvGrpSpPr/>
          <p:nvPr/>
        </p:nvGrpSpPr>
        <p:grpSpPr>
          <a:xfrm rot="0">
            <a:off x="3870819" y="5324643"/>
            <a:ext cx="1038068" cy="727016"/>
            <a:chOff x="0" y="0"/>
            <a:chExt cx="838717" cy="587399"/>
          </a:xfrm>
        </p:grpSpPr>
        <p:sp>
          <p:nvSpPr>
            <p:cNvPr name="Freeform 14" id="14"/>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15" id="15"/>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16" id="16"/>
          <p:cNvGrpSpPr/>
          <p:nvPr/>
        </p:nvGrpSpPr>
        <p:grpSpPr>
          <a:xfrm rot="0">
            <a:off x="3870819" y="6489300"/>
            <a:ext cx="1038068" cy="727016"/>
            <a:chOff x="0" y="0"/>
            <a:chExt cx="838717" cy="587399"/>
          </a:xfrm>
        </p:grpSpPr>
        <p:sp>
          <p:nvSpPr>
            <p:cNvPr name="Freeform 17" id="17"/>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18" id="18"/>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19" id="19"/>
          <p:cNvGrpSpPr/>
          <p:nvPr/>
        </p:nvGrpSpPr>
        <p:grpSpPr>
          <a:xfrm rot="0">
            <a:off x="3900372" y="7653957"/>
            <a:ext cx="1038068" cy="727016"/>
            <a:chOff x="0" y="0"/>
            <a:chExt cx="838717" cy="587399"/>
          </a:xfrm>
        </p:grpSpPr>
        <p:sp>
          <p:nvSpPr>
            <p:cNvPr name="Freeform 20" id="20"/>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21" id="21"/>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22" id="22"/>
          <p:cNvGrpSpPr/>
          <p:nvPr/>
        </p:nvGrpSpPr>
        <p:grpSpPr>
          <a:xfrm rot="0">
            <a:off x="10149225" y="2988761"/>
            <a:ext cx="1038068" cy="727016"/>
            <a:chOff x="0" y="0"/>
            <a:chExt cx="838717" cy="587399"/>
          </a:xfrm>
        </p:grpSpPr>
        <p:sp>
          <p:nvSpPr>
            <p:cNvPr name="Freeform 23" id="23"/>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24" id="24"/>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25" id="25"/>
          <p:cNvGrpSpPr/>
          <p:nvPr/>
        </p:nvGrpSpPr>
        <p:grpSpPr>
          <a:xfrm rot="0">
            <a:off x="10149225" y="4159986"/>
            <a:ext cx="1038068" cy="727016"/>
            <a:chOff x="0" y="0"/>
            <a:chExt cx="838717" cy="587399"/>
          </a:xfrm>
        </p:grpSpPr>
        <p:sp>
          <p:nvSpPr>
            <p:cNvPr name="Freeform 26" id="26"/>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27" id="27"/>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28" id="28"/>
          <p:cNvGrpSpPr/>
          <p:nvPr/>
        </p:nvGrpSpPr>
        <p:grpSpPr>
          <a:xfrm rot="0">
            <a:off x="10149225" y="5324643"/>
            <a:ext cx="1038068" cy="727016"/>
            <a:chOff x="0" y="0"/>
            <a:chExt cx="838717" cy="587399"/>
          </a:xfrm>
        </p:grpSpPr>
        <p:sp>
          <p:nvSpPr>
            <p:cNvPr name="Freeform 29" id="29"/>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30" id="30"/>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31" id="31"/>
          <p:cNvGrpSpPr/>
          <p:nvPr/>
        </p:nvGrpSpPr>
        <p:grpSpPr>
          <a:xfrm rot="0">
            <a:off x="10149225" y="6489300"/>
            <a:ext cx="1038068" cy="727016"/>
            <a:chOff x="0" y="0"/>
            <a:chExt cx="838717" cy="587399"/>
          </a:xfrm>
        </p:grpSpPr>
        <p:sp>
          <p:nvSpPr>
            <p:cNvPr name="Freeform 32" id="32"/>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33" id="33"/>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34" id="34"/>
          <p:cNvGrpSpPr/>
          <p:nvPr/>
        </p:nvGrpSpPr>
        <p:grpSpPr>
          <a:xfrm rot="0">
            <a:off x="10178778" y="7653957"/>
            <a:ext cx="1038068" cy="727016"/>
            <a:chOff x="0" y="0"/>
            <a:chExt cx="838717" cy="587399"/>
          </a:xfrm>
        </p:grpSpPr>
        <p:sp>
          <p:nvSpPr>
            <p:cNvPr name="Freeform 35" id="35"/>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36" id="36"/>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37" id="37"/>
          <p:cNvGrpSpPr/>
          <p:nvPr/>
        </p:nvGrpSpPr>
        <p:grpSpPr>
          <a:xfrm rot="0">
            <a:off x="3870819" y="8818613"/>
            <a:ext cx="1038068" cy="727016"/>
            <a:chOff x="0" y="0"/>
            <a:chExt cx="838717" cy="587399"/>
          </a:xfrm>
        </p:grpSpPr>
        <p:sp>
          <p:nvSpPr>
            <p:cNvPr name="Freeform 38" id="38"/>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39" id="39"/>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grpSp>
        <p:nvGrpSpPr>
          <p:cNvPr name="Group 40" id="40"/>
          <p:cNvGrpSpPr/>
          <p:nvPr/>
        </p:nvGrpSpPr>
        <p:grpSpPr>
          <a:xfrm rot="0">
            <a:off x="10149225" y="8818613"/>
            <a:ext cx="1038068" cy="727016"/>
            <a:chOff x="0" y="0"/>
            <a:chExt cx="838717" cy="587399"/>
          </a:xfrm>
        </p:grpSpPr>
        <p:sp>
          <p:nvSpPr>
            <p:cNvPr name="Freeform 41" id="41"/>
            <p:cNvSpPr/>
            <p:nvPr/>
          </p:nvSpPr>
          <p:spPr>
            <a:xfrm flipH="false" flipV="false" rot="0">
              <a:off x="0" y="0"/>
              <a:ext cx="838717" cy="587399"/>
            </a:xfrm>
            <a:custGeom>
              <a:avLst/>
              <a:gdLst/>
              <a:ahLst/>
              <a:cxnLst/>
              <a:rect r="r" b="b" t="t" l="l"/>
              <a:pathLst>
                <a:path h="587399" w="838717">
                  <a:moveTo>
                    <a:pt x="0" y="0"/>
                  </a:moveTo>
                  <a:lnTo>
                    <a:pt x="838717" y="0"/>
                  </a:lnTo>
                  <a:lnTo>
                    <a:pt x="838717" y="587399"/>
                  </a:lnTo>
                  <a:lnTo>
                    <a:pt x="0" y="587399"/>
                  </a:lnTo>
                  <a:close/>
                </a:path>
              </a:pathLst>
            </a:custGeom>
            <a:ln w="66675" cap="sq">
              <a:solidFill>
                <a:srgbClr val="8FA4E1"/>
              </a:solidFill>
              <a:prstDash val="solid"/>
              <a:miter/>
            </a:ln>
          </p:spPr>
        </p:sp>
        <p:sp>
          <p:nvSpPr>
            <p:cNvPr name="TextBox 42" id="42"/>
            <p:cNvSpPr txBox="true"/>
            <p:nvPr/>
          </p:nvSpPr>
          <p:spPr>
            <a:xfrm>
              <a:off x="0" y="-47625"/>
              <a:ext cx="838717" cy="635024"/>
            </a:xfrm>
            <a:prstGeom prst="rect">
              <a:avLst/>
            </a:prstGeom>
          </p:spPr>
          <p:txBody>
            <a:bodyPr anchor="ctr" rtlCol="false" tIns="48876" lIns="48876" bIns="48876" rIns="48876"/>
            <a:lstStyle/>
            <a:p>
              <a:pPr algn="ctr">
                <a:lnSpc>
                  <a:spcPts val="1588"/>
                </a:lnSpc>
              </a:pPr>
            </a:p>
          </p:txBody>
        </p:sp>
      </p:grpSp>
      <p:sp>
        <p:nvSpPr>
          <p:cNvPr name="TextBox 43" id="43"/>
          <p:cNvSpPr txBox="true"/>
          <p:nvPr/>
        </p:nvSpPr>
        <p:spPr>
          <a:xfrm rot="0">
            <a:off x="6643344" y="286683"/>
            <a:ext cx="5093591" cy="1860633"/>
          </a:xfrm>
          <a:prstGeom prst="rect">
            <a:avLst/>
          </a:prstGeom>
        </p:spPr>
        <p:txBody>
          <a:bodyPr anchor="t" rtlCol="false" tIns="0" lIns="0" bIns="0" rIns="0">
            <a:spAutoFit/>
          </a:bodyPr>
          <a:lstStyle/>
          <a:p>
            <a:pPr algn="ctr">
              <a:lnSpc>
                <a:spcPts val="13421"/>
              </a:lnSpc>
            </a:pPr>
            <a:r>
              <a:rPr lang="en-US" sz="10167">
                <a:solidFill>
                  <a:srgbClr val="1C1B19"/>
                </a:solidFill>
                <a:latin typeface="Gill Sans Condensed"/>
                <a:ea typeface="Gill Sans Condensed"/>
                <a:cs typeface="Gill Sans Condensed"/>
                <a:sym typeface="Gill Sans Condensed"/>
              </a:rPr>
              <a:t>ÍNDICE</a:t>
            </a:r>
          </a:p>
        </p:txBody>
      </p:sp>
      <p:sp>
        <p:nvSpPr>
          <p:cNvPr name="TextBox 44" id="44"/>
          <p:cNvSpPr txBox="true"/>
          <p:nvPr/>
        </p:nvSpPr>
        <p:spPr>
          <a:xfrm rot="0">
            <a:off x="4116629" y="3020836"/>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01</a:t>
            </a:r>
          </a:p>
        </p:txBody>
      </p:sp>
      <p:sp>
        <p:nvSpPr>
          <p:cNvPr name="TextBox 45" id="45"/>
          <p:cNvSpPr txBox="true"/>
          <p:nvPr/>
        </p:nvSpPr>
        <p:spPr>
          <a:xfrm rot="0">
            <a:off x="5248605" y="4191083"/>
            <a:ext cx="2655286"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Contexto</a:t>
            </a:r>
          </a:p>
        </p:txBody>
      </p:sp>
      <p:sp>
        <p:nvSpPr>
          <p:cNvPr name="TextBox 46" id="46"/>
          <p:cNvSpPr txBox="true"/>
          <p:nvPr/>
        </p:nvSpPr>
        <p:spPr>
          <a:xfrm rot="0">
            <a:off x="5248605" y="8809546"/>
            <a:ext cx="437674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Mapa Tecnologico/Arquitectura</a:t>
            </a:r>
          </a:p>
        </p:txBody>
      </p:sp>
      <p:sp>
        <p:nvSpPr>
          <p:cNvPr name="TextBox 47" id="47"/>
          <p:cNvSpPr txBox="true"/>
          <p:nvPr/>
        </p:nvSpPr>
        <p:spPr>
          <a:xfrm rot="0">
            <a:off x="5248605" y="6480232"/>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Solución </a:t>
            </a:r>
          </a:p>
        </p:txBody>
      </p:sp>
      <p:sp>
        <p:nvSpPr>
          <p:cNvPr name="TextBox 48" id="48"/>
          <p:cNvSpPr txBox="true"/>
          <p:nvPr/>
        </p:nvSpPr>
        <p:spPr>
          <a:xfrm rot="0">
            <a:off x="11521869" y="8903776"/>
            <a:ext cx="2055747"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Conclusiones</a:t>
            </a:r>
          </a:p>
        </p:txBody>
      </p:sp>
      <p:sp>
        <p:nvSpPr>
          <p:cNvPr name="TextBox 49" id="49"/>
          <p:cNvSpPr txBox="true"/>
          <p:nvPr/>
        </p:nvSpPr>
        <p:spPr>
          <a:xfrm rot="0">
            <a:off x="6470148" y="1444459"/>
            <a:ext cx="5266786" cy="627119"/>
          </a:xfrm>
          <a:prstGeom prst="rect">
            <a:avLst/>
          </a:prstGeom>
        </p:spPr>
        <p:txBody>
          <a:bodyPr anchor="t" rtlCol="false" tIns="0" lIns="0" bIns="0" rIns="0">
            <a:spAutoFit/>
          </a:bodyPr>
          <a:lstStyle/>
          <a:p>
            <a:pPr algn="ctr">
              <a:lnSpc>
                <a:spcPts val="5065"/>
              </a:lnSpc>
            </a:pPr>
            <a:r>
              <a:rPr lang="en-US" sz="3837" spc="42">
                <a:solidFill>
                  <a:srgbClr val="000000"/>
                </a:solidFill>
                <a:latin typeface="Handelson Three"/>
                <a:ea typeface="Handelson Three"/>
                <a:cs typeface="Handelson Three"/>
                <a:sym typeface="Handelson Three"/>
              </a:rPr>
              <a:t>de contenidos</a:t>
            </a:r>
          </a:p>
        </p:txBody>
      </p:sp>
      <p:sp>
        <p:nvSpPr>
          <p:cNvPr name="TextBox 50" id="50"/>
          <p:cNvSpPr txBox="true"/>
          <p:nvPr/>
        </p:nvSpPr>
        <p:spPr>
          <a:xfrm rot="0">
            <a:off x="5248605" y="3039886"/>
            <a:ext cx="2784577"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Introducción</a:t>
            </a:r>
          </a:p>
        </p:txBody>
      </p:sp>
      <p:sp>
        <p:nvSpPr>
          <p:cNvPr name="TextBox 51" id="51"/>
          <p:cNvSpPr txBox="true"/>
          <p:nvPr/>
        </p:nvSpPr>
        <p:spPr>
          <a:xfrm rot="0">
            <a:off x="4116629" y="4192062"/>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02</a:t>
            </a:r>
          </a:p>
        </p:txBody>
      </p:sp>
      <p:sp>
        <p:nvSpPr>
          <p:cNvPr name="TextBox 52" id="52"/>
          <p:cNvSpPr txBox="true"/>
          <p:nvPr/>
        </p:nvSpPr>
        <p:spPr>
          <a:xfrm rot="0">
            <a:off x="4116629" y="5356719"/>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03</a:t>
            </a:r>
          </a:p>
        </p:txBody>
      </p:sp>
      <p:sp>
        <p:nvSpPr>
          <p:cNvPr name="TextBox 53" id="53"/>
          <p:cNvSpPr txBox="true"/>
          <p:nvPr/>
        </p:nvSpPr>
        <p:spPr>
          <a:xfrm rot="0">
            <a:off x="4116629" y="6521375"/>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04</a:t>
            </a:r>
          </a:p>
        </p:txBody>
      </p:sp>
      <p:sp>
        <p:nvSpPr>
          <p:cNvPr name="TextBox 54" id="54"/>
          <p:cNvSpPr txBox="true"/>
          <p:nvPr/>
        </p:nvSpPr>
        <p:spPr>
          <a:xfrm rot="0">
            <a:off x="4146181" y="7686032"/>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05</a:t>
            </a:r>
          </a:p>
        </p:txBody>
      </p:sp>
      <p:sp>
        <p:nvSpPr>
          <p:cNvPr name="TextBox 55" id="55"/>
          <p:cNvSpPr txBox="true"/>
          <p:nvPr/>
        </p:nvSpPr>
        <p:spPr>
          <a:xfrm rot="0">
            <a:off x="5248605" y="7758897"/>
            <a:ext cx="3387935" cy="640461"/>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Metodología/Plan/Roles </a:t>
            </a:r>
          </a:p>
        </p:txBody>
      </p:sp>
      <p:sp>
        <p:nvSpPr>
          <p:cNvPr name="TextBox 56" id="56"/>
          <p:cNvSpPr txBox="true"/>
          <p:nvPr/>
        </p:nvSpPr>
        <p:spPr>
          <a:xfrm rot="0">
            <a:off x="11521869" y="3057644"/>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Competencias </a:t>
            </a:r>
          </a:p>
        </p:txBody>
      </p:sp>
      <p:sp>
        <p:nvSpPr>
          <p:cNvPr name="TextBox 57" id="57"/>
          <p:cNvSpPr txBox="true"/>
          <p:nvPr/>
        </p:nvSpPr>
        <p:spPr>
          <a:xfrm rot="0">
            <a:off x="5248605" y="5393526"/>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Problemática </a:t>
            </a:r>
          </a:p>
        </p:txBody>
      </p:sp>
      <p:sp>
        <p:nvSpPr>
          <p:cNvPr name="TextBox 58" id="58"/>
          <p:cNvSpPr txBox="true"/>
          <p:nvPr/>
        </p:nvSpPr>
        <p:spPr>
          <a:xfrm rot="0">
            <a:off x="11521869" y="4150918"/>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Riesgo</a:t>
            </a:r>
          </a:p>
        </p:txBody>
      </p:sp>
      <p:sp>
        <p:nvSpPr>
          <p:cNvPr name="TextBox 59" id="59"/>
          <p:cNvSpPr txBox="true"/>
          <p:nvPr/>
        </p:nvSpPr>
        <p:spPr>
          <a:xfrm rot="0">
            <a:off x="10395035" y="3020836"/>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07</a:t>
            </a:r>
          </a:p>
        </p:txBody>
      </p:sp>
      <p:sp>
        <p:nvSpPr>
          <p:cNvPr name="TextBox 60" id="60"/>
          <p:cNvSpPr txBox="true"/>
          <p:nvPr/>
        </p:nvSpPr>
        <p:spPr>
          <a:xfrm rot="0">
            <a:off x="10395035" y="4192062"/>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08</a:t>
            </a:r>
          </a:p>
        </p:txBody>
      </p:sp>
      <p:sp>
        <p:nvSpPr>
          <p:cNvPr name="TextBox 61" id="61"/>
          <p:cNvSpPr txBox="true"/>
          <p:nvPr/>
        </p:nvSpPr>
        <p:spPr>
          <a:xfrm rot="0">
            <a:off x="10395035" y="5356719"/>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09</a:t>
            </a:r>
          </a:p>
        </p:txBody>
      </p:sp>
      <p:sp>
        <p:nvSpPr>
          <p:cNvPr name="TextBox 62" id="62"/>
          <p:cNvSpPr txBox="true"/>
          <p:nvPr/>
        </p:nvSpPr>
        <p:spPr>
          <a:xfrm rot="0">
            <a:off x="10395035" y="6521375"/>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10</a:t>
            </a:r>
          </a:p>
        </p:txBody>
      </p:sp>
      <p:sp>
        <p:nvSpPr>
          <p:cNvPr name="TextBox 63" id="63"/>
          <p:cNvSpPr txBox="true"/>
          <p:nvPr/>
        </p:nvSpPr>
        <p:spPr>
          <a:xfrm rot="0">
            <a:off x="10365482" y="7650518"/>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11</a:t>
            </a:r>
          </a:p>
        </p:txBody>
      </p:sp>
      <p:sp>
        <p:nvSpPr>
          <p:cNvPr name="TextBox 64" id="64"/>
          <p:cNvSpPr txBox="true"/>
          <p:nvPr/>
        </p:nvSpPr>
        <p:spPr>
          <a:xfrm rot="0">
            <a:off x="11437474" y="5315575"/>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Seguridad</a:t>
            </a:r>
          </a:p>
        </p:txBody>
      </p:sp>
      <p:sp>
        <p:nvSpPr>
          <p:cNvPr name="TextBox 65" id="65"/>
          <p:cNvSpPr txBox="true"/>
          <p:nvPr/>
        </p:nvSpPr>
        <p:spPr>
          <a:xfrm rot="0">
            <a:off x="11437474" y="6413151"/>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Modelo de negocio</a:t>
            </a:r>
          </a:p>
        </p:txBody>
      </p:sp>
      <p:sp>
        <p:nvSpPr>
          <p:cNvPr name="TextBox 66" id="66"/>
          <p:cNvSpPr txBox="true"/>
          <p:nvPr/>
        </p:nvSpPr>
        <p:spPr>
          <a:xfrm rot="0">
            <a:off x="11532102" y="7705082"/>
            <a:ext cx="3387935" cy="640375"/>
          </a:xfrm>
          <a:prstGeom prst="rect">
            <a:avLst/>
          </a:prstGeom>
        </p:spPr>
        <p:txBody>
          <a:bodyPr anchor="t" rtlCol="false" tIns="0" lIns="0" bIns="0" rIns="0">
            <a:spAutoFit/>
          </a:bodyPr>
          <a:lstStyle/>
          <a:p>
            <a:pPr algn="l">
              <a:lnSpc>
                <a:spcPts val="4648"/>
              </a:lnSpc>
            </a:pPr>
            <a:r>
              <a:rPr lang="en-US" sz="3521">
                <a:solidFill>
                  <a:srgbClr val="1C1B19"/>
                </a:solidFill>
                <a:latin typeface="Gill Sans Condensed"/>
                <a:ea typeface="Gill Sans Condensed"/>
                <a:cs typeface="Gill Sans Condensed"/>
                <a:sym typeface="Gill Sans Condensed"/>
              </a:rPr>
              <a:t>Mockup</a:t>
            </a:r>
          </a:p>
        </p:txBody>
      </p:sp>
      <p:sp>
        <p:nvSpPr>
          <p:cNvPr name="TextBox 67" id="67"/>
          <p:cNvSpPr txBox="true"/>
          <p:nvPr/>
        </p:nvSpPr>
        <p:spPr>
          <a:xfrm rot="0">
            <a:off x="4116629" y="8850689"/>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06</a:t>
            </a:r>
          </a:p>
        </p:txBody>
      </p:sp>
      <p:sp>
        <p:nvSpPr>
          <p:cNvPr name="TextBox 68" id="68"/>
          <p:cNvSpPr txBox="true"/>
          <p:nvPr/>
        </p:nvSpPr>
        <p:spPr>
          <a:xfrm rot="0">
            <a:off x="10395035" y="8850689"/>
            <a:ext cx="605554" cy="694940"/>
          </a:xfrm>
          <a:prstGeom prst="rect">
            <a:avLst/>
          </a:prstGeom>
        </p:spPr>
        <p:txBody>
          <a:bodyPr anchor="t" rtlCol="false" tIns="0" lIns="0" bIns="0" rIns="0">
            <a:spAutoFit/>
          </a:bodyPr>
          <a:lstStyle/>
          <a:p>
            <a:pPr algn="ctr">
              <a:lnSpc>
                <a:spcPts val="4949"/>
              </a:lnSpc>
            </a:pPr>
            <a:r>
              <a:rPr lang="en-US" b="true" sz="3749" spc="547">
                <a:solidFill>
                  <a:srgbClr val="1C1B19"/>
                </a:solidFill>
                <a:latin typeface="Gill Sans Condensed Bold"/>
                <a:ea typeface="Gill Sans Condensed Bold"/>
                <a:cs typeface="Gill Sans Condensed Bold"/>
                <a:sym typeface="Gill Sans Condensed Bold"/>
              </a:rPr>
              <a:t>12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grpSp>
        <p:nvGrpSpPr>
          <p:cNvPr name="Group 3" id="3"/>
          <p:cNvGrpSpPr/>
          <p:nvPr/>
        </p:nvGrpSpPr>
        <p:grpSpPr>
          <a:xfrm rot="0">
            <a:off x="2538390" y="935452"/>
            <a:ext cx="14318678" cy="1282750"/>
            <a:chOff x="0" y="0"/>
            <a:chExt cx="6778587" cy="607265"/>
          </a:xfrm>
        </p:grpSpPr>
        <p:sp>
          <p:nvSpPr>
            <p:cNvPr name="Freeform 4" id="4"/>
            <p:cNvSpPr/>
            <p:nvPr/>
          </p:nvSpPr>
          <p:spPr>
            <a:xfrm flipH="false" flipV="false" rot="0">
              <a:off x="0" y="0"/>
              <a:ext cx="6778587" cy="607265"/>
            </a:xfrm>
            <a:custGeom>
              <a:avLst/>
              <a:gdLst/>
              <a:ahLst/>
              <a:cxnLst/>
              <a:rect r="r" b="b" t="t" l="l"/>
              <a:pathLst>
                <a:path h="607265" w="6778587">
                  <a:moveTo>
                    <a:pt x="0" y="0"/>
                  </a:moveTo>
                  <a:lnTo>
                    <a:pt x="6778587" y="0"/>
                  </a:lnTo>
                  <a:lnTo>
                    <a:pt x="6778587" y="607265"/>
                  </a:lnTo>
                  <a:lnTo>
                    <a:pt x="0" y="607265"/>
                  </a:lnTo>
                  <a:close/>
                </a:path>
              </a:pathLst>
            </a:custGeom>
            <a:ln w="66675" cap="sq">
              <a:solidFill>
                <a:srgbClr val="8FA4E1"/>
              </a:solidFill>
              <a:prstDash val="solid"/>
              <a:miter/>
            </a:ln>
          </p:spPr>
        </p:sp>
        <p:sp>
          <p:nvSpPr>
            <p:cNvPr name="TextBox 5" id="5"/>
            <p:cNvSpPr txBox="true"/>
            <p:nvPr/>
          </p:nvSpPr>
          <p:spPr>
            <a:xfrm>
              <a:off x="0" y="-47625"/>
              <a:ext cx="6778587" cy="654890"/>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3168000" y="672327"/>
            <a:ext cx="13073008" cy="1809001"/>
          </a:xfrm>
          <a:prstGeom prst="rect">
            <a:avLst/>
          </a:prstGeom>
          <a:solidFill>
            <a:srgbClr val="CFDBFF"/>
          </a:solidFill>
        </p:spPr>
      </p:sp>
      <p:sp>
        <p:nvSpPr>
          <p:cNvPr name="TextBox 7" id="7"/>
          <p:cNvSpPr txBox="true"/>
          <p:nvPr/>
        </p:nvSpPr>
        <p:spPr>
          <a:xfrm rot="0">
            <a:off x="3010825" y="503556"/>
            <a:ext cx="13073008" cy="2206398"/>
          </a:xfrm>
          <a:prstGeom prst="rect">
            <a:avLst/>
          </a:prstGeom>
        </p:spPr>
        <p:txBody>
          <a:bodyPr anchor="t" rtlCol="false" tIns="0" lIns="0" bIns="0" rIns="0">
            <a:spAutoFit/>
          </a:bodyPr>
          <a:lstStyle/>
          <a:p>
            <a:pPr algn="ctr">
              <a:lnSpc>
                <a:spcPts val="15971"/>
              </a:lnSpc>
            </a:pPr>
            <a:r>
              <a:rPr lang="en-US" sz="12099">
                <a:solidFill>
                  <a:srgbClr val="1C1B19"/>
                </a:solidFill>
                <a:latin typeface="Gill Sans Condensed"/>
                <a:ea typeface="Gill Sans Condensed"/>
                <a:cs typeface="Gill Sans Condensed"/>
                <a:sym typeface="Gill Sans Condensed"/>
              </a:rPr>
              <a:t>INTRODUCCIÓN</a:t>
            </a:r>
          </a:p>
        </p:txBody>
      </p:sp>
      <p:sp>
        <p:nvSpPr>
          <p:cNvPr name="TextBox 8" id="8"/>
          <p:cNvSpPr txBox="true"/>
          <p:nvPr/>
        </p:nvSpPr>
        <p:spPr>
          <a:xfrm rot="0">
            <a:off x="1598711" y="3470286"/>
            <a:ext cx="15660589" cy="5053330"/>
          </a:xfrm>
          <a:prstGeom prst="rect">
            <a:avLst/>
          </a:prstGeom>
        </p:spPr>
        <p:txBody>
          <a:bodyPr anchor="t" rtlCol="false" tIns="0" lIns="0" bIns="0" rIns="0">
            <a:spAutoFit/>
          </a:bodyPr>
          <a:lstStyle/>
          <a:p>
            <a:pPr algn="l">
              <a:lnSpc>
                <a:spcPts val="4369"/>
              </a:lnSpc>
            </a:pPr>
            <a:r>
              <a:rPr lang="en-US" sz="3799">
                <a:solidFill>
                  <a:srgbClr val="1C1B19"/>
                </a:solidFill>
                <a:latin typeface="Gill Sans Condensed"/>
                <a:ea typeface="Gill Sans Condensed"/>
                <a:cs typeface="Gill Sans Condensed"/>
                <a:sym typeface="Gill Sans Condensed"/>
              </a:rPr>
              <a:t>FarmaPricey es una plataforma web que busca facilitar la búsqueda y comparación de precios de medicamentos entre distintas farmacias en Chile.</a:t>
            </a:r>
          </a:p>
          <a:p>
            <a:pPr algn="l">
              <a:lnSpc>
                <a:spcPts val="4369"/>
              </a:lnSpc>
            </a:pPr>
          </a:p>
          <a:p>
            <a:pPr algn="l">
              <a:lnSpc>
                <a:spcPts val="4369"/>
              </a:lnSpc>
            </a:pPr>
            <a:r>
              <a:rPr lang="en-US" sz="3799">
                <a:solidFill>
                  <a:srgbClr val="1C1B19"/>
                </a:solidFill>
                <a:latin typeface="Gill Sans Condensed"/>
                <a:ea typeface="Gill Sans Condensed"/>
                <a:cs typeface="Gill Sans Condensed"/>
                <a:sym typeface="Gill Sans Condensed"/>
              </a:rPr>
              <a:t>El proyecto nace debido a que la información de precios se encuentra distribuida en diferentes plataformas, haciendo que los usuarios deban realizar búsquedas individuales para encontrar alternativas convenientes.</a:t>
            </a:r>
          </a:p>
          <a:p>
            <a:pPr algn="l">
              <a:lnSpc>
                <a:spcPts val="4369"/>
              </a:lnSpc>
            </a:pPr>
          </a:p>
          <a:p>
            <a:pPr algn="l">
              <a:lnSpc>
                <a:spcPts val="4369"/>
              </a:lnSpc>
            </a:pPr>
            <a:r>
              <a:rPr lang="en-US" sz="3799">
                <a:solidFill>
                  <a:srgbClr val="1C1B19"/>
                </a:solidFill>
                <a:latin typeface="Gill Sans Condensed"/>
                <a:ea typeface="Gill Sans Condensed"/>
                <a:cs typeface="Gill Sans Condensed"/>
                <a:sym typeface="Gill Sans Condensed"/>
              </a:rPr>
              <a:t>Nuestra propuesta consiste en centralizar esta información, incorporando la comparación de precios y herramientas de geolocalización para ayudar a los usuarios a encontrar farmacias cercanas y tomar una decisión considerando tanto el precio como la ubicación.</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201403" y="453616"/>
            <a:ext cx="5873377" cy="2555853"/>
            <a:chOff x="0" y="0"/>
            <a:chExt cx="2120236" cy="922640"/>
          </a:xfrm>
        </p:grpSpPr>
        <p:sp>
          <p:nvSpPr>
            <p:cNvPr name="Freeform 3" id="3"/>
            <p:cNvSpPr/>
            <p:nvPr/>
          </p:nvSpPr>
          <p:spPr>
            <a:xfrm flipH="false" flipV="false" rot="0">
              <a:off x="0" y="0"/>
              <a:ext cx="2120236" cy="922640"/>
            </a:xfrm>
            <a:custGeom>
              <a:avLst/>
              <a:gdLst/>
              <a:ahLst/>
              <a:cxnLst/>
              <a:rect r="r" b="b" t="t" l="l"/>
              <a:pathLst>
                <a:path h="922640" w="2120236">
                  <a:moveTo>
                    <a:pt x="0" y="0"/>
                  </a:moveTo>
                  <a:lnTo>
                    <a:pt x="2120236" y="0"/>
                  </a:lnTo>
                  <a:lnTo>
                    <a:pt x="2120236" y="922640"/>
                  </a:lnTo>
                  <a:lnTo>
                    <a:pt x="0" y="922640"/>
                  </a:lnTo>
                  <a:close/>
                </a:path>
              </a:pathLst>
            </a:custGeom>
            <a:ln w="66675" cap="sq">
              <a:solidFill>
                <a:srgbClr val="8FA4E1"/>
              </a:solidFill>
              <a:prstDash val="solid"/>
              <a:miter/>
            </a:ln>
          </p:spPr>
        </p:sp>
        <p:sp>
          <p:nvSpPr>
            <p:cNvPr name="TextBox 4" id="4"/>
            <p:cNvSpPr txBox="true"/>
            <p:nvPr/>
          </p:nvSpPr>
          <p:spPr>
            <a:xfrm>
              <a:off x="0" y="-47625"/>
              <a:ext cx="2120236" cy="97026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5495832" y="686474"/>
            <a:ext cx="7296337" cy="2055242"/>
          </a:xfrm>
          <a:prstGeom prst="rect">
            <a:avLst/>
          </a:prstGeom>
          <a:solidFill>
            <a:srgbClr val="CFDBFF"/>
          </a:solidFill>
        </p:spPr>
      </p:sp>
      <p:sp>
        <p:nvSpPr>
          <p:cNvPr name="TextBox 6" id="6"/>
          <p:cNvSpPr txBox="true"/>
          <p:nvPr/>
        </p:nvSpPr>
        <p:spPr>
          <a:xfrm rot="0">
            <a:off x="5495832" y="762017"/>
            <a:ext cx="7202660" cy="1870037"/>
          </a:xfrm>
          <a:prstGeom prst="rect">
            <a:avLst/>
          </a:prstGeom>
        </p:spPr>
        <p:txBody>
          <a:bodyPr anchor="t" rtlCol="false" tIns="0" lIns="0" bIns="0" rIns="0">
            <a:spAutoFit/>
          </a:bodyPr>
          <a:lstStyle/>
          <a:p>
            <a:pPr algn="ctr">
              <a:lnSpc>
                <a:spcPts val="13493"/>
              </a:lnSpc>
            </a:pPr>
            <a:r>
              <a:rPr lang="en-US" sz="10221">
                <a:solidFill>
                  <a:srgbClr val="1C1B19"/>
                </a:solidFill>
                <a:latin typeface="Gill Sans Condensed"/>
                <a:ea typeface="Gill Sans Condensed"/>
                <a:cs typeface="Gill Sans Condensed"/>
                <a:sym typeface="Gill Sans Condensed"/>
              </a:rPr>
              <a:t>CONTEXTO</a:t>
            </a:r>
          </a:p>
        </p:txBody>
      </p:sp>
      <p:sp>
        <p:nvSpPr>
          <p:cNvPr name="TextBox 7" id="7"/>
          <p:cNvSpPr txBox="true"/>
          <p:nvPr/>
        </p:nvSpPr>
        <p:spPr>
          <a:xfrm rot="0">
            <a:off x="1578518" y="3477259"/>
            <a:ext cx="15130963" cy="6591300"/>
          </a:xfrm>
          <a:prstGeom prst="rect">
            <a:avLst/>
          </a:prstGeom>
        </p:spPr>
        <p:txBody>
          <a:bodyPr anchor="t" rtlCol="false" tIns="0" lIns="0" bIns="0" rIns="0">
            <a:spAutoFit/>
          </a:bodyPr>
          <a:lstStyle/>
          <a:p>
            <a:pPr algn="l">
              <a:lnSpc>
                <a:spcPts val="4331"/>
              </a:lnSpc>
            </a:pPr>
            <a:r>
              <a:rPr lang="en-US" sz="3799">
                <a:solidFill>
                  <a:srgbClr val="1C1B19"/>
                </a:solidFill>
                <a:latin typeface="Gill Sans Condensed"/>
                <a:ea typeface="Gill Sans Condensed"/>
                <a:cs typeface="Gill Sans Condensed"/>
                <a:sym typeface="Gill Sans Condensed"/>
              </a:rPr>
              <a:t>En Chile, las personas que necesitan adquirir medicamentos pueden encontrar diferencias de precios entre distintas farmacias. Sin embargo, esta información se encuentra distribuida entre los sitios web de cada establecimiento, por lo que comparar alternativas requiere realizar búsquedas de manera individual. </a:t>
            </a:r>
          </a:p>
          <a:p>
            <a:pPr algn="l">
              <a:lnSpc>
                <a:spcPts val="4331"/>
              </a:lnSpc>
            </a:pPr>
          </a:p>
          <a:p>
            <a:pPr algn="l">
              <a:lnSpc>
                <a:spcPts val="4331"/>
              </a:lnSpc>
            </a:pPr>
            <a:r>
              <a:rPr lang="en-US" sz="3799">
                <a:solidFill>
                  <a:srgbClr val="1C1B19"/>
                </a:solidFill>
                <a:latin typeface="Gill Sans Condensed"/>
                <a:ea typeface="Gill Sans Condensed"/>
                <a:cs typeface="Gill Sans Condensed"/>
                <a:sym typeface="Gill Sans Condensed"/>
              </a:rPr>
              <a:t>Además del precio, la ubicación de la farmacia es un factor relevante al momento de elegir dónde comprar, ya que la alternativa más económica no necesariamente es la más conveniente si se encuentra a una mayor distancia.</a:t>
            </a:r>
          </a:p>
          <a:p>
            <a:pPr algn="l">
              <a:lnSpc>
                <a:spcPts val="4331"/>
              </a:lnSpc>
            </a:pPr>
          </a:p>
          <a:p>
            <a:pPr algn="l">
              <a:lnSpc>
                <a:spcPts val="4331"/>
              </a:lnSpc>
            </a:pPr>
            <a:r>
              <a:rPr lang="en-US" sz="3799">
                <a:solidFill>
                  <a:srgbClr val="1C1B19"/>
                </a:solidFill>
                <a:latin typeface="Gill Sans Condensed"/>
                <a:ea typeface="Gill Sans Condensed"/>
                <a:cs typeface="Gill Sans Condensed"/>
                <a:sym typeface="Gill Sans Condensed"/>
              </a:rPr>
              <a:t>Por ello, surge la oportunidad de utilizar herramientas tecnológicas para centralizar información de medicamentos, precios y establecimientos, facilitando el acceso a estos datos desde una misma plataforma.</a:t>
            </a:r>
          </a:p>
          <a:p>
            <a:pPr algn="l">
              <a:lnSpc>
                <a:spcPts val="4217"/>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sp>
        <p:nvSpPr>
          <p:cNvPr name="TextBox 2" id="2"/>
          <p:cNvSpPr txBox="true"/>
          <p:nvPr/>
        </p:nvSpPr>
        <p:spPr>
          <a:xfrm rot="0">
            <a:off x="331079" y="3626605"/>
            <a:ext cx="8612408" cy="5753100"/>
          </a:xfrm>
          <a:prstGeom prst="rect">
            <a:avLst/>
          </a:prstGeom>
        </p:spPr>
        <p:txBody>
          <a:bodyPr anchor="t" rtlCol="false" tIns="0" lIns="0" bIns="0" rIns="0">
            <a:spAutoFit/>
          </a:bodyPr>
          <a:lstStyle/>
          <a:p>
            <a:pPr algn="l" marL="647698" indent="-323849" lvl="1">
              <a:lnSpc>
                <a:spcPts val="4199"/>
              </a:lnSpc>
              <a:buFont typeface="Arial"/>
              <a:buChar char="•"/>
            </a:pPr>
            <a:r>
              <a:rPr lang="en-US" b="true" sz="2999">
                <a:solidFill>
                  <a:srgbClr val="242424"/>
                </a:solidFill>
                <a:latin typeface="TT Chocolates Bold"/>
                <a:ea typeface="TT Chocolates Bold"/>
                <a:cs typeface="TT Chocolates Bold"/>
                <a:sym typeface="TT Chocolates Bold"/>
              </a:rPr>
              <a:t>Comparación  poco práctica:</a:t>
            </a:r>
            <a:r>
              <a:rPr lang="en-US" sz="2999">
                <a:solidFill>
                  <a:srgbClr val="242424"/>
                </a:solidFill>
                <a:latin typeface="TT Chocolates"/>
                <a:ea typeface="TT Chocolates"/>
                <a:cs typeface="TT Chocolates"/>
                <a:sym typeface="TT Chocolates"/>
              </a:rPr>
              <a:t> El usuario debe buscar y comparar cada alternativa individualmente.</a:t>
            </a:r>
          </a:p>
          <a:p>
            <a:pPr algn="l" marL="647698" indent="-323849" lvl="1">
              <a:lnSpc>
                <a:spcPts val="4199"/>
              </a:lnSpc>
              <a:buFont typeface="Arial"/>
              <a:buChar char="•"/>
            </a:pPr>
            <a:r>
              <a:rPr lang="en-US" b="true" sz="2999">
                <a:solidFill>
                  <a:srgbClr val="242424"/>
                </a:solidFill>
                <a:latin typeface="TT Chocolates Bold"/>
                <a:ea typeface="TT Chocolates Bold"/>
                <a:cs typeface="TT Chocolates Bold"/>
                <a:sym typeface="TT Chocolates Bold"/>
              </a:rPr>
              <a:t>Precio ≠ conveniencia: </a:t>
            </a:r>
            <a:r>
              <a:rPr lang="en-US" sz="2999">
                <a:solidFill>
                  <a:srgbClr val="242424"/>
                </a:solidFill>
                <a:latin typeface="TT Chocolates"/>
                <a:ea typeface="TT Chocolates"/>
                <a:cs typeface="TT Chocolates"/>
                <a:sym typeface="TT Chocolates"/>
              </a:rPr>
              <a:t> La opción más económica no siempre es la más conveniente por su ubicación.</a:t>
            </a:r>
          </a:p>
          <a:p>
            <a:pPr algn="l" marL="647698" indent="-323849" lvl="1">
              <a:lnSpc>
                <a:spcPts val="4199"/>
              </a:lnSpc>
              <a:buFont typeface="Arial"/>
              <a:buChar char="•"/>
            </a:pPr>
            <a:r>
              <a:rPr lang="en-US" b="true" sz="2999">
                <a:solidFill>
                  <a:srgbClr val="242424"/>
                </a:solidFill>
                <a:latin typeface="TT Chocolates Bold"/>
                <a:ea typeface="TT Chocolates Bold"/>
                <a:cs typeface="TT Chocolates Bold"/>
                <a:sym typeface="TT Chocolates Bold"/>
              </a:rPr>
              <a:t>Comparación poco práctica:</a:t>
            </a:r>
            <a:r>
              <a:rPr lang="en-US" sz="2999">
                <a:solidFill>
                  <a:srgbClr val="242424"/>
                </a:solidFill>
                <a:latin typeface="TT Chocolates"/>
                <a:ea typeface="TT Chocolates"/>
                <a:cs typeface="TT Chocolates"/>
                <a:sym typeface="TT Chocolates"/>
              </a:rPr>
              <a:t> El usuario debe buscar y comparar cada alternativa individualmente.</a:t>
            </a:r>
          </a:p>
          <a:p>
            <a:pPr algn="l" marL="647698" indent="-323849" lvl="1">
              <a:lnSpc>
                <a:spcPts val="4199"/>
              </a:lnSpc>
              <a:buFont typeface="Arial"/>
              <a:buChar char="•"/>
            </a:pPr>
            <a:r>
              <a:rPr lang="en-US" b="true" sz="2999">
                <a:solidFill>
                  <a:srgbClr val="242424"/>
                </a:solidFill>
                <a:latin typeface="TT Chocolates Bold"/>
                <a:ea typeface="TT Chocolates Bold"/>
                <a:cs typeface="TT Chocolates Bold"/>
                <a:sym typeface="TT Chocolates Bold"/>
              </a:rPr>
              <a:t>Información dispersa</a:t>
            </a:r>
            <a:r>
              <a:rPr lang="en-US" sz="2999">
                <a:solidFill>
                  <a:srgbClr val="242424"/>
                </a:solidFill>
                <a:latin typeface="TT Chocolates"/>
                <a:ea typeface="TT Chocolates"/>
                <a:cs typeface="TT Chocolates"/>
                <a:sym typeface="TT Chocolates"/>
              </a:rPr>
              <a:t>: Los precios están distribuidos en diferentes sitios web.</a:t>
            </a:r>
          </a:p>
        </p:txBody>
      </p:sp>
      <p:grpSp>
        <p:nvGrpSpPr>
          <p:cNvPr name="Group 3" id="3"/>
          <p:cNvGrpSpPr/>
          <p:nvPr/>
        </p:nvGrpSpPr>
        <p:grpSpPr>
          <a:xfrm rot="0">
            <a:off x="946649" y="1796413"/>
            <a:ext cx="7799851" cy="1410541"/>
            <a:chOff x="0" y="0"/>
            <a:chExt cx="3357985" cy="607265"/>
          </a:xfrm>
        </p:grpSpPr>
        <p:sp>
          <p:nvSpPr>
            <p:cNvPr name="Freeform 4" id="4"/>
            <p:cNvSpPr/>
            <p:nvPr/>
          </p:nvSpPr>
          <p:spPr>
            <a:xfrm flipH="false" flipV="false" rot="0">
              <a:off x="0" y="0"/>
              <a:ext cx="3357985" cy="607265"/>
            </a:xfrm>
            <a:custGeom>
              <a:avLst/>
              <a:gdLst/>
              <a:ahLst/>
              <a:cxnLst/>
              <a:rect r="r" b="b" t="t" l="l"/>
              <a:pathLst>
                <a:path h="607265" w="3357985">
                  <a:moveTo>
                    <a:pt x="0" y="0"/>
                  </a:moveTo>
                  <a:lnTo>
                    <a:pt x="3357985" y="0"/>
                  </a:lnTo>
                  <a:lnTo>
                    <a:pt x="3357985" y="607265"/>
                  </a:lnTo>
                  <a:lnTo>
                    <a:pt x="0" y="607265"/>
                  </a:lnTo>
                  <a:close/>
                </a:path>
              </a:pathLst>
            </a:custGeom>
            <a:ln w="66675" cap="sq">
              <a:solidFill>
                <a:srgbClr val="8FA4E1"/>
              </a:solidFill>
              <a:prstDash val="solid"/>
              <a:miter/>
            </a:ln>
          </p:spPr>
        </p:sp>
        <p:sp>
          <p:nvSpPr>
            <p:cNvPr name="TextBox 5" id="5"/>
            <p:cNvSpPr txBox="true"/>
            <p:nvPr/>
          </p:nvSpPr>
          <p:spPr>
            <a:xfrm>
              <a:off x="0" y="-47625"/>
              <a:ext cx="3357985" cy="654890"/>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1631532" y="1507075"/>
            <a:ext cx="6406437" cy="1989219"/>
          </a:xfrm>
          <a:prstGeom prst="rect">
            <a:avLst/>
          </a:prstGeom>
          <a:solidFill>
            <a:srgbClr val="CFDBFF"/>
          </a:solidFill>
        </p:spPr>
      </p:sp>
      <p:sp>
        <p:nvSpPr>
          <p:cNvPr name="TextBox 7" id="7"/>
          <p:cNvSpPr txBox="true"/>
          <p:nvPr/>
        </p:nvSpPr>
        <p:spPr>
          <a:xfrm rot="0">
            <a:off x="1631532" y="1817143"/>
            <a:ext cx="6406437" cy="1418387"/>
          </a:xfrm>
          <a:prstGeom prst="rect">
            <a:avLst/>
          </a:prstGeom>
        </p:spPr>
        <p:txBody>
          <a:bodyPr anchor="t" rtlCol="false" tIns="0" lIns="0" bIns="0" rIns="0">
            <a:spAutoFit/>
          </a:bodyPr>
          <a:lstStyle/>
          <a:p>
            <a:pPr algn="ctr">
              <a:lnSpc>
                <a:spcPts val="10264"/>
              </a:lnSpc>
            </a:pPr>
            <a:r>
              <a:rPr lang="en-US" sz="7775">
                <a:solidFill>
                  <a:srgbClr val="1C1B19"/>
                </a:solidFill>
                <a:latin typeface="Gill Sans Condensed"/>
                <a:ea typeface="Gill Sans Condensed"/>
                <a:cs typeface="Gill Sans Condensed"/>
                <a:sym typeface="Gill Sans Condensed"/>
              </a:rPr>
              <a:t>PROBLEMÁTICA </a:t>
            </a:r>
          </a:p>
        </p:txBody>
      </p:sp>
      <p:sp>
        <p:nvSpPr>
          <p:cNvPr name="TextBox 8" id="8"/>
          <p:cNvSpPr txBox="true"/>
          <p:nvPr/>
        </p:nvSpPr>
        <p:spPr>
          <a:xfrm rot="0">
            <a:off x="9469732" y="3645655"/>
            <a:ext cx="8279966" cy="5694045"/>
          </a:xfrm>
          <a:prstGeom prst="rect">
            <a:avLst/>
          </a:prstGeom>
        </p:spPr>
        <p:txBody>
          <a:bodyPr anchor="t" rtlCol="false" tIns="0" lIns="0" bIns="0" rIns="0">
            <a:spAutoFit/>
          </a:bodyPr>
          <a:lstStyle/>
          <a:p>
            <a:pPr algn="l" marL="582928" indent="-291464" lvl="1">
              <a:lnSpc>
                <a:spcPts val="3779"/>
              </a:lnSpc>
              <a:buFont typeface="Arial"/>
              <a:buChar char="•"/>
            </a:pPr>
            <a:r>
              <a:rPr lang="en-US" b="true" sz="2699">
                <a:solidFill>
                  <a:srgbClr val="242424"/>
                </a:solidFill>
                <a:latin typeface="TT Chocolates Bold"/>
                <a:ea typeface="TT Chocolates Bold"/>
                <a:cs typeface="TT Chocolates Bold"/>
                <a:sym typeface="TT Chocolates Bold"/>
              </a:rPr>
              <a:t>Información centralizada:</a:t>
            </a:r>
            <a:r>
              <a:rPr lang="en-US" sz="2699">
                <a:solidFill>
                  <a:srgbClr val="242424"/>
                </a:solidFill>
                <a:latin typeface="TT Chocolates"/>
                <a:ea typeface="TT Chocolates"/>
                <a:cs typeface="TT Chocolates"/>
                <a:sym typeface="TT Chocolates"/>
              </a:rPr>
              <a:t> Reunir en una misma plataforma los medicamentos, precios y farmacias disponibles.</a:t>
            </a:r>
          </a:p>
          <a:p>
            <a:pPr algn="l" marL="582928" indent="-291464" lvl="1">
              <a:lnSpc>
                <a:spcPts val="3779"/>
              </a:lnSpc>
              <a:buFont typeface="Arial"/>
              <a:buChar char="•"/>
            </a:pPr>
            <a:r>
              <a:rPr lang="en-US" b="true" sz="2699">
                <a:solidFill>
                  <a:srgbClr val="242424"/>
                </a:solidFill>
                <a:latin typeface="TT Chocolates Bold"/>
                <a:ea typeface="TT Chocolates Bold"/>
                <a:cs typeface="TT Chocolates Bold"/>
                <a:sym typeface="TT Chocolates Bold"/>
              </a:rPr>
              <a:t>Comparación de precios:</a:t>
            </a:r>
            <a:r>
              <a:rPr lang="en-US" sz="2699">
                <a:solidFill>
                  <a:srgbClr val="242424"/>
                </a:solidFill>
                <a:latin typeface="TT Chocolates"/>
                <a:ea typeface="TT Chocolates"/>
                <a:cs typeface="TT Chocolates"/>
                <a:sym typeface="TT Chocolates"/>
              </a:rPr>
              <a:t> Permitir buscar un medicamento y comparar las alternativas ofrecidas por distintas farmacias.</a:t>
            </a:r>
          </a:p>
          <a:p>
            <a:pPr algn="l" marL="582928" indent="-291464" lvl="1">
              <a:lnSpc>
                <a:spcPts val="3779"/>
              </a:lnSpc>
              <a:buFont typeface="Arial"/>
              <a:buChar char="•"/>
            </a:pPr>
            <a:r>
              <a:rPr lang="en-US" b="true" sz="2699">
                <a:solidFill>
                  <a:srgbClr val="242424"/>
                </a:solidFill>
                <a:latin typeface="TT Chocolates Bold"/>
                <a:ea typeface="TT Chocolates Bold"/>
                <a:cs typeface="TT Chocolates Bold"/>
                <a:sym typeface="TT Chocolates Bold"/>
              </a:rPr>
              <a:t>Geolocalización:</a:t>
            </a:r>
            <a:r>
              <a:rPr lang="en-US" sz="2699">
                <a:solidFill>
                  <a:srgbClr val="242424"/>
                </a:solidFill>
                <a:latin typeface="TT Chocolates"/>
                <a:ea typeface="TT Chocolates"/>
                <a:cs typeface="TT Chocolates"/>
                <a:sym typeface="TT Chocolates"/>
              </a:rPr>
              <a:t> Mostrar farmacias cercanas y su ubicación para considerar tanto el precio como la distancia.</a:t>
            </a:r>
          </a:p>
          <a:p>
            <a:pPr algn="l" marL="582928" indent="-291464" lvl="1">
              <a:lnSpc>
                <a:spcPts val="3779"/>
              </a:lnSpc>
              <a:buFont typeface="Arial"/>
              <a:buChar char="•"/>
            </a:pPr>
            <a:r>
              <a:rPr lang="en-US" b="true" sz="2699">
                <a:solidFill>
                  <a:srgbClr val="242424"/>
                </a:solidFill>
                <a:latin typeface="TT Chocolates Bold"/>
                <a:ea typeface="TT Chocolates Bold"/>
                <a:cs typeface="TT Chocolates Bold"/>
                <a:sym typeface="TT Chocolates Bold"/>
              </a:rPr>
              <a:t>Obtención automatizada de datos: </a:t>
            </a:r>
            <a:r>
              <a:rPr lang="en-US" sz="2699">
                <a:solidFill>
                  <a:srgbClr val="242424"/>
                </a:solidFill>
                <a:latin typeface="TT Chocolates"/>
                <a:ea typeface="TT Chocolates"/>
                <a:cs typeface="TT Chocolates"/>
                <a:sym typeface="TT Chocolates"/>
              </a:rPr>
              <a:t>Utilizar mecanismos de extracción de información para mantener los datos disponibles.</a:t>
            </a:r>
          </a:p>
        </p:txBody>
      </p:sp>
      <p:grpSp>
        <p:nvGrpSpPr>
          <p:cNvPr name="Group 9" id="9"/>
          <p:cNvGrpSpPr/>
          <p:nvPr/>
        </p:nvGrpSpPr>
        <p:grpSpPr>
          <a:xfrm rot="0">
            <a:off x="9447625" y="1796413"/>
            <a:ext cx="7799851" cy="1410541"/>
            <a:chOff x="0" y="0"/>
            <a:chExt cx="3357985" cy="607265"/>
          </a:xfrm>
        </p:grpSpPr>
        <p:sp>
          <p:nvSpPr>
            <p:cNvPr name="Freeform 10" id="10"/>
            <p:cNvSpPr/>
            <p:nvPr/>
          </p:nvSpPr>
          <p:spPr>
            <a:xfrm flipH="false" flipV="false" rot="0">
              <a:off x="0" y="0"/>
              <a:ext cx="3357985" cy="607265"/>
            </a:xfrm>
            <a:custGeom>
              <a:avLst/>
              <a:gdLst/>
              <a:ahLst/>
              <a:cxnLst/>
              <a:rect r="r" b="b" t="t" l="l"/>
              <a:pathLst>
                <a:path h="607265" w="3357985">
                  <a:moveTo>
                    <a:pt x="0" y="0"/>
                  </a:moveTo>
                  <a:lnTo>
                    <a:pt x="3357985" y="0"/>
                  </a:lnTo>
                  <a:lnTo>
                    <a:pt x="3357985" y="607265"/>
                  </a:lnTo>
                  <a:lnTo>
                    <a:pt x="0" y="607265"/>
                  </a:lnTo>
                  <a:close/>
                </a:path>
              </a:pathLst>
            </a:custGeom>
            <a:ln w="66675" cap="sq">
              <a:solidFill>
                <a:srgbClr val="8FA4E1"/>
              </a:solidFill>
              <a:prstDash val="solid"/>
              <a:miter/>
            </a:ln>
          </p:spPr>
        </p:sp>
        <p:sp>
          <p:nvSpPr>
            <p:cNvPr name="TextBox 11" id="11"/>
            <p:cNvSpPr txBox="true"/>
            <p:nvPr/>
          </p:nvSpPr>
          <p:spPr>
            <a:xfrm>
              <a:off x="0" y="-47625"/>
              <a:ext cx="3357985" cy="654890"/>
            </a:xfrm>
            <a:prstGeom prst="rect">
              <a:avLst/>
            </a:prstGeom>
          </p:spPr>
          <p:txBody>
            <a:bodyPr anchor="ctr" rtlCol="false" tIns="48876" lIns="48876" bIns="48876" rIns="48876"/>
            <a:lstStyle/>
            <a:p>
              <a:pPr algn="ctr">
                <a:lnSpc>
                  <a:spcPts val="1588"/>
                </a:lnSpc>
              </a:pPr>
            </a:p>
          </p:txBody>
        </p:sp>
      </p:grpSp>
      <p:sp>
        <p:nvSpPr>
          <p:cNvPr name="AutoShape 12" id="12"/>
          <p:cNvSpPr/>
          <p:nvPr/>
        </p:nvSpPr>
        <p:spPr>
          <a:xfrm rot="0">
            <a:off x="10132509" y="1507075"/>
            <a:ext cx="6406437" cy="1989219"/>
          </a:xfrm>
          <a:prstGeom prst="rect">
            <a:avLst/>
          </a:prstGeom>
          <a:solidFill>
            <a:srgbClr val="CFDBFF"/>
          </a:solidFill>
        </p:spPr>
      </p:sp>
      <p:sp>
        <p:nvSpPr>
          <p:cNvPr name="TextBox 13" id="13"/>
          <p:cNvSpPr txBox="true"/>
          <p:nvPr/>
        </p:nvSpPr>
        <p:spPr>
          <a:xfrm rot="0">
            <a:off x="10132509" y="1817143"/>
            <a:ext cx="6406437" cy="1418387"/>
          </a:xfrm>
          <a:prstGeom prst="rect">
            <a:avLst/>
          </a:prstGeom>
        </p:spPr>
        <p:txBody>
          <a:bodyPr anchor="t" rtlCol="false" tIns="0" lIns="0" bIns="0" rIns="0">
            <a:spAutoFit/>
          </a:bodyPr>
          <a:lstStyle/>
          <a:p>
            <a:pPr algn="ctr">
              <a:lnSpc>
                <a:spcPts val="10264"/>
              </a:lnSpc>
            </a:pPr>
            <a:r>
              <a:rPr lang="en-US" sz="7775">
                <a:solidFill>
                  <a:srgbClr val="1C1B19"/>
                </a:solidFill>
                <a:latin typeface="Gill Sans Condensed"/>
                <a:ea typeface="Gill Sans Condensed"/>
                <a:cs typeface="Gill Sans Condensed"/>
                <a:sym typeface="Gill Sans Condensed"/>
              </a:rPr>
              <a:t>SOLUCIÓN</a:t>
            </a:r>
          </a:p>
        </p:txBody>
      </p:sp>
      <p:sp>
        <p:nvSpPr>
          <p:cNvPr name="AutoShape 14" id="14"/>
          <p:cNvSpPr/>
          <p:nvPr/>
        </p:nvSpPr>
        <p:spPr>
          <a:xfrm rot="0">
            <a:off x="-734314" y="9404013"/>
            <a:ext cx="20408092" cy="1449430"/>
          </a:xfrm>
          <a:prstGeom prst="rect">
            <a:avLst/>
          </a:prstGeom>
          <a:solidFill>
            <a:srgbClr val="CFDBFF"/>
          </a:solidFill>
        </p:spPr>
      </p:sp>
      <p:sp>
        <p:nvSpPr>
          <p:cNvPr name="AutoShape 15" id="15"/>
          <p:cNvSpPr/>
          <p:nvPr/>
        </p:nvSpPr>
        <p:spPr>
          <a:xfrm rot="0">
            <a:off x="-1636889" y="-420730"/>
            <a:ext cx="20408092" cy="1449430"/>
          </a:xfrm>
          <a:prstGeom prst="rect">
            <a:avLst/>
          </a:prstGeom>
          <a:solidFill>
            <a:srgbClr val="CFDBFF"/>
          </a:solidFill>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821543" y="1598565"/>
            <a:ext cx="5289666" cy="1324478"/>
            <a:chOff x="0" y="0"/>
            <a:chExt cx="2425280" cy="607265"/>
          </a:xfrm>
        </p:grpSpPr>
        <p:sp>
          <p:nvSpPr>
            <p:cNvPr name="Freeform 3" id="3"/>
            <p:cNvSpPr/>
            <p:nvPr/>
          </p:nvSpPr>
          <p:spPr>
            <a:xfrm flipH="false" flipV="false" rot="0">
              <a:off x="0" y="0"/>
              <a:ext cx="2425280" cy="607265"/>
            </a:xfrm>
            <a:custGeom>
              <a:avLst/>
              <a:gdLst/>
              <a:ahLst/>
              <a:cxnLst/>
              <a:rect r="r" b="b" t="t" l="l"/>
              <a:pathLst>
                <a:path h="607265" w="2425280">
                  <a:moveTo>
                    <a:pt x="0" y="0"/>
                  </a:moveTo>
                  <a:lnTo>
                    <a:pt x="2425280" y="0"/>
                  </a:lnTo>
                  <a:lnTo>
                    <a:pt x="2425280" y="607265"/>
                  </a:lnTo>
                  <a:lnTo>
                    <a:pt x="0" y="607265"/>
                  </a:lnTo>
                  <a:close/>
                </a:path>
              </a:pathLst>
            </a:custGeom>
            <a:ln w="66675" cap="sq">
              <a:solidFill>
                <a:srgbClr val="8FA4E1"/>
              </a:solidFill>
              <a:prstDash val="solid"/>
              <a:miter/>
            </a:ln>
          </p:spPr>
        </p:sp>
        <p:sp>
          <p:nvSpPr>
            <p:cNvPr name="TextBox 4" id="4"/>
            <p:cNvSpPr txBox="true"/>
            <p:nvPr/>
          </p:nvSpPr>
          <p:spPr>
            <a:xfrm>
              <a:off x="0" y="-47625"/>
              <a:ext cx="2425280" cy="654890"/>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199297" y="1326880"/>
            <a:ext cx="4565021" cy="1867848"/>
          </a:xfrm>
          <a:prstGeom prst="rect">
            <a:avLst/>
          </a:prstGeom>
          <a:solidFill>
            <a:srgbClr val="CFDBFF"/>
          </a:solidFill>
        </p:spPr>
      </p:sp>
      <p:sp>
        <p:nvSpPr>
          <p:cNvPr name="AutoShape 6" id="6"/>
          <p:cNvSpPr/>
          <p:nvPr/>
        </p:nvSpPr>
        <p:spPr>
          <a:xfrm rot="0">
            <a:off x="-734314" y="9404013"/>
            <a:ext cx="20408092" cy="1449430"/>
          </a:xfrm>
          <a:prstGeom prst="rect">
            <a:avLst/>
          </a:prstGeom>
          <a:solidFill>
            <a:srgbClr val="CFDBFF"/>
          </a:solidFill>
        </p:spPr>
      </p:sp>
      <p:grpSp>
        <p:nvGrpSpPr>
          <p:cNvPr name="Group 7" id="7"/>
          <p:cNvGrpSpPr/>
          <p:nvPr/>
        </p:nvGrpSpPr>
        <p:grpSpPr>
          <a:xfrm rot="0">
            <a:off x="6483735" y="1598565"/>
            <a:ext cx="5289666" cy="1324478"/>
            <a:chOff x="0" y="0"/>
            <a:chExt cx="2425280" cy="607265"/>
          </a:xfrm>
        </p:grpSpPr>
        <p:sp>
          <p:nvSpPr>
            <p:cNvPr name="Freeform 8" id="8"/>
            <p:cNvSpPr/>
            <p:nvPr/>
          </p:nvSpPr>
          <p:spPr>
            <a:xfrm flipH="false" flipV="false" rot="0">
              <a:off x="0" y="0"/>
              <a:ext cx="2425280" cy="607265"/>
            </a:xfrm>
            <a:custGeom>
              <a:avLst/>
              <a:gdLst/>
              <a:ahLst/>
              <a:cxnLst/>
              <a:rect r="r" b="b" t="t" l="l"/>
              <a:pathLst>
                <a:path h="607265" w="2425280">
                  <a:moveTo>
                    <a:pt x="0" y="0"/>
                  </a:moveTo>
                  <a:lnTo>
                    <a:pt x="2425280" y="0"/>
                  </a:lnTo>
                  <a:lnTo>
                    <a:pt x="2425280" y="607265"/>
                  </a:lnTo>
                  <a:lnTo>
                    <a:pt x="0" y="607265"/>
                  </a:lnTo>
                  <a:close/>
                </a:path>
              </a:pathLst>
            </a:custGeom>
            <a:ln w="66675" cap="sq">
              <a:solidFill>
                <a:srgbClr val="8FA4E1"/>
              </a:solidFill>
              <a:prstDash val="solid"/>
              <a:miter/>
            </a:ln>
          </p:spPr>
        </p:sp>
        <p:sp>
          <p:nvSpPr>
            <p:cNvPr name="TextBox 9" id="9"/>
            <p:cNvSpPr txBox="true"/>
            <p:nvPr/>
          </p:nvSpPr>
          <p:spPr>
            <a:xfrm>
              <a:off x="0" y="-47625"/>
              <a:ext cx="2425280" cy="654890"/>
            </a:xfrm>
            <a:prstGeom prst="rect">
              <a:avLst/>
            </a:prstGeom>
          </p:spPr>
          <p:txBody>
            <a:bodyPr anchor="ctr" rtlCol="false" tIns="48876" lIns="48876" bIns="48876" rIns="48876"/>
            <a:lstStyle/>
            <a:p>
              <a:pPr algn="ctr">
                <a:lnSpc>
                  <a:spcPts val="1588"/>
                </a:lnSpc>
              </a:pPr>
            </a:p>
          </p:txBody>
        </p:sp>
      </p:grpSp>
      <p:sp>
        <p:nvSpPr>
          <p:cNvPr name="AutoShape 10" id="10"/>
          <p:cNvSpPr/>
          <p:nvPr/>
        </p:nvSpPr>
        <p:spPr>
          <a:xfrm rot="0">
            <a:off x="6861490" y="1326880"/>
            <a:ext cx="4565021" cy="1867848"/>
          </a:xfrm>
          <a:prstGeom prst="rect">
            <a:avLst/>
          </a:prstGeom>
          <a:solidFill>
            <a:srgbClr val="CFDBFF"/>
          </a:solidFill>
        </p:spPr>
      </p:sp>
      <p:grpSp>
        <p:nvGrpSpPr>
          <p:cNvPr name="Group 11" id="11"/>
          <p:cNvGrpSpPr/>
          <p:nvPr/>
        </p:nvGrpSpPr>
        <p:grpSpPr>
          <a:xfrm rot="0">
            <a:off x="12145927" y="1598565"/>
            <a:ext cx="5289666" cy="1324478"/>
            <a:chOff x="0" y="0"/>
            <a:chExt cx="2425280" cy="607265"/>
          </a:xfrm>
        </p:grpSpPr>
        <p:sp>
          <p:nvSpPr>
            <p:cNvPr name="Freeform 12" id="12"/>
            <p:cNvSpPr/>
            <p:nvPr/>
          </p:nvSpPr>
          <p:spPr>
            <a:xfrm flipH="false" flipV="false" rot="0">
              <a:off x="0" y="0"/>
              <a:ext cx="2425280" cy="607265"/>
            </a:xfrm>
            <a:custGeom>
              <a:avLst/>
              <a:gdLst/>
              <a:ahLst/>
              <a:cxnLst/>
              <a:rect r="r" b="b" t="t" l="l"/>
              <a:pathLst>
                <a:path h="607265" w="2425280">
                  <a:moveTo>
                    <a:pt x="0" y="0"/>
                  </a:moveTo>
                  <a:lnTo>
                    <a:pt x="2425280" y="0"/>
                  </a:lnTo>
                  <a:lnTo>
                    <a:pt x="2425280" y="607265"/>
                  </a:lnTo>
                  <a:lnTo>
                    <a:pt x="0" y="607265"/>
                  </a:lnTo>
                  <a:close/>
                </a:path>
              </a:pathLst>
            </a:custGeom>
            <a:ln w="66675" cap="sq">
              <a:solidFill>
                <a:srgbClr val="8FA4E1"/>
              </a:solidFill>
              <a:prstDash val="solid"/>
              <a:miter/>
            </a:ln>
          </p:spPr>
        </p:sp>
        <p:sp>
          <p:nvSpPr>
            <p:cNvPr name="TextBox 13" id="13"/>
            <p:cNvSpPr txBox="true"/>
            <p:nvPr/>
          </p:nvSpPr>
          <p:spPr>
            <a:xfrm>
              <a:off x="0" y="-47625"/>
              <a:ext cx="2425280" cy="654890"/>
            </a:xfrm>
            <a:prstGeom prst="rect">
              <a:avLst/>
            </a:prstGeom>
          </p:spPr>
          <p:txBody>
            <a:bodyPr anchor="ctr" rtlCol="false" tIns="48876" lIns="48876" bIns="48876" rIns="48876"/>
            <a:lstStyle/>
            <a:p>
              <a:pPr algn="ctr">
                <a:lnSpc>
                  <a:spcPts val="1588"/>
                </a:lnSpc>
              </a:pPr>
            </a:p>
          </p:txBody>
        </p:sp>
      </p:grpSp>
      <p:sp>
        <p:nvSpPr>
          <p:cNvPr name="AutoShape 14" id="14"/>
          <p:cNvSpPr/>
          <p:nvPr/>
        </p:nvSpPr>
        <p:spPr>
          <a:xfrm rot="0">
            <a:off x="12523682" y="1326880"/>
            <a:ext cx="4565021" cy="1867848"/>
          </a:xfrm>
          <a:prstGeom prst="rect">
            <a:avLst/>
          </a:prstGeom>
          <a:solidFill>
            <a:srgbClr val="CFDBFF"/>
          </a:solidFill>
        </p:spPr>
      </p:sp>
      <p:sp>
        <p:nvSpPr>
          <p:cNvPr name="TextBox 15" id="15"/>
          <p:cNvSpPr txBox="true"/>
          <p:nvPr/>
        </p:nvSpPr>
        <p:spPr>
          <a:xfrm rot="0">
            <a:off x="821543" y="3640988"/>
            <a:ext cx="5289666" cy="4106389"/>
          </a:xfrm>
          <a:prstGeom prst="rect">
            <a:avLst/>
          </a:prstGeom>
        </p:spPr>
        <p:txBody>
          <a:bodyPr anchor="t" rtlCol="false" tIns="0" lIns="0" bIns="0" rIns="0">
            <a:spAutoFit/>
          </a:bodyPr>
          <a:lstStyle/>
          <a:p>
            <a:pPr algn="l" marL="555200" indent="-277600" lvl="1">
              <a:lnSpc>
                <a:spcPts val="3600"/>
              </a:lnSpc>
              <a:buFont typeface="Arial"/>
              <a:buChar char="•"/>
            </a:pPr>
            <a:r>
              <a:rPr lang="en-US" sz="2571">
                <a:solidFill>
                  <a:srgbClr val="242424"/>
                </a:solidFill>
                <a:latin typeface="TT Chocolates"/>
                <a:ea typeface="TT Chocolates"/>
                <a:cs typeface="TT Chocolates"/>
                <a:sym typeface="TT Chocolates"/>
              </a:rPr>
              <a:t>Trabajo basado en una metodología agil</a:t>
            </a:r>
          </a:p>
          <a:p>
            <a:pPr algn="l" marL="555200" indent="-277600" lvl="1">
              <a:lnSpc>
                <a:spcPts val="3600"/>
              </a:lnSpc>
              <a:buFont typeface="Arial"/>
              <a:buChar char="•"/>
            </a:pPr>
            <a:r>
              <a:rPr lang="en-US" sz="2571">
                <a:solidFill>
                  <a:srgbClr val="242424"/>
                </a:solidFill>
                <a:latin typeface="TT Chocolates"/>
                <a:ea typeface="TT Chocolates"/>
                <a:cs typeface="TT Chocolates"/>
                <a:sym typeface="TT Chocolates"/>
              </a:rPr>
              <a:t>Desarrollo incremental mediante Sprints.</a:t>
            </a:r>
          </a:p>
          <a:p>
            <a:pPr algn="l" marL="555200" indent="-277600" lvl="1">
              <a:lnSpc>
                <a:spcPts val="3600"/>
              </a:lnSpc>
              <a:buFont typeface="Arial"/>
              <a:buChar char="•"/>
            </a:pPr>
            <a:r>
              <a:rPr lang="en-US" sz="2571">
                <a:solidFill>
                  <a:srgbClr val="242424"/>
                </a:solidFill>
                <a:latin typeface="TT Chocolates"/>
                <a:ea typeface="TT Chocolates"/>
                <a:cs typeface="TT Chocolates"/>
                <a:sym typeface="TT Chocolates"/>
              </a:rPr>
              <a:t>Priorización de funcionalidades según las necesidades del proyecto.</a:t>
            </a:r>
          </a:p>
          <a:p>
            <a:pPr algn="l" marL="555200" indent="-277600" lvl="1">
              <a:lnSpc>
                <a:spcPts val="3600"/>
              </a:lnSpc>
              <a:buFont typeface="Arial"/>
              <a:buChar char="•"/>
            </a:pPr>
            <a:r>
              <a:rPr lang="en-US" sz="2571">
                <a:solidFill>
                  <a:srgbClr val="242424"/>
                </a:solidFill>
                <a:latin typeface="TT Chocolates"/>
                <a:ea typeface="TT Chocolates"/>
                <a:cs typeface="TT Chocolates"/>
                <a:sym typeface="TT Chocolates"/>
              </a:rPr>
              <a:t>Revisión, pruebas y ajustes continuos.</a:t>
            </a:r>
          </a:p>
        </p:txBody>
      </p:sp>
      <p:sp>
        <p:nvSpPr>
          <p:cNvPr name="TextBox 16" id="16"/>
          <p:cNvSpPr txBox="true"/>
          <p:nvPr/>
        </p:nvSpPr>
        <p:spPr>
          <a:xfrm rot="0">
            <a:off x="1199297" y="1586194"/>
            <a:ext cx="4565021" cy="1336904"/>
          </a:xfrm>
          <a:prstGeom prst="rect">
            <a:avLst/>
          </a:prstGeom>
        </p:spPr>
        <p:txBody>
          <a:bodyPr anchor="t" rtlCol="false" tIns="0" lIns="0" bIns="0" rIns="0">
            <a:spAutoFit/>
          </a:bodyPr>
          <a:lstStyle/>
          <a:p>
            <a:pPr algn="ctr">
              <a:lnSpc>
                <a:spcPts val="9637"/>
              </a:lnSpc>
            </a:pPr>
            <a:r>
              <a:rPr lang="en-US" sz="7301">
                <a:solidFill>
                  <a:srgbClr val="1C1B19"/>
                </a:solidFill>
                <a:latin typeface="Gill Sans Condensed"/>
                <a:ea typeface="Gill Sans Condensed"/>
                <a:cs typeface="Gill Sans Condensed"/>
                <a:sym typeface="Gill Sans Condensed"/>
              </a:rPr>
              <a:t>METODOLOGÍA</a:t>
            </a:r>
          </a:p>
        </p:txBody>
      </p:sp>
      <p:sp>
        <p:nvSpPr>
          <p:cNvPr name="TextBox 17" id="17"/>
          <p:cNvSpPr txBox="true"/>
          <p:nvPr/>
        </p:nvSpPr>
        <p:spPr>
          <a:xfrm rot="0">
            <a:off x="6861490" y="1586194"/>
            <a:ext cx="4565021" cy="1336904"/>
          </a:xfrm>
          <a:prstGeom prst="rect">
            <a:avLst/>
          </a:prstGeom>
        </p:spPr>
        <p:txBody>
          <a:bodyPr anchor="t" rtlCol="false" tIns="0" lIns="0" bIns="0" rIns="0">
            <a:spAutoFit/>
          </a:bodyPr>
          <a:lstStyle/>
          <a:p>
            <a:pPr algn="ctr">
              <a:lnSpc>
                <a:spcPts val="9637"/>
              </a:lnSpc>
            </a:pPr>
            <a:r>
              <a:rPr lang="en-US" sz="7301">
                <a:solidFill>
                  <a:srgbClr val="1C1B19"/>
                </a:solidFill>
                <a:latin typeface="Gill Sans Condensed"/>
                <a:ea typeface="Gill Sans Condensed"/>
                <a:cs typeface="Gill Sans Condensed"/>
                <a:sym typeface="Gill Sans Condensed"/>
              </a:rPr>
              <a:t>PLAN</a:t>
            </a:r>
          </a:p>
        </p:txBody>
      </p:sp>
      <p:sp>
        <p:nvSpPr>
          <p:cNvPr name="TextBox 18" id="18"/>
          <p:cNvSpPr txBox="true"/>
          <p:nvPr/>
        </p:nvSpPr>
        <p:spPr>
          <a:xfrm rot="0">
            <a:off x="12539114" y="1586194"/>
            <a:ext cx="4565021" cy="1336904"/>
          </a:xfrm>
          <a:prstGeom prst="rect">
            <a:avLst/>
          </a:prstGeom>
        </p:spPr>
        <p:txBody>
          <a:bodyPr anchor="t" rtlCol="false" tIns="0" lIns="0" bIns="0" rIns="0">
            <a:spAutoFit/>
          </a:bodyPr>
          <a:lstStyle/>
          <a:p>
            <a:pPr algn="ctr">
              <a:lnSpc>
                <a:spcPts val="9637"/>
              </a:lnSpc>
            </a:pPr>
            <a:r>
              <a:rPr lang="en-US" sz="7301">
                <a:solidFill>
                  <a:srgbClr val="1C1B19"/>
                </a:solidFill>
                <a:latin typeface="Gill Sans Condensed"/>
                <a:ea typeface="Gill Sans Condensed"/>
                <a:cs typeface="Gill Sans Condensed"/>
                <a:sym typeface="Gill Sans Condensed"/>
              </a:rPr>
              <a:t>ROLES</a:t>
            </a:r>
          </a:p>
        </p:txBody>
      </p:sp>
      <p:sp>
        <p:nvSpPr>
          <p:cNvPr name="TextBox 19" id="19"/>
          <p:cNvSpPr txBox="true"/>
          <p:nvPr/>
        </p:nvSpPr>
        <p:spPr>
          <a:xfrm rot="0">
            <a:off x="6499167" y="3650152"/>
            <a:ext cx="5289666" cy="5477907"/>
          </a:xfrm>
          <a:prstGeom prst="rect">
            <a:avLst/>
          </a:prstGeom>
        </p:spPr>
        <p:txBody>
          <a:bodyPr anchor="t" rtlCol="false" tIns="0" lIns="0" bIns="0" rIns="0">
            <a:spAutoFit/>
          </a:bodyPr>
          <a:lstStyle/>
          <a:p>
            <a:pPr algn="l" marL="555200" indent="-277600" lvl="1">
              <a:lnSpc>
                <a:spcPts val="3600"/>
              </a:lnSpc>
              <a:buFont typeface="Arial"/>
              <a:buChar char="•"/>
            </a:pPr>
            <a:r>
              <a:rPr lang="en-US" sz="2571">
                <a:solidFill>
                  <a:srgbClr val="242424"/>
                </a:solidFill>
                <a:latin typeface="TT Chocolates"/>
                <a:ea typeface="TT Chocolates"/>
                <a:cs typeface="TT Chocolates"/>
                <a:sym typeface="TT Chocolates"/>
              </a:rPr>
              <a:t>Análisis → P</a:t>
            </a:r>
            <a:r>
              <a:rPr lang="en-US" sz="2571" u="none">
                <a:solidFill>
                  <a:srgbClr val="242424"/>
                </a:solidFill>
                <a:latin typeface="TT Chocolates"/>
                <a:ea typeface="TT Chocolates"/>
                <a:cs typeface="TT Chocolates"/>
                <a:sym typeface="TT Chocolates"/>
              </a:rPr>
              <a:t>roblema y requerimientos</a:t>
            </a:r>
          </a:p>
          <a:p>
            <a:pPr algn="l" marL="555200" indent="-277600" lvl="1">
              <a:lnSpc>
                <a:spcPts val="3600"/>
              </a:lnSpc>
              <a:buFont typeface="Arial"/>
              <a:buChar char="•"/>
            </a:pPr>
            <a:r>
              <a:rPr lang="en-US" sz="2571" u="none">
                <a:solidFill>
                  <a:srgbClr val="242424"/>
                </a:solidFill>
                <a:latin typeface="TT Chocolates"/>
                <a:ea typeface="TT Chocolates"/>
                <a:cs typeface="TT Chocolates"/>
                <a:sym typeface="TT Chocolates"/>
              </a:rPr>
              <a:t>Diseño → Arquitectura, BD e interfaz</a:t>
            </a:r>
          </a:p>
          <a:p>
            <a:pPr algn="l" marL="555200" indent="-277600" lvl="1">
              <a:lnSpc>
                <a:spcPts val="3600"/>
              </a:lnSpc>
              <a:buFont typeface="Arial"/>
              <a:buChar char="•"/>
            </a:pPr>
            <a:r>
              <a:rPr lang="en-US" sz="2571" u="none">
                <a:solidFill>
                  <a:srgbClr val="242424"/>
                </a:solidFill>
                <a:latin typeface="TT Chocolates"/>
                <a:ea typeface="TT Chocolates"/>
                <a:cs typeface="TT Chocolates"/>
                <a:sym typeface="TT Chocolates"/>
              </a:rPr>
              <a:t>Desarrollo → Frontend, Backend y datos.</a:t>
            </a:r>
          </a:p>
          <a:p>
            <a:pPr algn="l" marL="555200" indent="-277600" lvl="1">
              <a:lnSpc>
                <a:spcPts val="3600"/>
              </a:lnSpc>
              <a:buFont typeface="Arial"/>
              <a:buChar char="•"/>
            </a:pPr>
            <a:r>
              <a:rPr lang="en-US" sz="2571" u="none">
                <a:solidFill>
                  <a:srgbClr val="242424"/>
                </a:solidFill>
                <a:latin typeface="TT Chocolates"/>
                <a:ea typeface="TT Chocolates"/>
                <a:cs typeface="TT Chocolates"/>
                <a:sym typeface="TT Chocolates"/>
              </a:rPr>
              <a:t>Integración → Conexión de componentes</a:t>
            </a:r>
          </a:p>
          <a:p>
            <a:pPr algn="l" marL="555200" indent="-277600" lvl="1">
              <a:lnSpc>
                <a:spcPts val="3600"/>
              </a:lnSpc>
              <a:buFont typeface="Arial"/>
              <a:buChar char="•"/>
            </a:pPr>
            <a:r>
              <a:rPr lang="en-US" sz="2571" u="none">
                <a:solidFill>
                  <a:srgbClr val="242424"/>
                </a:solidFill>
                <a:latin typeface="TT Chocolates"/>
                <a:ea typeface="TT Chocolates"/>
                <a:cs typeface="TT Chocolates"/>
                <a:sym typeface="TT Chocolates"/>
              </a:rPr>
              <a:t>Pruebas → Validación y correcciones</a:t>
            </a:r>
          </a:p>
          <a:p>
            <a:pPr algn="l" marL="555200" indent="-277600" lvl="1">
              <a:lnSpc>
                <a:spcPts val="3600"/>
              </a:lnSpc>
              <a:buFont typeface="Arial"/>
              <a:buChar char="•"/>
            </a:pPr>
            <a:r>
              <a:rPr lang="en-US" sz="2571" u="none">
                <a:solidFill>
                  <a:srgbClr val="242424"/>
                </a:solidFill>
                <a:latin typeface="TT Chocolates"/>
                <a:ea typeface="TT Chocolates"/>
                <a:cs typeface="TT Chocolates"/>
                <a:sym typeface="TT Chocolates"/>
              </a:rPr>
              <a:t>Entrega → Producto final y documentación</a:t>
            </a:r>
          </a:p>
        </p:txBody>
      </p:sp>
      <p:sp>
        <p:nvSpPr>
          <p:cNvPr name="TextBox 20" id="20"/>
          <p:cNvSpPr txBox="true"/>
          <p:nvPr/>
        </p:nvSpPr>
        <p:spPr>
          <a:xfrm rot="0">
            <a:off x="12176792" y="3659316"/>
            <a:ext cx="5289666" cy="5477907"/>
          </a:xfrm>
          <a:prstGeom prst="rect">
            <a:avLst/>
          </a:prstGeom>
        </p:spPr>
        <p:txBody>
          <a:bodyPr anchor="t" rtlCol="false" tIns="0" lIns="0" bIns="0" rIns="0">
            <a:spAutoFit/>
          </a:bodyPr>
          <a:lstStyle/>
          <a:p>
            <a:pPr algn="l" marL="555200" indent="-277600" lvl="1">
              <a:lnSpc>
                <a:spcPts val="3600"/>
              </a:lnSpc>
              <a:buFont typeface="Arial"/>
              <a:buChar char="•"/>
            </a:pPr>
            <a:r>
              <a:rPr lang="en-US" sz="2571">
                <a:solidFill>
                  <a:srgbClr val="242424"/>
                </a:solidFill>
                <a:latin typeface="TT Chocolates"/>
                <a:ea typeface="TT Chocolates"/>
                <a:cs typeface="TT Chocolates"/>
                <a:sym typeface="TT Chocolates"/>
              </a:rPr>
              <a:t>Bastián Herrera: </a:t>
            </a:r>
          </a:p>
          <a:p>
            <a:pPr algn="l">
              <a:lnSpc>
                <a:spcPts val="3600"/>
              </a:lnSpc>
            </a:pPr>
            <a:r>
              <a:rPr lang="en-US" sz="2571">
                <a:solidFill>
                  <a:srgbClr val="242424"/>
                </a:solidFill>
                <a:latin typeface="TT Chocolates"/>
                <a:ea typeface="TT Chocolates"/>
                <a:cs typeface="TT Chocolates"/>
                <a:sym typeface="TT Chocolates"/>
              </a:rPr>
              <a:t>    Jefe/Coordinador</a:t>
            </a:r>
          </a:p>
          <a:p>
            <a:pPr algn="ctr">
              <a:lnSpc>
                <a:spcPts val="3600"/>
              </a:lnSpc>
            </a:pPr>
            <a:r>
              <a:rPr lang="en-US" sz="2571">
                <a:solidFill>
                  <a:srgbClr val="242424"/>
                </a:solidFill>
                <a:latin typeface="TT Chocolates"/>
                <a:ea typeface="TT Chocolates"/>
                <a:cs typeface="TT Chocolates"/>
                <a:sym typeface="TT Chocolates"/>
              </a:rPr>
              <a:t>     Arquitectura · Backend · Sprints ·  Integración</a:t>
            </a:r>
          </a:p>
          <a:p>
            <a:pPr algn="l" marL="555200" indent="-277600" lvl="1">
              <a:lnSpc>
                <a:spcPts val="3600"/>
              </a:lnSpc>
              <a:buFont typeface="Arial"/>
              <a:buChar char="•"/>
            </a:pPr>
            <a:r>
              <a:rPr lang="en-US" sz="2571" u="none">
                <a:solidFill>
                  <a:srgbClr val="242424"/>
                </a:solidFill>
                <a:latin typeface="TT Chocolates"/>
                <a:ea typeface="TT Chocolates"/>
                <a:cs typeface="TT Chocolates"/>
                <a:sym typeface="TT Chocolates"/>
              </a:rPr>
              <a:t>Helen Mora:</a:t>
            </a:r>
          </a:p>
          <a:p>
            <a:pPr algn="l">
              <a:lnSpc>
                <a:spcPts val="3600"/>
              </a:lnSpc>
            </a:pPr>
            <a:r>
              <a:rPr lang="en-US" sz="2571" u="none">
                <a:solidFill>
                  <a:srgbClr val="242424"/>
                </a:solidFill>
                <a:latin typeface="TT Chocolates"/>
                <a:ea typeface="TT Chocolates"/>
                <a:cs typeface="TT Chocolates"/>
                <a:sym typeface="TT Chocolates"/>
              </a:rPr>
              <a:t>    Desarrollo y gestión de datos</a:t>
            </a:r>
          </a:p>
          <a:p>
            <a:pPr algn="ctr">
              <a:lnSpc>
                <a:spcPts val="3600"/>
              </a:lnSpc>
            </a:pPr>
            <a:r>
              <a:rPr lang="en-US" sz="2571" u="none">
                <a:solidFill>
                  <a:srgbClr val="242424"/>
                </a:solidFill>
                <a:latin typeface="TT Chocolates"/>
                <a:ea typeface="TT Chocolates"/>
                <a:cs typeface="TT Chocolates"/>
                <a:sym typeface="TT Chocolates"/>
              </a:rPr>
              <a:t>Base de datos · Datos · Precios · Documentación</a:t>
            </a:r>
          </a:p>
          <a:p>
            <a:pPr algn="l" marL="555200" indent="-277600" lvl="1">
              <a:lnSpc>
                <a:spcPts val="3600"/>
              </a:lnSpc>
              <a:buFont typeface="Arial"/>
              <a:buChar char="•"/>
            </a:pPr>
            <a:r>
              <a:rPr lang="en-US" sz="2571" u="none">
                <a:solidFill>
                  <a:srgbClr val="242424"/>
                </a:solidFill>
                <a:latin typeface="TT Chocolates"/>
                <a:ea typeface="TT Chocolates"/>
                <a:cs typeface="TT Chocolates"/>
                <a:sym typeface="TT Chocolates"/>
              </a:rPr>
              <a:t>Josefa Durán:</a:t>
            </a:r>
          </a:p>
          <a:p>
            <a:pPr algn="l">
              <a:lnSpc>
                <a:spcPts val="3600"/>
              </a:lnSpc>
            </a:pPr>
            <a:r>
              <a:rPr lang="en-US" sz="2571" u="none">
                <a:solidFill>
                  <a:srgbClr val="242424"/>
                </a:solidFill>
                <a:latin typeface="TT Chocolates"/>
                <a:ea typeface="TT Chocolates"/>
                <a:cs typeface="TT Chocolates"/>
                <a:sym typeface="TT Chocolates"/>
              </a:rPr>
              <a:t>    Desarrollo y calidad</a:t>
            </a:r>
          </a:p>
          <a:p>
            <a:pPr algn="ctr">
              <a:lnSpc>
                <a:spcPts val="3600"/>
              </a:lnSpc>
            </a:pPr>
            <a:r>
              <a:rPr lang="en-US" sz="2571" u="none">
                <a:solidFill>
                  <a:srgbClr val="242424"/>
                </a:solidFill>
                <a:latin typeface="TT Chocolates"/>
                <a:ea typeface="TT Chocolates"/>
                <a:cs typeface="TT Chocolates"/>
                <a:sym typeface="TT Chocolates"/>
              </a:rPr>
              <a:t>       </a:t>
            </a:r>
            <a:r>
              <a:rPr lang="en-US" sz="2571" u="none">
                <a:solidFill>
                  <a:srgbClr val="242424"/>
                </a:solidFill>
                <a:latin typeface="TT Chocolates"/>
                <a:ea typeface="TT Chocolates"/>
                <a:cs typeface="TT Chocolates"/>
                <a:sym typeface="TT Chocolates"/>
              </a:rPr>
              <a:t>Frontend · Geolocalización · APIs · Pruebas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0385648" y="4576382"/>
            <a:ext cx="7747493" cy="1050335"/>
            <a:chOff x="0" y="0"/>
            <a:chExt cx="3072935" cy="416601"/>
          </a:xfrm>
        </p:grpSpPr>
        <p:sp>
          <p:nvSpPr>
            <p:cNvPr name="Freeform 3" id="3"/>
            <p:cNvSpPr/>
            <p:nvPr/>
          </p:nvSpPr>
          <p:spPr>
            <a:xfrm flipH="false" flipV="false" rot="0">
              <a:off x="0" y="0"/>
              <a:ext cx="3072935" cy="416601"/>
            </a:xfrm>
            <a:custGeom>
              <a:avLst/>
              <a:gdLst/>
              <a:ahLst/>
              <a:cxnLst/>
              <a:rect r="r" b="b" t="t" l="l"/>
              <a:pathLst>
                <a:path h="416601" w="3072935">
                  <a:moveTo>
                    <a:pt x="0" y="0"/>
                  </a:moveTo>
                  <a:lnTo>
                    <a:pt x="3072935" y="0"/>
                  </a:lnTo>
                  <a:lnTo>
                    <a:pt x="3072935" y="416601"/>
                  </a:lnTo>
                  <a:lnTo>
                    <a:pt x="0" y="416601"/>
                  </a:lnTo>
                  <a:close/>
                </a:path>
              </a:pathLst>
            </a:custGeom>
            <a:ln w="66675" cap="sq">
              <a:solidFill>
                <a:srgbClr val="8FA4E1"/>
              </a:solidFill>
              <a:prstDash val="solid"/>
              <a:miter/>
            </a:ln>
          </p:spPr>
        </p:sp>
        <p:sp>
          <p:nvSpPr>
            <p:cNvPr name="TextBox 4" id="4"/>
            <p:cNvSpPr txBox="true"/>
            <p:nvPr/>
          </p:nvSpPr>
          <p:spPr>
            <a:xfrm>
              <a:off x="0" y="-47625"/>
              <a:ext cx="3072935" cy="464226"/>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0878602" y="4447085"/>
            <a:ext cx="6802892" cy="1392831"/>
          </a:xfrm>
          <a:prstGeom prst="rect">
            <a:avLst/>
          </a:prstGeom>
          <a:solidFill>
            <a:srgbClr val="CFDBFF"/>
          </a:solidFill>
        </p:spPr>
      </p:sp>
      <p:sp>
        <p:nvSpPr>
          <p:cNvPr name="Freeform 6" id="6"/>
          <p:cNvSpPr/>
          <p:nvPr/>
        </p:nvSpPr>
        <p:spPr>
          <a:xfrm flipH="false" flipV="false" rot="0">
            <a:off x="1028700" y="186259"/>
            <a:ext cx="8532104" cy="9917828"/>
          </a:xfrm>
          <a:custGeom>
            <a:avLst/>
            <a:gdLst/>
            <a:ahLst/>
            <a:cxnLst/>
            <a:rect r="r" b="b" t="t" l="l"/>
            <a:pathLst>
              <a:path h="9917828" w="8532104">
                <a:moveTo>
                  <a:pt x="0" y="0"/>
                </a:moveTo>
                <a:lnTo>
                  <a:pt x="8532104" y="0"/>
                </a:lnTo>
                <a:lnTo>
                  <a:pt x="8532104" y="9917828"/>
                </a:lnTo>
                <a:lnTo>
                  <a:pt x="0" y="9917828"/>
                </a:lnTo>
                <a:lnTo>
                  <a:pt x="0" y="0"/>
                </a:lnTo>
                <a:close/>
              </a:path>
            </a:pathLst>
          </a:custGeom>
          <a:blipFill>
            <a:blip r:embed="rId2"/>
            <a:stretch>
              <a:fillRect l="0" t="0" r="0" b="0"/>
            </a:stretch>
          </a:blipFill>
        </p:spPr>
      </p:sp>
      <p:sp>
        <p:nvSpPr>
          <p:cNvPr name="TextBox 7" id="7"/>
          <p:cNvSpPr txBox="true"/>
          <p:nvPr/>
        </p:nvSpPr>
        <p:spPr>
          <a:xfrm rot="0">
            <a:off x="10878602" y="4619459"/>
            <a:ext cx="6802892" cy="1079642"/>
          </a:xfrm>
          <a:prstGeom prst="rect">
            <a:avLst/>
          </a:prstGeom>
        </p:spPr>
        <p:txBody>
          <a:bodyPr anchor="t" rtlCol="false" tIns="0" lIns="0" bIns="0" rIns="0">
            <a:spAutoFit/>
          </a:bodyPr>
          <a:lstStyle/>
          <a:p>
            <a:pPr algn="ctr">
              <a:lnSpc>
                <a:spcPts val="7726"/>
              </a:lnSpc>
            </a:pPr>
            <a:r>
              <a:rPr lang="en-US" sz="5853" spc="-128">
                <a:solidFill>
                  <a:srgbClr val="1C1B19"/>
                </a:solidFill>
                <a:latin typeface="Gill Sans Condensed"/>
                <a:ea typeface="Gill Sans Condensed"/>
                <a:cs typeface="Gill Sans Condensed"/>
                <a:sym typeface="Gill Sans Condensed"/>
              </a:rPr>
              <a:t>ARQUITECTURA</a:t>
            </a:r>
          </a:p>
        </p:txBody>
      </p:sp>
      <p:sp>
        <p:nvSpPr>
          <p:cNvPr name="TextBox 8" id="8"/>
          <p:cNvSpPr txBox="true"/>
          <p:nvPr/>
        </p:nvSpPr>
        <p:spPr>
          <a:xfrm rot="0">
            <a:off x="10861913" y="6145276"/>
            <a:ext cx="6397387" cy="780066"/>
          </a:xfrm>
          <a:prstGeom prst="rect">
            <a:avLst/>
          </a:prstGeom>
        </p:spPr>
        <p:txBody>
          <a:bodyPr anchor="t" rtlCol="false" tIns="0" lIns="0" bIns="0" rIns="0">
            <a:spAutoFit/>
          </a:bodyPr>
          <a:lstStyle/>
          <a:p>
            <a:pPr algn="ctr">
              <a:lnSpc>
                <a:spcPts val="2989"/>
              </a:lnSpc>
              <a:spcBef>
                <a:spcPct val="0"/>
              </a:spcBef>
            </a:pPr>
            <a:r>
              <a:rPr lang="en-US" sz="2264" spc="330" u="sng">
                <a:solidFill>
                  <a:srgbClr val="1C1B19"/>
                </a:solidFill>
                <a:latin typeface="Gill Sans Condensed"/>
                <a:ea typeface="Gill Sans Condensed"/>
                <a:cs typeface="Gill Sans Condensed"/>
                <a:sym typeface="Gill Sans Condensed"/>
                <a:hlinkClick r:id="rId3" tooltip="https://drive.google.com/file/d/1MAUtBg8CSrpYuXvEYilF3M7m0yGwq8P4/view?usp=sharing"/>
              </a:rPr>
              <a:t>https://drive.google.com/file/d/1MAUtBg8CSrpYuXvEYilF3M7m0yGwq8P4/view?usp=sharing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490131" y="361030"/>
            <a:ext cx="4968420" cy="2368110"/>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051109" y="697145"/>
            <a:ext cx="5999394" cy="1695879"/>
          </a:xfrm>
          <a:prstGeom prst="rect">
            <a:avLst/>
          </a:prstGeom>
          <a:solidFill>
            <a:srgbClr val="CFDBFF"/>
          </a:solidFill>
        </p:spPr>
      </p:sp>
      <p:sp>
        <p:nvSpPr>
          <p:cNvPr name="Freeform 6" id="6"/>
          <p:cNvSpPr/>
          <p:nvPr/>
        </p:nvSpPr>
        <p:spPr>
          <a:xfrm flipH="false" flipV="false" rot="0">
            <a:off x="350424" y="5829423"/>
            <a:ext cx="5466847" cy="3739801"/>
          </a:xfrm>
          <a:custGeom>
            <a:avLst/>
            <a:gdLst/>
            <a:ahLst/>
            <a:cxnLst/>
            <a:rect r="r" b="b" t="t" l="l"/>
            <a:pathLst>
              <a:path h="3739801" w="5466847">
                <a:moveTo>
                  <a:pt x="0" y="0"/>
                </a:moveTo>
                <a:lnTo>
                  <a:pt x="5466847" y="0"/>
                </a:lnTo>
                <a:lnTo>
                  <a:pt x="5466847" y="3739801"/>
                </a:lnTo>
                <a:lnTo>
                  <a:pt x="0" y="3739801"/>
                </a:lnTo>
                <a:lnTo>
                  <a:pt x="0" y="0"/>
                </a:lnTo>
                <a:close/>
              </a:path>
            </a:pathLst>
          </a:custGeom>
          <a:blipFill>
            <a:blip r:embed="rId2"/>
            <a:stretch>
              <a:fillRect l="0" t="0" r="0" b="0"/>
            </a:stretch>
          </a:blipFill>
          <a:ln cap="sq">
            <a:noFill/>
            <a:prstDash val="solid"/>
            <a:miter/>
          </a:ln>
        </p:spPr>
      </p:sp>
      <p:sp>
        <p:nvSpPr>
          <p:cNvPr name="Freeform 7" id="7"/>
          <p:cNvSpPr/>
          <p:nvPr/>
        </p:nvSpPr>
        <p:spPr>
          <a:xfrm flipH="false" flipV="false" rot="0">
            <a:off x="5715597" y="5829423"/>
            <a:ext cx="6856806" cy="3959718"/>
          </a:xfrm>
          <a:custGeom>
            <a:avLst/>
            <a:gdLst/>
            <a:ahLst/>
            <a:cxnLst/>
            <a:rect r="r" b="b" t="t" l="l"/>
            <a:pathLst>
              <a:path h="3959718" w="6856806">
                <a:moveTo>
                  <a:pt x="0" y="0"/>
                </a:moveTo>
                <a:lnTo>
                  <a:pt x="6856806" y="0"/>
                </a:lnTo>
                <a:lnTo>
                  <a:pt x="6856806" y="3959718"/>
                </a:lnTo>
                <a:lnTo>
                  <a:pt x="0" y="3959718"/>
                </a:lnTo>
                <a:lnTo>
                  <a:pt x="0" y="0"/>
                </a:lnTo>
                <a:close/>
              </a:path>
            </a:pathLst>
          </a:custGeom>
          <a:blipFill>
            <a:blip r:embed="rId3"/>
            <a:stretch>
              <a:fillRect l="0" t="-856" r="0" b="-856"/>
            </a:stretch>
          </a:blipFill>
        </p:spPr>
      </p:sp>
      <p:sp>
        <p:nvSpPr>
          <p:cNvPr name="Freeform 8" id="8"/>
          <p:cNvSpPr/>
          <p:nvPr/>
        </p:nvSpPr>
        <p:spPr>
          <a:xfrm flipH="false" flipV="false" rot="0">
            <a:off x="12695301" y="5729440"/>
            <a:ext cx="5116415" cy="4035206"/>
          </a:xfrm>
          <a:custGeom>
            <a:avLst/>
            <a:gdLst/>
            <a:ahLst/>
            <a:cxnLst/>
            <a:rect r="r" b="b" t="t" l="l"/>
            <a:pathLst>
              <a:path h="4035206" w="5116415">
                <a:moveTo>
                  <a:pt x="0" y="0"/>
                </a:moveTo>
                <a:lnTo>
                  <a:pt x="5116414" y="0"/>
                </a:lnTo>
                <a:lnTo>
                  <a:pt x="5116414" y="4035206"/>
                </a:lnTo>
                <a:lnTo>
                  <a:pt x="0" y="4035206"/>
                </a:lnTo>
                <a:lnTo>
                  <a:pt x="0" y="0"/>
                </a:lnTo>
                <a:close/>
              </a:path>
            </a:pathLst>
          </a:custGeom>
          <a:blipFill>
            <a:blip r:embed="rId4"/>
            <a:stretch>
              <a:fillRect l="-5157" t="0" r="0" b="0"/>
            </a:stretch>
          </a:blipFill>
        </p:spPr>
      </p:sp>
      <p:sp>
        <p:nvSpPr>
          <p:cNvPr name="TextBox 9" id="9"/>
          <p:cNvSpPr txBox="true"/>
          <p:nvPr/>
        </p:nvSpPr>
        <p:spPr>
          <a:xfrm rot="0">
            <a:off x="6051109" y="1111849"/>
            <a:ext cx="5999394" cy="1045587"/>
          </a:xfrm>
          <a:prstGeom prst="rect">
            <a:avLst/>
          </a:prstGeom>
        </p:spPr>
        <p:txBody>
          <a:bodyPr anchor="t" rtlCol="false" tIns="0" lIns="0" bIns="0" rIns="0">
            <a:spAutoFit/>
          </a:bodyPr>
          <a:lstStyle/>
          <a:p>
            <a:pPr algn="ctr">
              <a:lnSpc>
                <a:spcPts val="6941"/>
              </a:lnSpc>
            </a:pPr>
            <a:r>
              <a:rPr lang="en-US" sz="6548">
                <a:solidFill>
                  <a:srgbClr val="1C1B19"/>
                </a:solidFill>
                <a:latin typeface="Gill Sans Condensed"/>
                <a:ea typeface="Gill Sans Condensed"/>
                <a:cs typeface="Gill Sans Condensed"/>
                <a:sym typeface="Gill Sans Condensed"/>
              </a:rPr>
              <a:t>COMPENTENCIA </a:t>
            </a:r>
          </a:p>
        </p:txBody>
      </p:sp>
      <p:sp>
        <p:nvSpPr>
          <p:cNvPr name="TextBox 10" id="10"/>
          <p:cNvSpPr txBox="true"/>
          <p:nvPr/>
        </p:nvSpPr>
        <p:spPr>
          <a:xfrm rot="0">
            <a:off x="387166" y="3195865"/>
            <a:ext cx="5710426" cy="2114145"/>
          </a:xfrm>
          <a:prstGeom prst="rect">
            <a:avLst/>
          </a:prstGeom>
        </p:spPr>
        <p:txBody>
          <a:bodyPr anchor="t" rtlCol="false" tIns="0" lIns="0" bIns="0" rIns="0">
            <a:spAutoFit/>
          </a:bodyPr>
          <a:lstStyle/>
          <a:p>
            <a:pPr algn="l" marL="0" indent="0" lvl="0">
              <a:lnSpc>
                <a:spcPts val="4222"/>
              </a:lnSpc>
            </a:pPr>
            <a:r>
              <a:rPr lang="en-US" b="true" sz="3015">
                <a:solidFill>
                  <a:srgbClr val="242424"/>
                </a:solidFill>
                <a:latin typeface="TT Chocolates Bold"/>
                <a:ea typeface="TT Chocolates Bold"/>
                <a:cs typeface="TT Chocolates Bold"/>
                <a:sym typeface="TT Chocolates Bold"/>
              </a:rPr>
              <a:t>BuscaFarma:</a:t>
            </a:r>
            <a:r>
              <a:rPr lang="en-US" sz="3015">
                <a:solidFill>
                  <a:srgbClr val="242424"/>
                </a:solidFill>
                <a:latin typeface="TT Chocolates"/>
                <a:ea typeface="TT Chocolates"/>
                <a:cs typeface="TT Chocolates"/>
                <a:sym typeface="TT Chocolates"/>
              </a:rPr>
              <a:t> Presenta un catálogo de medicamentos que reúne información sobre precios y stock disponibles en distintas farmacias.</a:t>
            </a:r>
          </a:p>
        </p:txBody>
      </p:sp>
      <p:sp>
        <p:nvSpPr>
          <p:cNvPr name="TextBox 11" id="11"/>
          <p:cNvSpPr txBox="true"/>
          <p:nvPr/>
        </p:nvSpPr>
        <p:spPr>
          <a:xfrm rot="0">
            <a:off x="6325509" y="3195865"/>
            <a:ext cx="5450593" cy="2647545"/>
          </a:xfrm>
          <a:prstGeom prst="rect">
            <a:avLst/>
          </a:prstGeom>
        </p:spPr>
        <p:txBody>
          <a:bodyPr anchor="t" rtlCol="false" tIns="0" lIns="0" bIns="0" rIns="0">
            <a:spAutoFit/>
          </a:bodyPr>
          <a:lstStyle/>
          <a:p>
            <a:pPr algn="l" marL="0" indent="0" lvl="0">
              <a:lnSpc>
                <a:spcPts val="4222"/>
              </a:lnSpc>
            </a:pPr>
            <a:r>
              <a:rPr lang="en-US" b="true" sz="3015">
                <a:solidFill>
                  <a:srgbClr val="242424"/>
                </a:solidFill>
                <a:latin typeface="TT Chocolates Bold"/>
                <a:ea typeface="TT Chocolates Bold"/>
                <a:cs typeface="TT Chocolates Bold"/>
                <a:sym typeface="TT Chocolates Bold"/>
              </a:rPr>
              <a:t>PrecioFarma: </a:t>
            </a:r>
            <a:r>
              <a:rPr lang="en-US" sz="3015">
                <a:solidFill>
                  <a:srgbClr val="242424"/>
                </a:solidFill>
                <a:latin typeface="TT Chocolates"/>
                <a:ea typeface="TT Chocolates"/>
                <a:cs typeface="TT Chocolates"/>
                <a:sym typeface="TT Chocolates"/>
              </a:rPr>
              <a:t>Compara los precios de un medicamento entre varias farmacias y destaca la alternativa más económica que cuenta con disponibilidad.</a:t>
            </a:r>
          </a:p>
        </p:txBody>
      </p:sp>
      <p:sp>
        <p:nvSpPr>
          <p:cNvPr name="TextBox 12" id="12"/>
          <p:cNvSpPr txBox="true"/>
          <p:nvPr/>
        </p:nvSpPr>
        <p:spPr>
          <a:xfrm rot="0">
            <a:off x="12376660" y="3195865"/>
            <a:ext cx="5715597" cy="2114145"/>
          </a:xfrm>
          <a:prstGeom prst="rect">
            <a:avLst/>
          </a:prstGeom>
        </p:spPr>
        <p:txBody>
          <a:bodyPr anchor="t" rtlCol="false" tIns="0" lIns="0" bIns="0" rIns="0">
            <a:spAutoFit/>
          </a:bodyPr>
          <a:lstStyle/>
          <a:p>
            <a:pPr algn="l" marL="0" indent="0" lvl="0">
              <a:lnSpc>
                <a:spcPts val="4222"/>
              </a:lnSpc>
            </a:pPr>
            <a:r>
              <a:rPr lang="en-US" b="true" sz="3015">
                <a:solidFill>
                  <a:srgbClr val="242424"/>
                </a:solidFill>
                <a:latin typeface="TT Chocolates Bold"/>
                <a:ea typeface="TT Chocolates Bold"/>
                <a:cs typeface="TT Chocolates Bold"/>
                <a:sym typeface="TT Chocolates Bold"/>
              </a:rPr>
              <a:t>PrecioSano: </a:t>
            </a:r>
            <a:r>
              <a:rPr lang="en-US" sz="3015">
                <a:solidFill>
                  <a:srgbClr val="242424"/>
                </a:solidFill>
                <a:latin typeface="TT Chocolates"/>
                <a:ea typeface="TT Chocolates"/>
                <a:cs typeface="TT Chocolates"/>
                <a:sym typeface="TT Chocolates"/>
              </a:rPr>
              <a:t>Entrega la información sobre medicamentos junto con datos de las farmacias, como sus locales y ubicación.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490131" y="361030"/>
            <a:ext cx="4968420" cy="2368110"/>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051109" y="697145"/>
            <a:ext cx="5999394" cy="1695879"/>
          </a:xfrm>
          <a:prstGeom prst="rect">
            <a:avLst/>
          </a:prstGeom>
          <a:solidFill>
            <a:srgbClr val="CFDBFF"/>
          </a:solidFill>
        </p:spPr>
      </p:sp>
      <p:sp>
        <p:nvSpPr>
          <p:cNvPr name="Freeform 6" id="6"/>
          <p:cNvSpPr/>
          <p:nvPr/>
        </p:nvSpPr>
        <p:spPr>
          <a:xfrm flipH="false" flipV="false" rot="0">
            <a:off x="6490131" y="3843675"/>
            <a:ext cx="3921195" cy="3921195"/>
          </a:xfrm>
          <a:custGeom>
            <a:avLst/>
            <a:gdLst/>
            <a:ahLst/>
            <a:cxnLst/>
            <a:rect r="r" b="b" t="t" l="l"/>
            <a:pathLst>
              <a:path h="3921195" w="3921195">
                <a:moveTo>
                  <a:pt x="0" y="0"/>
                </a:moveTo>
                <a:lnTo>
                  <a:pt x="3921194" y="0"/>
                </a:lnTo>
                <a:lnTo>
                  <a:pt x="3921194" y="3921194"/>
                </a:lnTo>
                <a:lnTo>
                  <a:pt x="0" y="3921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6051109" y="1111849"/>
            <a:ext cx="5999394" cy="1045587"/>
          </a:xfrm>
          <a:prstGeom prst="rect">
            <a:avLst/>
          </a:prstGeom>
        </p:spPr>
        <p:txBody>
          <a:bodyPr anchor="t" rtlCol="false" tIns="0" lIns="0" bIns="0" rIns="0">
            <a:spAutoFit/>
          </a:bodyPr>
          <a:lstStyle/>
          <a:p>
            <a:pPr algn="ctr">
              <a:lnSpc>
                <a:spcPts val="6941"/>
              </a:lnSpc>
            </a:pPr>
            <a:r>
              <a:rPr lang="en-US" sz="6548">
                <a:solidFill>
                  <a:srgbClr val="1C1B19"/>
                </a:solidFill>
                <a:latin typeface="Gill Sans Condensed"/>
                <a:ea typeface="Gill Sans Condensed"/>
                <a:cs typeface="Gill Sans Condensed"/>
                <a:sym typeface="Gill Sans Condensed"/>
              </a:rPr>
              <a:t>RIESGOS</a:t>
            </a:r>
          </a:p>
        </p:txBody>
      </p:sp>
      <p:sp>
        <p:nvSpPr>
          <p:cNvPr name="TextBox 8" id="8"/>
          <p:cNvSpPr txBox="true"/>
          <p:nvPr/>
        </p:nvSpPr>
        <p:spPr>
          <a:xfrm rot="0">
            <a:off x="443697" y="3292970"/>
            <a:ext cx="5710426" cy="2114145"/>
          </a:xfrm>
          <a:prstGeom prst="rect">
            <a:avLst/>
          </a:prstGeom>
        </p:spPr>
        <p:txBody>
          <a:bodyPr anchor="t" rtlCol="false" tIns="0" lIns="0" bIns="0" rIns="0">
            <a:spAutoFit/>
          </a:bodyPr>
          <a:lstStyle/>
          <a:p>
            <a:pPr algn="l" marL="0" indent="0" lvl="0">
              <a:lnSpc>
                <a:spcPts val="4222"/>
              </a:lnSpc>
            </a:pPr>
            <a:r>
              <a:rPr lang="en-US" b="true" sz="3015">
                <a:solidFill>
                  <a:srgbClr val="242424"/>
                </a:solidFill>
                <a:latin typeface="TT Chocolates Bold"/>
                <a:ea typeface="TT Chocolates Bold"/>
                <a:cs typeface="TT Chocolates Bold"/>
                <a:sym typeface="TT Chocolates Bold"/>
              </a:rPr>
              <a:t>Cambios en el formato de datos:</a:t>
            </a:r>
            <a:r>
              <a:rPr lang="en-US" sz="3015">
                <a:solidFill>
                  <a:srgbClr val="242424"/>
                </a:solidFill>
                <a:latin typeface="TT Chocolates"/>
                <a:ea typeface="TT Chocolates"/>
                <a:cs typeface="TT Chocolates"/>
                <a:sym typeface="TT Chocolates"/>
              </a:rPr>
              <a:t> Las farmacias pueden modificar la estructura de su información, afectando su procesamiento..</a:t>
            </a:r>
          </a:p>
        </p:txBody>
      </p:sp>
      <p:sp>
        <p:nvSpPr>
          <p:cNvPr name="TextBox 9" id="9"/>
          <p:cNvSpPr txBox="true"/>
          <p:nvPr/>
        </p:nvSpPr>
        <p:spPr>
          <a:xfrm rot="0">
            <a:off x="11458551" y="6610755"/>
            <a:ext cx="5450593" cy="2647545"/>
          </a:xfrm>
          <a:prstGeom prst="rect">
            <a:avLst/>
          </a:prstGeom>
        </p:spPr>
        <p:txBody>
          <a:bodyPr anchor="t" rtlCol="false" tIns="0" lIns="0" bIns="0" rIns="0">
            <a:spAutoFit/>
          </a:bodyPr>
          <a:lstStyle/>
          <a:p>
            <a:pPr algn="l" marL="0" indent="0" lvl="0">
              <a:lnSpc>
                <a:spcPts val="4222"/>
              </a:lnSpc>
            </a:pPr>
            <a:r>
              <a:rPr lang="en-US" b="true" sz="3015">
                <a:solidFill>
                  <a:srgbClr val="242424"/>
                </a:solidFill>
                <a:latin typeface="TT Chocolates Bold"/>
                <a:ea typeface="TT Chocolates Bold"/>
                <a:cs typeface="TT Chocolates Bold"/>
                <a:sym typeface="TT Chocolates Bold"/>
              </a:rPr>
              <a:t>Normalización de datos</a:t>
            </a:r>
            <a:r>
              <a:rPr lang="en-US" sz="3015">
                <a:solidFill>
                  <a:srgbClr val="242424"/>
                </a:solidFill>
                <a:latin typeface="TT Chocolates"/>
                <a:ea typeface="TT Chocolates"/>
                <a:cs typeface="TT Chocolates"/>
                <a:sym typeface="TT Chocolates"/>
              </a:rPr>
              <a:t>: Los medicamentos puede registrarse  con diferentes nombres, formatos o presentaciones, complicao su comparación.</a:t>
            </a:r>
          </a:p>
        </p:txBody>
      </p:sp>
      <p:sp>
        <p:nvSpPr>
          <p:cNvPr name="TextBox 10" id="10"/>
          <p:cNvSpPr txBox="true"/>
          <p:nvPr/>
        </p:nvSpPr>
        <p:spPr>
          <a:xfrm rot="0">
            <a:off x="11458551" y="3026270"/>
            <a:ext cx="5715597" cy="3180945"/>
          </a:xfrm>
          <a:prstGeom prst="rect">
            <a:avLst/>
          </a:prstGeom>
        </p:spPr>
        <p:txBody>
          <a:bodyPr anchor="t" rtlCol="false" tIns="0" lIns="0" bIns="0" rIns="0">
            <a:spAutoFit/>
          </a:bodyPr>
          <a:lstStyle/>
          <a:p>
            <a:pPr algn="l" marL="0" indent="0" lvl="0">
              <a:lnSpc>
                <a:spcPts val="4222"/>
              </a:lnSpc>
            </a:pPr>
            <a:r>
              <a:rPr lang="en-US" b="true" sz="3015">
                <a:solidFill>
                  <a:srgbClr val="242424"/>
                </a:solidFill>
                <a:latin typeface="TT Chocolates Bold"/>
                <a:ea typeface="TT Chocolates Bold"/>
                <a:cs typeface="TT Chocolates Bold"/>
                <a:sym typeface="TT Chocolates Bold"/>
              </a:rPr>
              <a:t>Falta de acceso a información: </a:t>
            </a:r>
            <a:r>
              <a:rPr lang="en-US" sz="3015">
                <a:solidFill>
                  <a:srgbClr val="242424"/>
                </a:solidFill>
                <a:latin typeface="TT Chocolates"/>
                <a:ea typeface="TT Chocolates"/>
                <a:cs typeface="TT Chocolates"/>
                <a:sym typeface="TT Chocolates"/>
              </a:rPr>
              <a:t>Algunas farmacias podrían no disponer de fuentes públicas o accesibles, limitando la cantidad de datos que FarmaPricey puede entregar</a:t>
            </a:r>
          </a:p>
        </p:txBody>
      </p:sp>
      <p:sp>
        <p:nvSpPr>
          <p:cNvPr name="TextBox 11" id="11"/>
          <p:cNvSpPr txBox="true"/>
          <p:nvPr/>
        </p:nvSpPr>
        <p:spPr>
          <a:xfrm rot="0">
            <a:off x="438527" y="6610755"/>
            <a:ext cx="5715597" cy="3180945"/>
          </a:xfrm>
          <a:prstGeom prst="rect">
            <a:avLst/>
          </a:prstGeom>
        </p:spPr>
        <p:txBody>
          <a:bodyPr anchor="t" rtlCol="false" tIns="0" lIns="0" bIns="0" rIns="0">
            <a:spAutoFit/>
          </a:bodyPr>
          <a:lstStyle/>
          <a:p>
            <a:pPr algn="l" marL="0" indent="0" lvl="0">
              <a:lnSpc>
                <a:spcPts val="4222"/>
              </a:lnSpc>
            </a:pPr>
            <a:r>
              <a:rPr lang="en-US" b="true" sz="3015">
                <a:solidFill>
                  <a:srgbClr val="242424"/>
                </a:solidFill>
                <a:latin typeface="TT Chocolates Bold"/>
                <a:ea typeface="TT Chocolates Bold"/>
                <a:cs typeface="TT Chocolates Bold"/>
                <a:sym typeface="TT Chocolates Bold"/>
              </a:rPr>
              <a:t>Información desactualizada: </a:t>
            </a:r>
            <a:r>
              <a:rPr lang="en-US" sz="3015">
                <a:solidFill>
                  <a:srgbClr val="242424"/>
                </a:solidFill>
                <a:latin typeface="TT Chocolates"/>
                <a:ea typeface="TT Chocolates"/>
                <a:cs typeface="TT Chocolates"/>
                <a:sym typeface="TT Chocolates"/>
              </a:rPr>
              <a:t>Los precios y el stock pueden cambiar rapidamente, generando diferencias entre la información mostrada y la disponibilidad en la farmacia.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6490131" y="361030"/>
            <a:ext cx="4968420" cy="2368110"/>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6051109" y="697145"/>
            <a:ext cx="5999394" cy="1695879"/>
          </a:xfrm>
          <a:prstGeom prst="rect">
            <a:avLst/>
          </a:prstGeom>
          <a:solidFill>
            <a:srgbClr val="CFDBFF"/>
          </a:solidFill>
        </p:spPr>
      </p:sp>
      <p:sp>
        <p:nvSpPr>
          <p:cNvPr name="Freeform 6" id="6"/>
          <p:cNvSpPr/>
          <p:nvPr/>
        </p:nvSpPr>
        <p:spPr>
          <a:xfrm flipH="false" flipV="false" rot="0">
            <a:off x="15003642" y="682668"/>
            <a:ext cx="1961394" cy="2949465"/>
          </a:xfrm>
          <a:custGeom>
            <a:avLst/>
            <a:gdLst/>
            <a:ahLst/>
            <a:cxnLst/>
            <a:rect r="r" b="b" t="t" l="l"/>
            <a:pathLst>
              <a:path h="2949465" w="1961394">
                <a:moveTo>
                  <a:pt x="0" y="0"/>
                </a:moveTo>
                <a:lnTo>
                  <a:pt x="1961394" y="0"/>
                </a:lnTo>
                <a:lnTo>
                  <a:pt x="1961394" y="2949465"/>
                </a:lnTo>
                <a:lnTo>
                  <a:pt x="0" y="2949465"/>
                </a:lnTo>
                <a:lnTo>
                  <a:pt x="0" y="0"/>
                </a:lnTo>
                <a:close/>
              </a:path>
            </a:pathLst>
          </a:custGeom>
          <a:blipFill>
            <a:blip r:embed="rId2"/>
            <a:stretch>
              <a:fillRect l="0" t="0" r="0" b="0"/>
            </a:stretch>
          </a:blipFill>
        </p:spPr>
      </p:sp>
      <p:sp>
        <p:nvSpPr>
          <p:cNvPr name="TextBox 7" id="7"/>
          <p:cNvSpPr txBox="true"/>
          <p:nvPr/>
        </p:nvSpPr>
        <p:spPr>
          <a:xfrm rot="0">
            <a:off x="6051109" y="1111849"/>
            <a:ext cx="5999394" cy="1045551"/>
          </a:xfrm>
          <a:prstGeom prst="rect">
            <a:avLst/>
          </a:prstGeom>
        </p:spPr>
        <p:txBody>
          <a:bodyPr anchor="t" rtlCol="false" tIns="0" lIns="0" bIns="0" rIns="0">
            <a:spAutoFit/>
          </a:bodyPr>
          <a:lstStyle/>
          <a:p>
            <a:pPr algn="ctr">
              <a:lnSpc>
                <a:spcPts val="6941"/>
              </a:lnSpc>
            </a:pPr>
            <a:r>
              <a:rPr lang="en-US" sz="6548">
                <a:solidFill>
                  <a:srgbClr val="1C1B19"/>
                </a:solidFill>
                <a:latin typeface="Gill Sans Condensed"/>
                <a:ea typeface="Gill Sans Condensed"/>
                <a:cs typeface="Gill Sans Condensed"/>
                <a:sym typeface="Gill Sans Condensed"/>
              </a:rPr>
              <a:t>SEGURIDAD</a:t>
            </a:r>
          </a:p>
        </p:txBody>
      </p:sp>
      <p:sp>
        <p:nvSpPr>
          <p:cNvPr name="TextBox 8" id="8"/>
          <p:cNvSpPr txBox="true"/>
          <p:nvPr/>
        </p:nvSpPr>
        <p:spPr>
          <a:xfrm rot="0">
            <a:off x="1028700" y="2955875"/>
            <a:ext cx="13740419" cy="5847945"/>
          </a:xfrm>
          <a:prstGeom prst="rect">
            <a:avLst/>
          </a:prstGeom>
        </p:spPr>
        <p:txBody>
          <a:bodyPr anchor="t" rtlCol="false" tIns="0" lIns="0" bIns="0" rIns="0">
            <a:spAutoFit/>
          </a:bodyPr>
          <a:lstStyle/>
          <a:p>
            <a:pPr algn="l">
              <a:lnSpc>
                <a:spcPts val="4222"/>
              </a:lnSpc>
            </a:pPr>
            <a:r>
              <a:rPr lang="en-US" sz="3015" b="true">
                <a:solidFill>
                  <a:srgbClr val="242424"/>
                </a:solidFill>
                <a:latin typeface="TT Chocolates Bold"/>
                <a:ea typeface="TT Chocolates Bold"/>
                <a:cs typeface="TT Chocolates Bold"/>
                <a:sym typeface="TT Chocolates Bold"/>
              </a:rPr>
              <a:t>Seguridad de la información:</a:t>
            </a:r>
          </a:p>
          <a:p>
            <a:pPr algn="l">
              <a:lnSpc>
                <a:spcPts val="4222"/>
              </a:lnSpc>
            </a:pPr>
          </a:p>
          <a:p>
            <a:pPr algn="l" marL="651146" indent="-325573" lvl="1">
              <a:lnSpc>
                <a:spcPts val="4222"/>
              </a:lnSpc>
              <a:buFont typeface="Arial"/>
              <a:buChar char="•"/>
            </a:pPr>
            <a:r>
              <a:rPr lang="en-US" b="true" sz="3015">
                <a:solidFill>
                  <a:srgbClr val="242424"/>
                </a:solidFill>
                <a:latin typeface="TT Chocolates Bold"/>
                <a:ea typeface="TT Chocolates Bold"/>
                <a:cs typeface="TT Chocolates Bold"/>
                <a:sym typeface="TT Chocolates Bold"/>
              </a:rPr>
              <a:t>Protección de datos</a:t>
            </a:r>
            <a:r>
              <a:rPr lang="en-US" b="true" sz="3015">
                <a:solidFill>
                  <a:srgbClr val="242424"/>
                </a:solidFill>
                <a:latin typeface="TT Chocolates Bold"/>
                <a:ea typeface="TT Chocolates Bold"/>
                <a:cs typeface="TT Chocolates Bold"/>
                <a:sym typeface="TT Chocolates Bold"/>
              </a:rPr>
              <a:t> almacenados:</a:t>
            </a:r>
            <a:r>
              <a:rPr lang="en-US" sz="3015">
                <a:solidFill>
                  <a:srgbClr val="242424"/>
                </a:solidFill>
                <a:latin typeface="TT Chocolates"/>
                <a:ea typeface="TT Chocolates"/>
                <a:cs typeface="TT Chocolates"/>
                <a:sym typeface="TT Chocolates"/>
              </a:rPr>
              <a:t> PostgreSQL + variables de entorno para información sensible.</a:t>
            </a:r>
          </a:p>
          <a:p>
            <a:pPr algn="l" marL="651146" indent="-325573" lvl="1">
              <a:lnSpc>
                <a:spcPts val="4222"/>
              </a:lnSpc>
              <a:buFont typeface="Arial"/>
              <a:buChar char="•"/>
            </a:pPr>
            <a:r>
              <a:rPr lang="en-US" b="true" sz="3015">
                <a:solidFill>
                  <a:srgbClr val="242424"/>
                </a:solidFill>
                <a:latin typeface="TT Chocolates Bold"/>
                <a:ea typeface="TT Chocolates Bold"/>
                <a:cs typeface="TT Chocolates Bold"/>
                <a:sym typeface="TT Chocolates Bold"/>
              </a:rPr>
              <a:t>Validación de información externa</a:t>
            </a:r>
            <a:r>
              <a:rPr lang="en-US" sz="3015">
                <a:solidFill>
                  <a:srgbClr val="242424"/>
                </a:solidFill>
                <a:latin typeface="TT Chocolates"/>
                <a:ea typeface="TT Chocolates"/>
                <a:cs typeface="TT Chocolates"/>
                <a:sym typeface="TT Chocolates"/>
              </a:rPr>
              <a:t>: Validación, sanitización y normalización en Backend/Python.</a:t>
            </a:r>
          </a:p>
          <a:p>
            <a:pPr algn="l" marL="651146" indent="-325573" lvl="1">
              <a:lnSpc>
                <a:spcPts val="4222"/>
              </a:lnSpc>
              <a:buFont typeface="Arial"/>
              <a:buChar char="•"/>
            </a:pPr>
            <a:r>
              <a:rPr lang="en-US" b="true" sz="3015">
                <a:solidFill>
                  <a:srgbClr val="242424"/>
                </a:solidFill>
                <a:latin typeface="TT Chocolates Bold"/>
                <a:ea typeface="TT Chocolates Bold"/>
                <a:cs typeface="TT Chocolates Bold"/>
                <a:sym typeface="TT Chocolates Bold"/>
              </a:rPr>
              <a:t>Protección de claves y credenciales de API</a:t>
            </a:r>
            <a:r>
              <a:rPr lang="en-US" sz="3015">
                <a:solidFill>
                  <a:srgbClr val="242424"/>
                </a:solidFill>
                <a:latin typeface="TT Chocolates"/>
                <a:ea typeface="TT Chocolates"/>
                <a:cs typeface="TT Chocolates"/>
                <a:sym typeface="TT Chocolates"/>
              </a:rPr>
              <a:t>s: Variables de entorno (.env) + .gitignore.</a:t>
            </a:r>
          </a:p>
          <a:p>
            <a:pPr algn="l" marL="651146" indent="-325573" lvl="1">
              <a:lnSpc>
                <a:spcPts val="4222"/>
              </a:lnSpc>
              <a:buFont typeface="Arial"/>
              <a:buChar char="•"/>
            </a:pPr>
            <a:r>
              <a:rPr lang="en-US" b="true" sz="3015">
                <a:solidFill>
                  <a:srgbClr val="242424"/>
                </a:solidFill>
                <a:latin typeface="TT Chocolates Bold"/>
                <a:ea typeface="TT Chocolates Bold"/>
                <a:cs typeface="TT Chocolates Bold"/>
                <a:sym typeface="TT Chocolates Bold"/>
              </a:rPr>
              <a:t>Control de acceso</a:t>
            </a:r>
            <a:r>
              <a:rPr lang="en-US" sz="3015">
                <a:solidFill>
                  <a:srgbClr val="242424"/>
                </a:solidFill>
                <a:latin typeface="TT Chocolates"/>
                <a:ea typeface="TT Chocolates"/>
                <a:cs typeface="TT Chocolates"/>
                <a:sym typeface="TT Chocolates"/>
              </a:rPr>
              <a:t>: Autenticación y autorización por roles en Backend.</a:t>
            </a:r>
          </a:p>
          <a:p>
            <a:pPr algn="l" marL="651146" indent="-325573" lvl="1">
              <a:lnSpc>
                <a:spcPts val="4222"/>
              </a:lnSpc>
              <a:buFont typeface="Arial"/>
              <a:buChar char="•"/>
            </a:pPr>
            <a:r>
              <a:rPr lang="en-US" sz="3015">
                <a:solidFill>
                  <a:srgbClr val="242424"/>
                </a:solidFill>
                <a:latin typeface="TT Chocolates"/>
                <a:ea typeface="TT Chocolates"/>
                <a:cs typeface="TT Chocolates"/>
                <a:sym typeface="TT Chocolates"/>
              </a:rPr>
              <a:t> </a:t>
            </a:r>
            <a:r>
              <a:rPr lang="en-US" b="true" sz="3015">
                <a:solidFill>
                  <a:srgbClr val="242424"/>
                </a:solidFill>
                <a:latin typeface="TT Chocolates Bold"/>
                <a:ea typeface="TT Chocolates Bold"/>
                <a:cs typeface="TT Chocolates Bold"/>
                <a:sym typeface="TT Chocolates Bold"/>
              </a:rPr>
              <a:t>Frontend y Backend</a:t>
            </a:r>
            <a:r>
              <a:rPr lang="en-US" sz="3015">
                <a:solidFill>
                  <a:srgbClr val="242424"/>
                </a:solidFill>
                <a:latin typeface="TT Chocolates"/>
                <a:ea typeface="TT Chocolates"/>
                <a:cs typeface="TT Chocolates"/>
                <a:sym typeface="TT Chocolates"/>
              </a:rPr>
              <a:t>: HTTPS, validación de entradas y manejo seguro de sesiones.</a:t>
            </a:r>
          </a:p>
          <a:p>
            <a:pPr algn="l" marL="651146" indent="-325573" lvl="1">
              <a:lnSpc>
                <a:spcPts val="4222"/>
              </a:lnSpc>
              <a:buFont typeface="Arial"/>
              <a:buChar char="•"/>
            </a:pPr>
            <a:r>
              <a:rPr lang="en-US" b="true" sz="3015">
                <a:solidFill>
                  <a:srgbClr val="242424"/>
                </a:solidFill>
                <a:latin typeface="TT Chocolates Bold"/>
                <a:ea typeface="TT Chocolates Bold"/>
                <a:cs typeface="TT Chocolates Bold"/>
                <a:sym typeface="TT Chocolates Bold"/>
              </a:rPr>
              <a:t>APIs externas</a:t>
            </a:r>
            <a:r>
              <a:rPr lang="en-US" sz="3015">
                <a:solidFill>
                  <a:srgbClr val="242424"/>
                </a:solidFill>
                <a:latin typeface="TT Chocolates"/>
                <a:ea typeface="TT Chocolates"/>
                <a:cs typeface="TT Chocolates"/>
                <a:sym typeface="TT Chocolates"/>
              </a:rPr>
              <a:t>: Credenciales separadas y acceso mediante Backend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6270017" y="88290"/>
            <a:ext cx="4082520" cy="940410"/>
          </a:xfrm>
          <a:prstGeom prst="rect">
            <a:avLst/>
          </a:prstGeom>
          <a:solidFill>
            <a:srgbClr val="CFDBFF"/>
          </a:solidFill>
        </p:spPr>
      </p:sp>
      <p:sp>
        <p:nvSpPr>
          <p:cNvPr name="TextBox 3" id="3"/>
          <p:cNvSpPr txBox="true"/>
          <p:nvPr/>
        </p:nvSpPr>
        <p:spPr>
          <a:xfrm rot="0">
            <a:off x="6270017" y="190381"/>
            <a:ext cx="4082520" cy="707653"/>
          </a:xfrm>
          <a:prstGeom prst="rect">
            <a:avLst/>
          </a:prstGeom>
        </p:spPr>
        <p:txBody>
          <a:bodyPr anchor="t" rtlCol="false" tIns="0" lIns="0" bIns="0" rIns="0">
            <a:spAutoFit/>
          </a:bodyPr>
          <a:lstStyle/>
          <a:p>
            <a:pPr algn="ctr">
              <a:lnSpc>
                <a:spcPts val="4723"/>
              </a:lnSpc>
            </a:pPr>
            <a:r>
              <a:rPr lang="en-US" sz="4456">
                <a:solidFill>
                  <a:srgbClr val="1C1B19"/>
                </a:solidFill>
                <a:latin typeface="Gill Sans Condensed"/>
                <a:ea typeface="Gill Sans Condensed"/>
                <a:cs typeface="Gill Sans Condensed"/>
                <a:sym typeface="Gill Sans Condensed"/>
              </a:rPr>
              <a:t>MODELO DE NEGOCIO</a:t>
            </a:r>
          </a:p>
        </p:txBody>
      </p:sp>
      <p:grpSp>
        <p:nvGrpSpPr>
          <p:cNvPr name="Group 4" id="4"/>
          <p:cNvGrpSpPr/>
          <p:nvPr/>
        </p:nvGrpSpPr>
        <p:grpSpPr>
          <a:xfrm rot="0">
            <a:off x="392344" y="1164473"/>
            <a:ext cx="2639058" cy="6363397"/>
            <a:chOff x="0" y="0"/>
            <a:chExt cx="655460" cy="1580471"/>
          </a:xfrm>
        </p:grpSpPr>
        <p:sp>
          <p:nvSpPr>
            <p:cNvPr name="Freeform 5" id="5"/>
            <p:cNvSpPr/>
            <p:nvPr/>
          </p:nvSpPr>
          <p:spPr>
            <a:xfrm flipH="false" flipV="false" rot="0">
              <a:off x="0" y="0"/>
              <a:ext cx="655460" cy="1580471"/>
            </a:xfrm>
            <a:custGeom>
              <a:avLst/>
              <a:gdLst/>
              <a:ahLst/>
              <a:cxnLst/>
              <a:rect r="r" b="b" t="t" l="l"/>
              <a:pathLst>
                <a:path h="1580471" w="655460">
                  <a:moveTo>
                    <a:pt x="46937" y="0"/>
                  </a:moveTo>
                  <a:lnTo>
                    <a:pt x="608523" y="0"/>
                  </a:lnTo>
                  <a:cubicBezTo>
                    <a:pt x="620971" y="0"/>
                    <a:pt x="632910" y="4945"/>
                    <a:pt x="641713" y="13748"/>
                  </a:cubicBezTo>
                  <a:cubicBezTo>
                    <a:pt x="650515" y="22550"/>
                    <a:pt x="655460" y="34489"/>
                    <a:pt x="655460" y="46937"/>
                  </a:cubicBezTo>
                  <a:lnTo>
                    <a:pt x="655460" y="1533533"/>
                  </a:lnTo>
                  <a:cubicBezTo>
                    <a:pt x="655460" y="1559456"/>
                    <a:pt x="634446" y="1580471"/>
                    <a:pt x="608523" y="1580471"/>
                  </a:cubicBezTo>
                  <a:lnTo>
                    <a:pt x="46937" y="1580471"/>
                  </a:lnTo>
                  <a:cubicBezTo>
                    <a:pt x="34489" y="1580471"/>
                    <a:pt x="22550" y="1575526"/>
                    <a:pt x="13748" y="1566723"/>
                  </a:cubicBezTo>
                  <a:cubicBezTo>
                    <a:pt x="4945" y="1557921"/>
                    <a:pt x="0" y="1545982"/>
                    <a:pt x="0" y="1533533"/>
                  </a:cubicBezTo>
                  <a:lnTo>
                    <a:pt x="0" y="46937"/>
                  </a:lnTo>
                  <a:cubicBezTo>
                    <a:pt x="0" y="21015"/>
                    <a:pt x="21015" y="0"/>
                    <a:pt x="46937" y="0"/>
                  </a:cubicBezTo>
                  <a:close/>
                </a:path>
              </a:pathLst>
            </a:custGeom>
            <a:solidFill>
              <a:srgbClr val="CBDDEC"/>
            </a:solidFill>
            <a:ln cap="sq">
              <a:noFill/>
              <a:prstDash val="solid"/>
              <a:miter/>
            </a:ln>
          </p:spPr>
        </p:sp>
        <p:sp>
          <p:nvSpPr>
            <p:cNvPr name="TextBox 6" id="6"/>
            <p:cNvSpPr txBox="true"/>
            <p:nvPr/>
          </p:nvSpPr>
          <p:spPr>
            <a:xfrm>
              <a:off x="0" y="-19050"/>
              <a:ext cx="655460" cy="1599521"/>
            </a:xfrm>
            <a:prstGeom prst="rect">
              <a:avLst/>
            </a:prstGeom>
          </p:spPr>
          <p:txBody>
            <a:bodyPr anchor="ctr" rtlCol="false" tIns="33941" lIns="33941" bIns="33941" rIns="33941"/>
            <a:lstStyle/>
            <a:p>
              <a:pPr algn="ctr">
                <a:lnSpc>
                  <a:spcPts val="1309"/>
                </a:lnSpc>
              </a:pPr>
            </a:p>
          </p:txBody>
        </p:sp>
      </p:grpSp>
      <p:grpSp>
        <p:nvGrpSpPr>
          <p:cNvPr name="Group 7" id="7"/>
          <p:cNvGrpSpPr/>
          <p:nvPr/>
        </p:nvGrpSpPr>
        <p:grpSpPr>
          <a:xfrm rot="0">
            <a:off x="392344" y="7677110"/>
            <a:ext cx="8299953" cy="2476443"/>
            <a:chOff x="0" y="0"/>
            <a:chExt cx="2061451" cy="615072"/>
          </a:xfrm>
        </p:grpSpPr>
        <p:sp>
          <p:nvSpPr>
            <p:cNvPr name="Freeform 8" id="8"/>
            <p:cNvSpPr/>
            <p:nvPr/>
          </p:nvSpPr>
          <p:spPr>
            <a:xfrm flipH="false" flipV="false" rot="0">
              <a:off x="0" y="0"/>
              <a:ext cx="2061451" cy="615072"/>
            </a:xfrm>
            <a:custGeom>
              <a:avLst/>
              <a:gdLst/>
              <a:ahLst/>
              <a:cxnLst/>
              <a:rect r="r" b="b" t="t" l="l"/>
              <a:pathLst>
                <a:path h="615072" w="2061451">
                  <a:moveTo>
                    <a:pt x="14924" y="0"/>
                  </a:moveTo>
                  <a:lnTo>
                    <a:pt x="2046527" y="0"/>
                  </a:lnTo>
                  <a:cubicBezTo>
                    <a:pt x="2054770" y="0"/>
                    <a:pt x="2061451" y="6682"/>
                    <a:pt x="2061451" y="14924"/>
                  </a:cubicBezTo>
                  <a:lnTo>
                    <a:pt x="2061451" y="600147"/>
                  </a:lnTo>
                  <a:cubicBezTo>
                    <a:pt x="2061451" y="604106"/>
                    <a:pt x="2059879" y="607902"/>
                    <a:pt x="2057080" y="610701"/>
                  </a:cubicBezTo>
                  <a:cubicBezTo>
                    <a:pt x="2054281" y="613499"/>
                    <a:pt x="2050485" y="615072"/>
                    <a:pt x="2046527" y="615072"/>
                  </a:cubicBezTo>
                  <a:lnTo>
                    <a:pt x="14924" y="615072"/>
                  </a:lnTo>
                  <a:cubicBezTo>
                    <a:pt x="6682" y="615072"/>
                    <a:pt x="0" y="608390"/>
                    <a:pt x="0" y="600147"/>
                  </a:cubicBezTo>
                  <a:lnTo>
                    <a:pt x="0" y="14924"/>
                  </a:lnTo>
                  <a:cubicBezTo>
                    <a:pt x="0" y="10966"/>
                    <a:pt x="1572" y="7170"/>
                    <a:pt x="4371" y="4371"/>
                  </a:cubicBezTo>
                  <a:cubicBezTo>
                    <a:pt x="7170" y="1572"/>
                    <a:pt x="10966" y="0"/>
                    <a:pt x="14924" y="0"/>
                  </a:cubicBezTo>
                  <a:close/>
                </a:path>
              </a:pathLst>
            </a:custGeom>
            <a:solidFill>
              <a:srgbClr val="CBDDEC"/>
            </a:solidFill>
            <a:ln cap="sq">
              <a:noFill/>
              <a:prstDash val="solid"/>
              <a:miter/>
            </a:ln>
          </p:spPr>
        </p:sp>
        <p:sp>
          <p:nvSpPr>
            <p:cNvPr name="TextBox 9" id="9"/>
            <p:cNvSpPr txBox="true"/>
            <p:nvPr/>
          </p:nvSpPr>
          <p:spPr>
            <a:xfrm>
              <a:off x="0" y="-19050"/>
              <a:ext cx="2061451" cy="634122"/>
            </a:xfrm>
            <a:prstGeom prst="rect">
              <a:avLst/>
            </a:prstGeom>
          </p:spPr>
          <p:txBody>
            <a:bodyPr anchor="ctr" rtlCol="false" tIns="33941" lIns="33941" bIns="33941" rIns="33941"/>
            <a:lstStyle/>
            <a:p>
              <a:pPr algn="ctr">
                <a:lnSpc>
                  <a:spcPts val="1309"/>
                </a:lnSpc>
              </a:pPr>
            </a:p>
          </p:txBody>
        </p:sp>
      </p:grpSp>
      <p:grpSp>
        <p:nvGrpSpPr>
          <p:cNvPr name="Group 10" id="10"/>
          <p:cNvGrpSpPr/>
          <p:nvPr/>
        </p:nvGrpSpPr>
        <p:grpSpPr>
          <a:xfrm rot="0">
            <a:off x="8884812" y="7697520"/>
            <a:ext cx="9074740" cy="2456033"/>
            <a:chOff x="0" y="0"/>
            <a:chExt cx="2253884" cy="610002"/>
          </a:xfrm>
        </p:grpSpPr>
        <p:sp>
          <p:nvSpPr>
            <p:cNvPr name="Freeform 11" id="11"/>
            <p:cNvSpPr/>
            <p:nvPr/>
          </p:nvSpPr>
          <p:spPr>
            <a:xfrm flipH="false" flipV="false" rot="0">
              <a:off x="0" y="0"/>
              <a:ext cx="2253884" cy="610002"/>
            </a:xfrm>
            <a:custGeom>
              <a:avLst/>
              <a:gdLst/>
              <a:ahLst/>
              <a:cxnLst/>
              <a:rect r="r" b="b" t="t" l="l"/>
              <a:pathLst>
                <a:path h="610002" w="2253884">
                  <a:moveTo>
                    <a:pt x="13650" y="0"/>
                  </a:moveTo>
                  <a:lnTo>
                    <a:pt x="2240234" y="0"/>
                  </a:lnTo>
                  <a:cubicBezTo>
                    <a:pt x="2243855" y="0"/>
                    <a:pt x="2247326" y="1438"/>
                    <a:pt x="2249886" y="3998"/>
                  </a:cubicBezTo>
                  <a:cubicBezTo>
                    <a:pt x="2252446" y="6558"/>
                    <a:pt x="2253884" y="10030"/>
                    <a:pt x="2253884" y="13650"/>
                  </a:cubicBezTo>
                  <a:lnTo>
                    <a:pt x="2253884" y="596352"/>
                  </a:lnTo>
                  <a:cubicBezTo>
                    <a:pt x="2253884" y="599973"/>
                    <a:pt x="2252446" y="603445"/>
                    <a:pt x="2249886" y="606004"/>
                  </a:cubicBezTo>
                  <a:cubicBezTo>
                    <a:pt x="2247326" y="608564"/>
                    <a:pt x="2243855" y="610002"/>
                    <a:pt x="2240234" y="610002"/>
                  </a:cubicBezTo>
                  <a:lnTo>
                    <a:pt x="13650" y="610002"/>
                  </a:lnTo>
                  <a:cubicBezTo>
                    <a:pt x="10030" y="610002"/>
                    <a:pt x="6558" y="608564"/>
                    <a:pt x="3998" y="606004"/>
                  </a:cubicBezTo>
                  <a:cubicBezTo>
                    <a:pt x="1438" y="603445"/>
                    <a:pt x="0" y="599973"/>
                    <a:pt x="0" y="596352"/>
                  </a:cubicBezTo>
                  <a:lnTo>
                    <a:pt x="0" y="13650"/>
                  </a:lnTo>
                  <a:cubicBezTo>
                    <a:pt x="0" y="10030"/>
                    <a:pt x="1438" y="6558"/>
                    <a:pt x="3998" y="3998"/>
                  </a:cubicBezTo>
                  <a:cubicBezTo>
                    <a:pt x="6558" y="1438"/>
                    <a:pt x="10030" y="0"/>
                    <a:pt x="13650" y="0"/>
                  </a:cubicBezTo>
                  <a:close/>
                </a:path>
              </a:pathLst>
            </a:custGeom>
            <a:solidFill>
              <a:srgbClr val="CBDDEC"/>
            </a:solidFill>
            <a:ln cap="sq">
              <a:noFill/>
              <a:prstDash val="solid"/>
              <a:miter/>
            </a:ln>
          </p:spPr>
        </p:sp>
        <p:sp>
          <p:nvSpPr>
            <p:cNvPr name="TextBox 12" id="12"/>
            <p:cNvSpPr txBox="true"/>
            <p:nvPr/>
          </p:nvSpPr>
          <p:spPr>
            <a:xfrm>
              <a:off x="0" y="-19050"/>
              <a:ext cx="2253884" cy="629052"/>
            </a:xfrm>
            <a:prstGeom prst="rect">
              <a:avLst/>
            </a:prstGeom>
          </p:spPr>
          <p:txBody>
            <a:bodyPr anchor="ctr" rtlCol="false" tIns="33941" lIns="33941" bIns="33941" rIns="33941"/>
            <a:lstStyle/>
            <a:p>
              <a:pPr algn="ctr">
                <a:lnSpc>
                  <a:spcPts val="1309"/>
                </a:lnSpc>
              </a:pPr>
            </a:p>
          </p:txBody>
        </p:sp>
      </p:grpSp>
      <p:grpSp>
        <p:nvGrpSpPr>
          <p:cNvPr name="Group 13" id="13"/>
          <p:cNvGrpSpPr/>
          <p:nvPr/>
        </p:nvGrpSpPr>
        <p:grpSpPr>
          <a:xfrm rot="0">
            <a:off x="7566235" y="1164473"/>
            <a:ext cx="2624366" cy="6379286"/>
            <a:chOff x="0" y="0"/>
            <a:chExt cx="651811" cy="1584417"/>
          </a:xfrm>
        </p:grpSpPr>
        <p:sp>
          <p:nvSpPr>
            <p:cNvPr name="Freeform 14" id="14"/>
            <p:cNvSpPr/>
            <p:nvPr/>
          </p:nvSpPr>
          <p:spPr>
            <a:xfrm flipH="false" flipV="false" rot="0">
              <a:off x="0" y="0"/>
              <a:ext cx="651811" cy="1584417"/>
            </a:xfrm>
            <a:custGeom>
              <a:avLst/>
              <a:gdLst/>
              <a:ahLst/>
              <a:cxnLst/>
              <a:rect r="r" b="b" t="t" l="l"/>
              <a:pathLst>
                <a:path h="1584417" w="651811">
                  <a:moveTo>
                    <a:pt x="47200" y="0"/>
                  </a:moveTo>
                  <a:lnTo>
                    <a:pt x="604611" y="0"/>
                  </a:lnTo>
                  <a:cubicBezTo>
                    <a:pt x="617129" y="0"/>
                    <a:pt x="629135" y="4973"/>
                    <a:pt x="637987" y="13825"/>
                  </a:cubicBezTo>
                  <a:cubicBezTo>
                    <a:pt x="646838" y="22676"/>
                    <a:pt x="651811" y="34682"/>
                    <a:pt x="651811" y="47200"/>
                  </a:cubicBezTo>
                  <a:lnTo>
                    <a:pt x="651811" y="1537217"/>
                  </a:lnTo>
                  <a:cubicBezTo>
                    <a:pt x="651811" y="1549735"/>
                    <a:pt x="646838" y="1561741"/>
                    <a:pt x="637987" y="1570593"/>
                  </a:cubicBezTo>
                  <a:cubicBezTo>
                    <a:pt x="629135" y="1579444"/>
                    <a:pt x="617129" y="1584417"/>
                    <a:pt x="604611" y="1584417"/>
                  </a:cubicBezTo>
                  <a:lnTo>
                    <a:pt x="47200" y="1584417"/>
                  </a:lnTo>
                  <a:cubicBezTo>
                    <a:pt x="34682" y="1584417"/>
                    <a:pt x="22676" y="1579444"/>
                    <a:pt x="13825" y="1570593"/>
                  </a:cubicBezTo>
                  <a:cubicBezTo>
                    <a:pt x="4973" y="1561741"/>
                    <a:pt x="0" y="1549735"/>
                    <a:pt x="0" y="1537217"/>
                  </a:cubicBezTo>
                  <a:lnTo>
                    <a:pt x="0" y="47200"/>
                  </a:lnTo>
                  <a:cubicBezTo>
                    <a:pt x="0" y="34682"/>
                    <a:pt x="4973" y="22676"/>
                    <a:pt x="13825" y="13825"/>
                  </a:cubicBezTo>
                  <a:cubicBezTo>
                    <a:pt x="22676" y="4973"/>
                    <a:pt x="34682" y="0"/>
                    <a:pt x="47200" y="0"/>
                  </a:cubicBezTo>
                  <a:close/>
                </a:path>
              </a:pathLst>
            </a:custGeom>
            <a:solidFill>
              <a:srgbClr val="CBDDEC"/>
            </a:solidFill>
            <a:ln cap="sq">
              <a:noFill/>
              <a:prstDash val="solid"/>
              <a:miter/>
            </a:ln>
          </p:spPr>
        </p:sp>
        <p:sp>
          <p:nvSpPr>
            <p:cNvPr name="TextBox 15" id="15"/>
            <p:cNvSpPr txBox="true"/>
            <p:nvPr/>
          </p:nvSpPr>
          <p:spPr>
            <a:xfrm>
              <a:off x="0" y="-19050"/>
              <a:ext cx="651811" cy="1603467"/>
            </a:xfrm>
            <a:prstGeom prst="rect">
              <a:avLst/>
            </a:prstGeom>
          </p:spPr>
          <p:txBody>
            <a:bodyPr anchor="ctr" rtlCol="false" tIns="33941" lIns="33941" bIns="33941" rIns="33941"/>
            <a:lstStyle/>
            <a:p>
              <a:pPr algn="ctr">
                <a:lnSpc>
                  <a:spcPts val="1309"/>
                </a:lnSpc>
              </a:pPr>
            </a:p>
          </p:txBody>
        </p:sp>
      </p:grpSp>
      <p:grpSp>
        <p:nvGrpSpPr>
          <p:cNvPr name="Group 16" id="16"/>
          <p:cNvGrpSpPr/>
          <p:nvPr/>
        </p:nvGrpSpPr>
        <p:grpSpPr>
          <a:xfrm rot="0">
            <a:off x="14275639" y="1162288"/>
            <a:ext cx="3692284" cy="6381471"/>
            <a:chOff x="0" y="0"/>
            <a:chExt cx="917049" cy="1584960"/>
          </a:xfrm>
        </p:grpSpPr>
        <p:sp>
          <p:nvSpPr>
            <p:cNvPr name="Freeform 17" id="17"/>
            <p:cNvSpPr/>
            <p:nvPr/>
          </p:nvSpPr>
          <p:spPr>
            <a:xfrm flipH="false" flipV="false" rot="0">
              <a:off x="0" y="0"/>
              <a:ext cx="917049" cy="1584960"/>
            </a:xfrm>
            <a:custGeom>
              <a:avLst/>
              <a:gdLst/>
              <a:ahLst/>
              <a:cxnLst/>
              <a:rect r="r" b="b" t="t" l="l"/>
              <a:pathLst>
                <a:path h="1584960" w="917049">
                  <a:moveTo>
                    <a:pt x="33549" y="0"/>
                  </a:moveTo>
                  <a:lnTo>
                    <a:pt x="883500" y="0"/>
                  </a:lnTo>
                  <a:cubicBezTo>
                    <a:pt x="892398" y="0"/>
                    <a:pt x="900931" y="3535"/>
                    <a:pt x="907223" y="9826"/>
                  </a:cubicBezTo>
                  <a:cubicBezTo>
                    <a:pt x="913514" y="16118"/>
                    <a:pt x="917049" y="24651"/>
                    <a:pt x="917049" y="33549"/>
                  </a:cubicBezTo>
                  <a:lnTo>
                    <a:pt x="917049" y="1551411"/>
                  </a:lnTo>
                  <a:cubicBezTo>
                    <a:pt x="917049" y="1569940"/>
                    <a:pt x="902029" y="1584960"/>
                    <a:pt x="883500" y="1584960"/>
                  </a:cubicBezTo>
                  <a:lnTo>
                    <a:pt x="33549" y="1584960"/>
                  </a:lnTo>
                  <a:cubicBezTo>
                    <a:pt x="24651" y="1584960"/>
                    <a:pt x="16118" y="1581425"/>
                    <a:pt x="9826" y="1575134"/>
                  </a:cubicBezTo>
                  <a:cubicBezTo>
                    <a:pt x="3535" y="1568842"/>
                    <a:pt x="0" y="1560309"/>
                    <a:pt x="0" y="1551411"/>
                  </a:cubicBezTo>
                  <a:lnTo>
                    <a:pt x="0" y="33549"/>
                  </a:lnTo>
                  <a:cubicBezTo>
                    <a:pt x="0" y="15020"/>
                    <a:pt x="15020" y="0"/>
                    <a:pt x="33549" y="0"/>
                  </a:cubicBezTo>
                  <a:close/>
                </a:path>
              </a:pathLst>
            </a:custGeom>
            <a:solidFill>
              <a:srgbClr val="CBDDEC"/>
            </a:solidFill>
            <a:ln cap="sq">
              <a:noFill/>
              <a:prstDash val="solid"/>
              <a:miter/>
            </a:ln>
          </p:spPr>
        </p:sp>
        <p:sp>
          <p:nvSpPr>
            <p:cNvPr name="TextBox 18" id="18"/>
            <p:cNvSpPr txBox="true"/>
            <p:nvPr/>
          </p:nvSpPr>
          <p:spPr>
            <a:xfrm>
              <a:off x="0" y="-19050"/>
              <a:ext cx="917049" cy="1604010"/>
            </a:xfrm>
            <a:prstGeom prst="rect">
              <a:avLst/>
            </a:prstGeom>
          </p:spPr>
          <p:txBody>
            <a:bodyPr anchor="ctr" rtlCol="false" tIns="33941" lIns="33941" bIns="33941" rIns="33941"/>
            <a:lstStyle/>
            <a:p>
              <a:pPr algn="ctr" marL="0" indent="0" lvl="0">
                <a:lnSpc>
                  <a:spcPts val="1309"/>
                </a:lnSpc>
                <a:spcBef>
                  <a:spcPct val="0"/>
                </a:spcBef>
              </a:pPr>
            </a:p>
          </p:txBody>
        </p:sp>
      </p:grpSp>
      <p:grpSp>
        <p:nvGrpSpPr>
          <p:cNvPr name="Group 19" id="19"/>
          <p:cNvGrpSpPr/>
          <p:nvPr/>
        </p:nvGrpSpPr>
        <p:grpSpPr>
          <a:xfrm rot="0">
            <a:off x="3203243" y="1164473"/>
            <a:ext cx="4202362" cy="3122282"/>
            <a:chOff x="0" y="0"/>
            <a:chExt cx="1043737" cy="775478"/>
          </a:xfrm>
        </p:grpSpPr>
        <p:sp>
          <p:nvSpPr>
            <p:cNvPr name="Freeform 20" id="20"/>
            <p:cNvSpPr/>
            <p:nvPr/>
          </p:nvSpPr>
          <p:spPr>
            <a:xfrm flipH="false" flipV="false" rot="0">
              <a:off x="0" y="0"/>
              <a:ext cx="1043737" cy="775478"/>
            </a:xfrm>
            <a:custGeom>
              <a:avLst/>
              <a:gdLst/>
              <a:ahLst/>
              <a:cxnLst/>
              <a:rect r="r" b="b" t="t" l="l"/>
              <a:pathLst>
                <a:path h="775478" w="1043737">
                  <a:moveTo>
                    <a:pt x="29476" y="0"/>
                  </a:moveTo>
                  <a:lnTo>
                    <a:pt x="1014260" y="0"/>
                  </a:lnTo>
                  <a:cubicBezTo>
                    <a:pt x="1022078" y="0"/>
                    <a:pt x="1029575" y="3106"/>
                    <a:pt x="1035103" y="8633"/>
                  </a:cubicBezTo>
                  <a:cubicBezTo>
                    <a:pt x="1040631" y="14161"/>
                    <a:pt x="1043737" y="21659"/>
                    <a:pt x="1043737" y="29476"/>
                  </a:cubicBezTo>
                  <a:lnTo>
                    <a:pt x="1043737" y="746002"/>
                  </a:lnTo>
                  <a:cubicBezTo>
                    <a:pt x="1043737" y="753819"/>
                    <a:pt x="1040631" y="761317"/>
                    <a:pt x="1035103" y="766845"/>
                  </a:cubicBezTo>
                  <a:cubicBezTo>
                    <a:pt x="1029575" y="772373"/>
                    <a:pt x="1022078" y="775478"/>
                    <a:pt x="1014260" y="775478"/>
                  </a:cubicBezTo>
                  <a:lnTo>
                    <a:pt x="29476" y="775478"/>
                  </a:lnTo>
                  <a:cubicBezTo>
                    <a:pt x="21659" y="775478"/>
                    <a:pt x="14161" y="772373"/>
                    <a:pt x="8633" y="766845"/>
                  </a:cubicBezTo>
                  <a:cubicBezTo>
                    <a:pt x="3106" y="761317"/>
                    <a:pt x="0" y="753819"/>
                    <a:pt x="0" y="746002"/>
                  </a:cubicBezTo>
                  <a:lnTo>
                    <a:pt x="0" y="29476"/>
                  </a:lnTo>
                  <a:cubicBezTo>
                    <a:pt x="0" y="21659"/>
                    <a:pt x="3106" y="14161"/>
                    <a:pt x="8633" y="8633"/>
                  </a:cubicBezTo>
                  <a:cubicBezTo>
                    <a:pt x="14161" y="3106"/>
                    <a:pt x="21659" y="0"/>
                    <a:pt x="29476" y="0"/>
                  </a:cubicBezTo>
                  <a:close/>
                </a:path>
              </a:pathLst>
            </a:custGeom>
            <a:solidFill>
              <a:srgbClr val="CBDDEC"/>
            </a:solidFill>
            <a:ln cap="sq">
              <a:noFill/>
              <a:prstDash val="solid"/>
              <a:miter/>
            </a:ln>
          </p:spPr>
        </p:sp>
        <p:sp>
          <p:nvSpPr>
            <p:cNvPr name="TextBox 21" id="21"/>
            <p:cNvSpPr txBox="true"/>
            <p:nvPr/>
          </p:nvSpPr>
          <p:spPr>
            <a:xfrm>
              <a:off x="0" y="-19050"/>
              <a:ext cx="1043737" cy="794528"/>
            </a:xfrm>
            <a:prstGeom prst="rect">
              <a:avLst/>
            </a:prstGeom>
          </p:spPr>
          <p:txBody>
            <a:bodyPr anchor="ctr" rtlCol="false" tIns="33941" lIns="33941" bIns="33941" rIns="33941"/>
            <a:lstStyle/>
            <a:p>
              <a:pPr algn="ctr">
                <a:lnSpc>
                  <a:spcPts val="1309"/>
                </a:lnSpc>
              </a:pPr>
            </a:p>
          </p:txBody>
        </p:sp>
      </p:grpSp>
      <p:grpSp>
        <p:nvGrpSpPr>
          <p:cNvPr name="Group 22" id="22"/>
          <p:cNvGrpSpPr/>
          <p:nvPr/>
        </p:nvGrpSpPr>
        <p:grpSpPr>
          <a:xfrm rot="0">
            <a:off x="10347466" y="1164473"/>
            <a:ext cx="3805501" cy="3425831"/>
            <a:chOff x="0" y="0"/>
            <a:chExt cx="945169" cy="850870"/>
          </a:xfrm>
        </p:grpSpPr>
        <p:sp>
          <p:nvSpPr>
            <p:cNvPr name="Freeform 23" id="23"/>
            <p:cNvSpPr/>
            <p:nvPr/>
          </p:nvSpPr>
          <p:spPr>
            <a:xfrm flipH="false" flipV="false" rot="0">
              <a:off x="0" y="0"/>
              <a:ext cx="945169" cy="850870"/>
            </a:xfrm>
            <a:custGeom>
              <a:avLst/>
              <a:gdLst/>
              <a:ahLst/>
              <a:cxnLst/>
              <a:rect r="r" b="b" t="t" l="l"/>
              <a:pathLst>
                <a:path h="850870" w="945169">
                  <a:moveTo>
                    <a:pt x="32550" y="0"/>
                  </a:moveTo>
                  <a:lnTo>
                    <a:pt x="912618" y="0"/>
                  </a:lnTo>
                  <a:cubicBezTo>
                    <a:pt x="930595" y="0"/>
                    <a:pt x="945169" y="14573"/>
                    <a:pt x="945169" y="32550"/>
                  </a:cubicBezTo>
                  <a:lnTo>
                    <a:pt x="945169" y="818320"/>
                  </a:lnTo>
                  <a:cubicBezTo>
                    <a:pt x="945169" y="826953"/>
                    <a:pt x="941739" y="835232"/>
                    <a:pt x="935635" y="841336"/>
                  </a:cubicBezTo>
                  <a:cubicBezTo>
                    <a:pt x="929530" y="847441"/>
                    <a:pt x="921251" y="850870"/>
                    <a:pt x="912618" y="850870"/>
                  </a:cubicBezTo>
                  <a:lnTo>
                    <a:pt x="32550" y="850870"/>
                  </a:lnTo>
                  <a:cubicBezTo>
                    <a:pt x="23918" y="850870"/>
                    <a:pt x="15638" y="847441"/>
                    <a:pt x="9534" y="841336"/>
                  </a:cubicBezTo>
                  <a:cubicBezTo>
                    <a:pt x="3429" y="835232"/>
                    <a:pt x="0" y="826953"/>
                    <a:pt x="0" y="818320"/>
                  </a:cubicBezTo>
                  <a:lnTo>
                    <a:pt x="0" y="32550"/>
                  </a:lnTo>
                  <a:cubicBezTo>
                    <a:pt x="0" y="23918"/>
                    <a:pt x="3429" y="15638"/>
                    <a:pt x="9534" y="9534"/>
                  </a:cubicBezTo>
                  <a:cubicBezTo>
                    <a:pt x="15638" y="3429"/>
                    <a:pt x="23918" y="0"/>
                    <a:pt x="32550" y="0"/>
                  </a:cubicBezTo>
                  <a:close/>
                </a:path>
              </a:pathLst>
            </a:custGeom>
            <a:solidFill>
              <a:srgbClr val="CBDDEC"/>
            </a:solidFill>
            <a:ln cap="sq">
              <a:noFill/>
              <a:prstDash val="solid"/>
              <a:miter/>
            </a:ln>
          </p:spPr>
        </p:sp>
        <p:sp>
          <p:nvSpPr>
            <p:cNvPr name="TextBox 24" id="24"/>
            <p:cNvSpPr txBox="true"/>
            <p:nvPr/>
          </p:nvSpPr>
          <p:spPr>
            <a:xfrm>
              <a:off x="0" y="-19050"/>
              <a:ext cx="945169" cy="869920"/>
            </a:xfrm>
            <a:prstGeom prst="rect">
              <a:avLst/>
            </a:prstGeom>
          </p:spPr>
          <p:txBody>
            <a:bodyPr anchor="ctr" rtlCol="false" tIns="33941" lIns="33941" bIns="33941" rIns="33941"/>
            <a:lstStyle/>
            <a:p>
              <a:pPr algn="ctr">
                <a:lnSpc>
                  <a:spcPts val="1309"/>
                </a:lnSpc>
              </a:pPr>
            </a:p>
          </p:txBody>
        </p:sp>
      </p:grpSp>
      <p:grpSp>
        <p:nvGrpSpPr>
          <p:cNvPr name="Group 25" id="25"/>
          <p:cNvGrpSpPr/>
          <p:nvPr/>
        </p:nvGrpSpPr>
        <p:grpSpPr>
          <a:xfrm rot="0">
            <a:off x="3203243" y="4439156"/>
            <a:ext cx="4202362" cy="3104604"/>
            <a:chOff x="0" y="0"/>
            <a:chExt cx="1043737" cy="771087"/>
          </a:xfrm>
        </p:grpSpPr>
        <p:sp>
          <p:nvSpPr>
            <p:cNvPr name="Freeform 26" id="26"/>
            <p:cNvSpPr/>
            <p:nvPr/>
          </p:nvSpPr>
          <p:spPr>
            <a:xfrm flipH="false" flipV="false" rot="0">
              <a:off x="0" y="0"/>
              <a:ext cx="1043737" cy="771087"/>
            </a:xfrm>
            <a:custGeom>
              <a:avLst/>
              <a:gdLst/>
              <a:ahLst/>
              <a:cxnLst/>
              <a:rect r="r" b="b" t="t" l="l"/>
              <a:pathLst>
                <a:path h="771087" w="1043737">
                  <a:moveTo>
                    <a:pt x="29476" y="0"/>
                  </a:moveTo>
                  <a:lnTo>
                    <a:pt x="1014260" y="0"/>
                  </a:lnTo>
                  <a:cubicBezTo>
                    <a:pt x="1022078" y="0"/>
                    <a:pt x="1029575" y="3106"/>
                    <a:pt x="1035103" y="8633"/>
                  </a:cubicBezTo>
                  <a:cubicBezTo>
                    <a:pt x="1040631" y="14161"/>
                    <a:pt x="1043737" y="21659"/>
                    <a:pt x="1043737" y="29476"/>
                  </a:cubicBezTo>
                  <a:lnTo>
                    <a:pt x="1043737" y="741611"/>
                  </a:lnTo>
                  <a:cubicBezTo>
                    <a:pt x="1043737" y="749429"/>
                    <a:pt x="1040631" y="756926"/>
                    <a:pt x="1035103" y="762454"/>
                  </a:cubicBezTo>
                  <a:cubicBezTo>
                    <a:pt x="1029575" y="767982"/>
                    <a:pt x="1022078" y="771087"/>
                    <a:pt x="1014260" y="771087"/>
                  </a:cubicBezTo>
                  <a:lnTo>
                    <a:pt x="29476" y="771087"/>
                  </a:lnTo>
                  <a:cubicBezTo>
                    <a:pt x="21659" y="771087"/>
                    <a:pt x="14161" y="767982"/>
                    <a:pt x="8633" y="762454"/>
                  </a:cubicBezTo>
                  <a:cubicBezTo>
                    <a:pt x="3106" y="756926"/>
                    <a:pt x="0" y="749429"/>
                    <a:pt x="0" y="741611"/>
                  </a:cubicBezTo>
                  <a:lnTo>
                    <a:pt x="0" y="29476"/>
                  </a:lnTo>
                  <a:cubicBezTo>
                    <a:pt x="0" y="21659"/>
                    <a:pt x="3106" y="14161"/>
                    <a:pt x="8633" y="8633"/>
                  </a:cubicBezTo>
                  <a:cubicBezTo>
                    <a:pt x="14161" y="3106"/>
                    <a:pt x="21659" y="0"/>
                    <a:pt x="29476" y="0"/>
                  </a:cubicBezTo>
                  <a:close/>
                </a:path>
              </a:pathLst>
            </a:custGeom>
            <a:solidFill>
              <a:srgbClr val="CBDDEC"/>
            </a:solidFill>
            <a:ln cap="sq">
              <a:noFill/>
              <a:prstDash val="solid"/>
              <a:miter/>
            </a:ln>
          </p:spPr>
        </p:sp>
        <p:sp>
          <p:nvSpPr>
            <p:cNvPr name="TextBox 27" id="27"/>
            <p:cNvSpPr txBox="true"/>
            <p:nvPr/>
          </p:nvSpPr>
          <p:spPr>
            <a:xfrm>
              <a:off x="0" y="-19050"/>
              <a:ext cx="1043737" cy="790137"/>
            </a:xfrm>
            <a:prstGeom prst="rect">
              <a:avLst/>
            </a:prstGeom>
          </p:spPr>
          <p:txBody>
            <a:bodyPr anchor="ctr" rtlCol="false" tIns="33941" lIns="33941" bIns="33941" rIns="33941"/>
            <a:lstStyle/>
            <a:p>
              <a:pPr algn="ctr">
                <a:lnSpc>
                  <a:spcPts val="1309"/>
                </a:lnSpc>
              </a:pPr>
            </a:p>
          </p:txBody>
        </p:sp>
      </p:grpSp>
      <p:grpSp>
        <p:nvGrpSpPr>
          <p:cNvPr name="Group 28" id="28"/>
          <p:cNvGrpSpPr/>
          <p:nvPr/>
        </p:nvGrpSpPr>
        <p:grpSpPr>
          <a:xfrm rot="0">
            <a:off x="10347466" y="4725570"/>
            <a:ext cx="3805501" cy="2818189"/>
            <a:chOff x="0" y="0"/>
            <a:chExt cx="945169" cy="699951"/>
          </a:xfrm>
        </p:grpSpPr>
        <p:sp>
          <p:nvSpPr>
            <p:cNvPr name="Freeform 29" id="29"/>
            <p:cNvSpPr/>
            <p:nvPr/>
          </p:nvSpPr>
          <p:spPr>
            <a:xfrm flipH="false" flipV="false" rot="0">
              <a:off x="0" y="0"/>
              <a:ext cx="945169" cy="699951"/>
            </a:xfrm>
            <a:custGeom>
              <a:avLst/>
              <a:gdLst/>
              <a:ahLst/>
              <a:cxnLst/>
              <a:rect r="r" b="b" t="t" l="l"/>
              <a:pathLst>
                <a:path h="699951" w="945169">
                  <a:moveTo>
                    <a:pt x="32550" y="0"/>
                  </a:moveTo>
                  <a:lnTo>
                    <a:pt x="912618" y="0"/>
                  </a:lnTo>
                  <a:cubicBezTo>
                    <a:pt x="930595" y="0"/>
                    <a:pt x="945169" y="14573"/>
                    <a:pt x="945169" y="32550"/>
                  </a:cubicBezTo>
                  <a:lnTo>
                    <a:pt x="945169" y="667400"/>
                  </a:lnTo>
                  <a:cubicBezTo>
                    <a:pt x="945169" y="676033"/>
                    <a:pt x="941739" y="684313"/>
                    <a:pt x="935635" y="690417"/>
                  </a:cubicBezTo>
                  <a:cubicBezTo>
                    <a:pt x="929530" y="696522"/>
                    <a:pt x="921251" y="699951"/>
                    <a:pt x="912618" y="699951"/>
                  </a:cubicBezTo>
                  <a:lnTo>
                    <a:pt x="32550" y="699951"/>
                  </a:lnTo>
                  <a:cubicBezTo>
                    <a:pt x="23918" y="699951"/>
                    <a:pt x="15638" y="696522"/>
                    <a:pt x="9534" y="690417"/>
                  </a:cubicBezTo>
                  <a:cubicBezTo>
                    <a:pt x="3429" y="684313"/>
                    <a:pt x="0" y="676033"/>
                    <a:pt x="0" y="667400"/>
                  </a:cubicBezTo>
                  <a:lnTo>
                    <a:pt x="0" y="32550"/>
                  </a:lnTo>
                  <a:cubicBezTo>
                    <a:pt x="0" y="23918"/>
                    <a:pt x="3429" y="15638"/>
                    <a:pt x="9534" y="9534"/>
                  </a:cubicBezTo>
                  <a:cubicBezTo>
                    <a:pt x="15638" y="3429"/>
                    <a:pt x="23918" y="0"/>
                    <a:pt x="32550" y="0"/>
                  </a:cubicBezTo>
                  <a:close/>
                </a:path>
              </a:pathLst>
            </a:custGeom>
            <a:solidFill>
              <a:srgbClr val="CBDDEC"/>
            </a:solidFill>
            <a:ln cap="sq">
              <a:noFill/>
              <a:prstDash val="solid"/>
              <a:miter/>
            </a:ln>
          </p:spPr>
        </p:sp>
        <p:sp>
          <p:nvSpPr>
            <p:cNvPr name="TextBox 30" id="30"/>
            <p:cNvSpPr txBox="true"/>
            <p:nvPr/>
          </p:nvSpPr>
          <p:spPr>
            <a:xfrm>
              <a:off x="0" y="-19050"/>
              <a:ext cx="945169" cy="719001"/>
            </a:xfrm>
            <a:prstGeom prst="rect">
              <a:avLst/>
            </a:prstGeom>
          </p:spPr>
          <p:txBody>
            <a:bodyPr anchor="ctr" rtlCol="false" tIns="33941" lIns="33941" bIns="33941" rIns="33941"/>
            <a:lstStyle/>
            <a:p>
              <a:pPr algn="ctr">
                <a:lnSpc>
                  <a:spcPts val="1309"/>
                </a:lnSpc>
              </a:pPr>
            </a:p>
          </p:txBody>
        </p:sp>
      </p:grpSp>
      <p:sp>
        <p:nvSpPr>
          <p:cNvPr name="TextBox 31" id="31"/>
          <p:cNvSpPr txBox="true"/>
          <p:nvPr/>
        </p:nvSpPr>
        <p:spPr>
          <a:xfrm rot="0">
            <a:off x="546522" y="2268120"/>
            <a:ext cx="2199130" cy="298620"/>
          </a:xfrm>
          <a:prstGeom prst="rect">
            <a:avLst/>
          </a:prstGeom>
        </p:spPr>
        <p:txBody>
          <a:bodyPr anchor="t" rtlCol="false" tIns="0" lIns="0" bIns="0" rIns="0">
            <a:spAutoFit/>
          </a:bodyPr>
          <a:lstStyle/>
          <a:p>
            <a:pPr algn="ctr">
              <a:lnSpc>
                <a:spcPts val="2296"/>
              </a:lnSpc>
            </a:pPr>
            <a:r>
              <a:rPr lang="en-US" b="true" sz="1963">
                <a:solidFill>
                  <a:srgbClr val="000000"/>
                </a:solidFill>
                <a:latin typeface="Montserrat Bold"/>
                <a:ea typeface="Montserrat Bold"/>
                <a:cs typeface="Montserrat Bold"/>
                <a:sym typeface="Montserrat Bold"/>
              </a:rPr>
              <a:t>Socios claves</a:t>
            </a:r>
          </a:p>
        </p:txBody>
      </p:sp>
      <p:sp>
        <p:nvSpPr>
          <p:cNvPr name="TextBox 32" id="32"/>
          <p:cNvSpPr txBox="true"/>
          <p:nvPr/>
        </p:nvSpPr>
        <p:spPr>
          <a:xfrm rot="0">
            <a:off x="7822923" y="2239322"/>
            <a:ext cx="2110991" cy="589761"/>
          </a:xfrm>
          <a:prstGeom prst="rect">
            <a:avLst/>
          </a:prstGeom>
        </p:spPr>
        <p:txBody>
          <a:bodyPr anchor="t" rtlCol="false" tIns="0" lIns="0" bIns="0" rIns="0">
            <a:spAutoFit/>
          </a:bodyPr>
          <a:lstStyle/>
          <a:p>
            <a:pPr algn="ctr" marL="0" indent="0" lvl="1">
              <a:lnSpc>
                <a:spcPts val="2296"/>
              </a:lnSpc>
            </a:pPr>
            <a:r>
              <a:rPr lang="en-US" b="true" sz="1963" u="none">
                <a:solidFill>
                  <a:srgbClr val="000000"/>
                </a:solidFill>
                <a:latin typeface="Montserrat Bold"/>
                <a:ea typeface="Montserrat Bold"/>
                <a:cs typeface="Montserrat Bold"/>
                <a:sym typeface="Montserrat Bold"/>
              </a:rPr>
              <a:t>Propuesta de valor</a:t>
            </a:r>
          </a:p>
        </p:txBody>
      </p:sp>
      <p:sp>
        <p:nvSpPr>
          <p:cNvPr name="TextBox 33" id="33"/>
          <p:cNvSpPr txBox="true"/>
          <p:nvPr/>
        </p:nvSpPr>
        <p:spPr>
          <a:xfrm rot="0">
            <a:off x="3892345" y="5364445"/>
            <a:ext cx="2360421" cy="298620"/>
          </a:xfrm>
          <a:prstGeom prst="rect">
            <a:avLst/>
          </a:prstGeom>
        </p:spPr>
        <p:txBody>
          <a:bodyPr anchor="t" rtlCol="false" tIns="0" lIns="0" bIns="0" rIns="0">
            <a:spAutoFit/>
          </a:bodyPr>
          <a:lstStyle/>
          <a:p>
            <a:pPr algn="ctr" marL="0" indent="0" lvl="1">
              <a:lnSpc>
                <a:spcPts val="2296"/>
              </a:lnSpc>
            </a:pPr>
            <a:r>
              <a:rPr lang="en-US" b="true" sz="1963" u="none">
                <a:solidFill>
                  <a:srgbClr val="000000"/>
                </a:solidFill>
                <a:latin typeface="Montserrat Bold"/>
                <a:ea typeface="Montserrat Bold"/>
                <a:cs typeface="Montserrat Bold"/>
                <a:sym typeface="Montserrat Bold"/>
              </a:rPr>
              <a:t>Recursos claves</a:t>
            </a:r>
          </a:p>
        </p:txBody>
      </p:sp>
      <p:sp>
        <p:nvSpPr>
          <p:cNvPr name="TextBox 34" id="34"/>
          <p:cNvSpPr txBox="true"/>
          <p:nvPr/>
        </p:nvSpPr>
        <p:spPr>
          <a:xfrm rot="0">
            <a:off x="15159462" y="2450032"/>
            <a:ext cx="2360421" cy="589761"/>
          </a:xfrm>
          <a:prstGeom prst="rect">
            <a:avLst/>
          </a:prstGeom>
        </p:spPr>
        <p:txBody>
          <a:bodyPr anchor="t" rtlCol="false" tIns="0" lIns="0" bIns="0" rIns="0">
            <a:spAutoFit/>
          </a:bodyPr>
          <a:lstStyle/>
          <a:p>
            <a:pPr algn="ctr" marL="0" indent="0" lvl="1">
              <a:lnSpc>
                <a:spcPts val="2296"/>
              </a:lnSpc>
            </a:pPr>
            <a:r>
              <a:rPr lang="en-US" b="true" sz="1963" strike="noStrike" u="none">
                <a:solidFill>
                  <a:srgbClr val="000000"/>
                </a:solidFill>
                <a:latin typeface="Montserrat Bold"/>
                <a:ea typeface="Montserrat Bold"/>
                <a:cs typeface="Montserrat Bold"/>
                <a:sym typeface="Montserrat Bold"/>
              </a:rPr>
              <a:t>Segmentos de clientes</a:t>
            </a:r>
          </a:p>
        </p:txBody>
      </p:sp>
      <p:sp>
        <p:nvSpPr>
          <p:cNvPr name="TextBox 35" id="35"/>
          <p:cNvSpPr txBox="true"/>
          <p:nvPr/>
        </p:nvSpPr>
        <p:spPr>
          <a:xfrm rot="0">
            <a:off x="3835862" y="2052786"/>
            <a:ext cx="2478197" cy="298620"/>
          </a:xfrm>
          <a:prstGeom prst="rect">
            <a:avLst/>
          </a:prstGeom>
        </p:spPr>
        <p:txBody>
          <a:bodyPr anchor="t" rtlCol="false" tIns="0" lIns="0" bIns="0" rIns="0">
            <a:spAutoFit/>
          </a:bodyPr>
          <a:lstStyle/>
          <a:p>
            <a:pPr algn="ctr" marL="0" indent="0" lvl="1">
              <a:lnSpc>
                <a:spcPts val="2296"/>
              </a:lnSpc>
            </a:pPr>
            <a:r>
              <a:rPr lang="en-US" b="true" sz="1963" strike="noStrike" u="none">
                <a:solidFill>
                  <a:srgbClr val="000000"/>
                </a:solidFill>
                <a:latin typeface="Montserrat Bold"/>
                <a:ea typeface="Montserrat Bold"/>
                <a:cs typeface="Montserrat Bold"/>
                <a:sym typeface="Montserrat Bold"/>
              </a:rPr>
              <a:t>Actividades claves</a:t>
            </a:r>
          </a:p>
        </p:txBody>
      </p:sp>
      <p:sp>
        <p:nvSpPr>
          <p:cNvPr name="TextBox 36" id="36"/>
          <p:cNvSpPr txBox="true"/>
          <p:nvPr/>
        </p:nvSpPr>
        <p:spPr>
          <a:xfrm rot="0">
            <a:off x="10598883" y="2056526"/>
            <a:ext cx="2360421" cy="589761"/>
          </a:xfrm>
          <a:prstGeom prst="rect">
            <a:avLst/>
          </a:prstGeom>
        </p:spPr>
        <p:txBody>
          <a:bodyPr anchor="t" rtlCol="false" tIns="0" lIns="0" bIns="0" rIns="0">
            <a:spAutoFit/>
          </a:bodyPr>
          <a:lstStyle/>
          <a:p>
            <a:pPr algn="ctr" marL="0" indent="0" lvl="1">
              <a:lnSpc>
                <a:spcPts val="2296"/>
              </a:lnSpc>
            </a:pPr>
            <a:r>
              <a:rPr lang="en-US" b="true" sz="1963" strike="noStrike" u="none">
                <a:solidFill>
                  <a:srgbClr val="000000"/>
                </a:solidFill>
                <a:latin typeface="Montserrat Bold"/>
                <a:ea typeface="Montserrat Bold"/>
                <a:cs typeface="Montserrat Bold"/>
                <a:sym typeface="Montserrat Bold"/>
              </a:rPr>
              <a:t>Relaciones con el cliente</a:t>
            </a:r>
          </a:p>
        </p:txBody>
      </p:sp>
      <p:sp>
        <p:nvSpPr>
          <p:cNvPr name="TextBox 37" id="37"/>
          <p:cNvSpPr txBox="true"/>
          <p:nvPr/>
        </p:nvSpPr>
        <p:spPr>
          <a:xfrm rot="0">
            <a:off x="10809726" y="5576444"/>
            <a:ext cx="2360421" cy="298620"/>
          </a:xfrm>
          <a:prstGeom prst="rect">
            <a:avLst/>
          </a:prstGeom>
        </p:spPr>
        <p:txBody>
          <a:bodyPr anchor="t" rtlCol="false" tIns="0" lIns="0" bIns="0" rIns="0">
            <a:spAutoFit/>
          </a:bodyPr>
          <a:lstStyle/>
          <a:p>
            <a:pPr algn="ctr" marL="0" indent="0" lvl="1">
              <a:lnSpc>
                <a:spcPts val="2296"/>
              </a:lnSpc>
            </a:pPr>
            <a:r>
              <a:rPr lang="en-US" b="true" sz="1963" strike="noStrike" u="none">
                <a:solidFill>
                  <a:srgbClr val="000000"/>
                </a:solidFill>
                <a:latin typeface="Montserrat Bold"/>
                <a:ea typeface="Montserrat Bold"/>
                <a:cs typeface="Montserrat Bold"/>
                <a:sym typeface="Montserrat Bold"/>
              </a:rPr>
              <a:t>Canales</a:t>
            </a:r>
          </a:p>
        </p:txBody>
      </p:sp>
      <p:sp>
        <p:nvSpPr>
          <p:cNvPr name="TextBox 38" id="38"/>
          <p:cNvSpPr txBox="true"/>
          <p:nvPr/>
        </p:nvSpPr>
        <p:spPr>
          <a:xfrm rot="0">
            <a:off x="1006683" y="8515310"/>
            <a:ext cx="6816240" cy="298620"/>
          </a:xfrm>
          <a:prstGeom prst="rect">
            <a:avLst/>
          </a:prstGeom>
        </p:spPr>
        <p:txBody>
          <a:bodyPr anchor="t" rtlCol="false" tIns="0" lIns="0" bIns="0" rIns="0">
            <a:spAutoFit/>
          </a:bodyPr>
          <a:lstStyle/>
          <a:p>
            <a:pPr algn="ctr" marL="0" indent="0" lvl="1">
              <a:lnSpc>
                <a:spcPts val="2296"/>
              </a:lnSpc>
              <a:spcBef>
                <a:spcPct val="0"/>
              </a:spcBef>
            </a:pPr>
            <a:r>
              <a:rPr lang="en-US" b="true" sz="1963" strike="noStrike" u="none">
                <a:solidFill>
                  <a:srgbClr val="000000"/>
                </a:solidFill>
                <a:latin typeface="Montserrat Bold"/>
                <a:ea typeface="Montserrat Bold"/>
                <a:cs typeface="Montserrat Bold"/>
                <a:sym typeface="Montserrat Bold"/>
              </a:rPr>
              <a:t>Estructura de costes</a:t>
            </a:r>
          </a:p>
        </p:txBody>
      </p:sp>
      <p:sp>
        <p:nvSpPr>
          <p:cNvPr name="TextBox 39" id="39"/>
          <p:cNvSpPr txBox="true"/>
          <p:nvPr/>
        </p:nvSpPr>
        <p:spPr>
          <a:xfrm rot="0">
            <a:off x="9149705" y="8550848"/>
            <a:ext cx="6816240" cy="298620"/>
          </a:xfrm>
          <a:prstGeom prst="rect">
            <a:avLst/>
          </a:prstGeom>
        </p:spPr>
        <p:txBody>
          <a:bodyPr anchor="t" rtlCol="false" tIns="0" lIns="0" bIns="0" rIns="0">
            <a:spAutoFit/>
          </a:bodyPr>
          <a:lstStyle/>
          <a:p>
            <a:pPr algn="ctr" marL="0" indent="0" lvl="1">
              <a:lnSpc>
                <a:spcPts val="2296"/>
              </a:lnSpc>
              <a:spcBef>
                <a:spcPct val="0"/>
              </a:spcBef>
            </a:pPr>
            <a:r>
              <a:rPr lang="en-US" b="true" sz="1963" strike="noStrike" u="none">
                <a:solidFill>
                  <a:srgbClr val="000000"/>
                </a:solidFill>
                <a:latin typeface="Montserrat Bold"/>
                <a:ea typeface="Montserrat Bold"/>
                <a:cs typeface="Montserrat Bold"/>
                <a:sym typeface="Montserrat Bold"/>
              </a:rPr>
              <a:t>Fuente de ingresos</a:t>
            </a:r>
          </a:p>
        </p:txBody>
      </p:sp>
      <p:grpSp>
        <p:nvGrpSpPr>
          <p:cNvPr name="Group 40" id="40"/>
          <p:cNvGrpSpPr/>
          <p:nvPr/>
        </p:nvGrpSpPr>
        <p:grpSpPr>
          <a:xfrm rot="0">
            <a:off x="1175512" y="1303542"/>
            <a:ext cx="752983" cy="752983"/>
            <a:chOff x="0" y="0"/>
            <a:chExt cx="1003978" cy="1003978"/>
          </a:xfrm>
        </p:grpSpPr>
        <p:grpSp>
          <p:nvGrpSpPr>
            <p:cNvPr name="Group 41" id="41"/>
            <p:cNvGrpSpPr/>
            <p:nvPr/>
          </p:nvGrpSpPr>
          <p:grpSpPr>
            <a:xfrm rot="0">
              <a:off x="0" y="0"/>
              <a:ext cx="1003978" cy="1003978"/>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43" id="43"/>
              <p:cNvSpPr txBox="true"/>
              <p:nvPr/>
            </p:nvSpPr>
            <p:spPr>
              <a:xfrm>
                <a:off x="76200" y="38100"/>
                <a:ext cx="660400" cy="698500"/>
              </a:xfrm>
              <a:prstGeom prst="rect">
                <a:avLst/>
              </a:prstGeom>
            </p:spPr>
            <p:txBody>
              <a:bodyPr anchor="ctr" rtlCol="false" tIns="29143" lIns="29143" bIns="29143" rIns="29143"/>
              <a:lstStyle/>
              <a:p>
                <a:pPr algn="ctr">
                  <a:lnSpc>
                    <a:spcPts val="2149"/>
                  </a:lnSpc>
                </a:pPr>
              </a:p>
            </p:txBody>
          </p:sp>
        </p:grpSp>
        <p:sp>
          <p:nvSpPr>
            <p:cNvPr name="Freeform 44" id="44"/>
            <p:cNvSpPr/>
            <p:nvPr/>
          </p:nvSpPr>
          <p:spPr>
            <a:xfrm flipH="false" flipV="false" rot="0">
              <a:off x="230277" y="263870"/>
              <a:ext cx="543425" cy="476238"/>
            </a:xfrm>
            <a:custGeom>
              <a:avLst/>
              <a:gdLst/>
              <a:ahLst/>
              <a:cxnLst/>
              <a:rect r="r" b="b" t="t" l="l"/>
              <a:pathLst>
                <a:path h="476238" w="543425">
                  <a:moveTo>
                    <a:pt x="0" y="0"/>
                  </a:moveTo>
                  <a:lnTo>
                    <a:pt x="543424" y="0"/>
                  </a:lnTo>
                  <a:lnTo>
                    <a:pt x="543424" y="476238"/>
                  </a:lnTo>
                  <a:lnTo>
                    <a:pt x="0" y="4762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45" id="45"/>
          <p:cNvGrpSpPr/>
          <p:nvPr/>
        </p:nvGrpSpPr>
        <p:grpSpPr>
          <a:xfrm rot="0">
            <a:off x="8484445" y="1303542"/>
            <a:ext cx="659555" cy="659555"/>
            <a:chOff x="0" y="0"/>
            <a:chExt cx="879407" cy="879407"/>
          </a:xfrm>
        </p:grpSpPr>
        <p:grpSp>
          <p:nvGrpSpPr>
            <p:cNvPr name="Group 46" id="46"/>
            <p:cNvGrpSpPr/>
            <p:nvPr/>
          </p:nvGrpSpPr>
          <p:grpSpPr>
            <a:xfrm rot="0">
              <a:off x="0" y="0"/>
              <a:ext cx="879407" cy="879407"/>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48" id="48"/>
              <p:cNvSpPr txBox="true"/>
              <p:nvPr/>
            </p:nvSpPr>
            <p:spPr>
              <a:xfrm>
                <a:off x="76200" y="57150"/>
                <a:ext cx="660400" cy="679450"/>
              </a:xfrm>
              <a:prstGeom prst="rect">
                <a:avLst/>
              </a:prstGeom>
            </p:spPr>
            <p:txBody>
              <a:bodyPr anchor="ctr" rtlCol="false" tIns="29143" lIns="29143" bIns="29143" rIns="29143"/>
              <a:lstStyle/>
              <a:p>
                <a:pPr algn="ctr">
                  <a:lnSpc>
                    <a:spcPts val="1309"/>
                  </a:lnSpc>
                </a:pPr>
              </a:p>
            </p:txBody>
          </p:sp>
        </p:grpSp>
        <p:sp>
          <p:nvSpPr>
            <p:cNvPr name="Freeform 49" id="49"/>
            <p:cNvSpPr/>
            <p:nvPr/>
          </p:nvSpPr>
          <p:spPr>
            <a:xfrm flipH="false" flipV="false" rot="0">
              <a:off x="207955" y="231130"/>
              <a:ext cx="463497" cy="417147"/>
            </a:xfrm>
            <a:custGeom>
              <a:avLst/>
              <a:gdLst/>
              <a:ahLst/>
              <a:cxnLst/>
              <a:rect r="r" b="b" t="t" l="l"/>
              <a:pathLst>
                <a:path h="417147" w="463497">
                  <a:moveTo>
                    <a:pt x="0" y="0"/>
                  </a:moveTo>
                  <a:lnTo>
                    <a:pt x="463497" y="0"/>
                  </a:lnTo>
                  <a:lnTo>
                    <a:pt x="463497" y="417147"/>
                  </a:lnTo>
                  <a:lnTo>
                    <a:pt x="0" y="4171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50" id="50"/>
          <p:cNvGrpSpPr/>
          <p:nvPr/>
        </p:nvGrpSpPr>
        <p:grpSpPr>
          <a:xfrm rot="0">
            <a:off x="11539534" y="1303542"/>
            <a:ext cx="676783" cy="676783"/>
            <a:chOff x="0" y="0"/>
            <a:chExt cx="902378" cy="902378"/>
          </a:xfrm>
        </p:grpSpPr>
        <p:grpSp>
          <p:nvGrpSpPr>
            <p:cNvPr name="Group 51" id="51"/>
            <p:cNvGrpSpPr/>
            <p:nvPr/>
          </p:nvGrpSpPr>
          <p:grpSpPr>
            <a:xfrm rot="0">
              <a:off x="0" y="0"/>
              <a:ext cx="902378" cy="902378"/>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53" id="53"/>
              <p:cNvSpPr txBox="true"/>
              <p:nvPr/>
            </p:nvSpPr>
            <p:spPr>
              <a:xfrm>
                <a:off x="76200" y="57150"/>
                <a:ext cx="660400" cy="679450"/>
              </a:xfrm>
              <a:prstGeom prst="rect">
                <a:avLst/>
              </a:prstGeom>
            </p:spPr>
            <p:txBody>
              <a:bodyPr anchor="ctr" rtlCol="false" tIns="29143" lIns="29143" bIns="29143" rIns="29143"/>
              <a:lstStyle/>
              <a:p>
                <a:pPr algn="ctr">
                  <a:lnSpc>
                    <a:spcPts val="1309"/>
                  </a:lnSpc>
                </a:pPr>
              </a:p>
            </p:txBody>
          </p:sp>
        </p:grpSp>
        <p:sp>
          <p:nvSpPr>
            <p:cNvPr name="Freeform 54" id="54"/>
            <p:cNvSpPr/>
            <p:nvPr/>
          </p:nvSpPr>
          <p:spPr>
            <a:xfrm flipH="false" flipV="false" rot="0">
              <a:off x="219489" y="221976"/>
              <a:ext cx="477527" cy="458426"/>
            </a:xfrm>
            <a:custGeom>
              <a:avLst/>
              <a:gdLst/>
              <a:ahLst/>
              <a:cxnLst/>
              <a:rect r="r" b="b" t="t" l="l"/>
              <a:pathLst>
                <a:path h="458426" w="477527">
                  <a:moveTo>
                    <a:pt x="0" y="0"/>
                  </a:moveTo>
                  <a:lnTo>
                    <a:pt x="477527" y="0"/>
                  </a:lnTo>
                  <a:lnTo>
                    <a:pt x="477527" y="458426"/>
                  </a:lnTo>
                  <a:lnTo>
                    <a:pt x="0" y="4584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grpSp>
      <p:grpSp>
        <p:nvGrpSpPr>
          <p:cNvPr name="Group 55" id="55"/>
          <p:cNvGrpSpPr/>
          <p:nvPr/>
        </p:nvGrpSpPr>
        <p:grpSpPr>
          <a:xfrm rot="0">
            <a:off x="11767906" y="4814159"/>
            <a:ext cx="711754" cy="711754"/>
            <a:chOff x="0" y="0"/>
            <a:chExt cx="949005" cy="949005"/>
          </a:xfrm>
        </p:grpSpPr>
        <p:grpSp>
          <p:nvGrpSpPr>
            <p:cNvPr name="Group 56" id="56"/>
            <p:cNvGrpSpPr/>
            <p:nvPr/>
          </p:nvGrpSpPr>
          <p:grpSpPr>
            <a:xfrm rot="0">
              <a:off x="0" y="0"/>
              <a:ext cx="949005" cy="949005"/>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58" id="58"/>
              <p:cNvSpPr txBox="true"/>
              <p:nvPr/>
            </p:nvSpPr>
            <p:spPr>
              <a:xfrm>
                <a:off x="76200" y="57150"/>
                <a:ext cx="660400" cy="679450"/>
              </a:xfrm>
              <a:prstGeom prst="rect">
                <a:avLst/>
              </a:prstGeom>
            </p:spPr>
            <p:txBody>
              <a:bodyPr anchor="ctr" rtlCol="false" tIns="29143" lIns="29143" bIns="29143" rIns="29143"/>
              <a:lstStyle/>
              <a:p>
                <a:pPr algn="ctr">
                  <a:lnSpc>
                    <a:spcPts val="1309"/>
                  </a:lnSpc>
                </a:pPr>
              </a:p>
            </p:txBody>
          </p:sp>
        </p:grpSp>
        <p:sp>
          <p:nvSpPr>
            <p:cNvPr name="Freeform 59" id="59"/>
            <p:cNvSpPr/>
            <p:nvPr/>
          </p:nvSpPr>
          <p:spPr>
            <a:xfrm flipH="false" flipV="false" rot="0">
              <a:off x="169266" y="148092"/>
              <a:ext cx="608189" cy="566169"/>
            </a:xfrm>
            <a:custGeom>
              <a:avLst/>
              <a:gdLst/>
              <a:ahLst/>
              <a:cxnLst/>
              <a:rect r="r" b="b" t="t" l="l"/>
              <a:pathLst>
                <a:path h="566169" w="608189">
                  <a:moveTo>
                    <a:pt x="0" y="0"/>
                  </a:moveTo>
                  <a:lnTo>
                    <a:pt x="608189" y="0"/>
                  </a:lnTo>
                  <a:lnTo>
                    <a:pt x="608189" y="566169"/>
                  </a:lnTo>
                  <a:lnTo>
                    <a:pt x="0" y="56616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grpSp>
      <p:grpSp>
        <p:nvGrpSpPr>
          <p:cNvPr name="Group 60" id="60"/>
          <p:cNvGrpSpPr/>
          <p:nvPr/>
        </p:nvGrpSpPr>
        <p:grpSpPr>
          <a:xfrm rot="0">
            <a:off x="12216317" y="7807862"/>
            <a:ext cx="742986" cy="742986"/>
            <a:chOff x="0" y="0"/>
            <a:chExt cx="990648" cy="990648"/>
          </a:xfrm>
        </p:grpSpPr>
        <p:grpSp>
          <p:nvGrpSpPr>
            <p:cNvPr name="Group 61" id="61"/>
            <p:cNvGrpSpPr/>
            <p:nvPr/>
          </p:nvGrpSpPr>
          <p:grpSpPr>
            <a:xfrm rot="0">
              <a:off x="0" y="0"/>
              <a:ext cx="990648" cy="990648"/>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63" id="63"/>
              <p:cNvSpPr txBox="true"/>
              <p:nvPr/>
            </p:nvSpPr>
            <p:spPr>
              <a:xfrm>
                <a:off x="76200" y="57150"/>
                <a:ext cx="660400" cy="679450"/>
              </a:xfrm>
              <a:prstGeom prst="rect">
                <a:avLst/>
              </a:prstGeom>
            </p:spPr>
            <p:txBody>
              <a:bodyPr anchor="ctr" rtlCol="false" tIns="29143" lIns="29143" bIns="29143" rIns="29143"/>
              <a:lstStyle/>
              <a:p>
                <a:pPr algn="ctr">
                  <a:lnSpc>
                    <a:spcPts val="1309"/>
                  </a:lnSpc>
                </a:pPr>
              </a:p>
            </p:txBody>
          </p:sp>
        </p:grpSp>
        <p:sp>
          <p:nvSpPr>
            <p:cNvPr name="Freeform 64" id="64"/>
            <p:cNvSpPr/>
            <p:nvPr/>
          </p:nvSpPr>
          <p:spPr>
            <a:xfrm flipH="false" flipV="false" rot="0">
              <a:off x="245977" y="209244"/>
              <a:ext cx="498694" cy="634912"/>
            </a:xfrm>
            <a:custGeom>
              <a:avLst/>
              <a:gdLst/>
              <a:ahLst/>
              <a:cxnLst/>
              <a:rect r="r" b="b" t="t" l="l"/>
              <a:pathLst>
                <a:path h="634912" w="498694">
                  <a:moveTo>
                    <a:pt x="0" y="0"/>
                  </a:moveTo>
                  <a:lnTo>
                    <a:pt x="498694" y="0"/>
                  </a:lnTo>
                  <a:lnTo>
                    <a:pt x="498694" y="634912"/>
                  </a:lnTo>
                  <a:lnTo>
                    <a:pt x="0" y="63491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grpSp>
      <p:grpSp>
        <p:nvGrpSpPr>
          <p:cNvPr name="Group 65" id="65"/>
          <p:cNvGrpSpPr/>
          <p:nvPr/>
        </p:nvGrpSpPr>
        <p:grpSpPr>
          <a:xfrm rot="0">
            <a:off x="15965945" y="1507152"/>
            <a:ext cx="694944" cy="694944"/>
            <a:chOff x="0" y="0"/>
            <a:chExt cx="926593" cy="926593"/>
          </a:xfrm>
        </p:grpSpPr>
        <p:grpSp>
          <p:nvGrpSpPr>
            <p:cNvPr name="Group 66" id="66"/>
            <p:cNvGrpSpPr/>
            <p:nvPr/>
          </p:nvGrpSpPr>
          <p:grpSpPr>
            <a:xfrm rot="0">
              <a:off x="0" y="0"/>
              <a:ext cx="926593" cy="926593"/>
              <a:chOff x="0" y="0"/>
              <a:chExt cx="812800" cy="812800"/>
            </a:xfrm>
          </p:grpSpPr>
          <p:sp>
            <p:nvSpPr>
              <p:cNvPr name="Freeform 67" id="6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68" id="68"/>
              <p:cNvSpPr txBox="true"/>
              <p:nvPr/>
            </p:nvSpPr>
            <p:spPr>
              <a:xfrm>
                <a:off x="76200" y="57150"/>
                <a:ext cx="660400" cy="679450"/>
              </a:xfrm>
              <a:prstGeom prst="rect">
                <a:avLst/>
              </a:prstGeom>
            </p:spPr>
            <p:txBody>
              <a:bodyPr anchor="ctr" rtlCol="false" tIns="29143" lIns="29143" bIns="29143" rIns="29143"/>
              <a:lstStyle/>
              <a:p>
                <a:pPr algn="ctr">
                  <a:lnSpc>
                    <a:spcPts val="1309"/>
                  </a:lnSpc>
                </a:pPr>
              </a:p>
            </p:txBody>
          </p:sp>
        </p:grpSp>
        <p:sp>
          <p:nvSpPr>
            <p:cNvPr name="Freeform 69" id="69"/>
            <p:cNvSpPr/>
            <p:nvPr/>
          </p:nvSpPr>
          <p:spPr>
            <a:xfrm flipH="false" flipV="false" rot="0">
              <a:off x="197503" y="175638"/>
              <a:ext cx="531587" cy="507424"/>
            </a:xfrm>
            <a:custGeom>
              <a:avLst/>
              <a:gdLst/>
              <a:ahLst/>
              <a:cxnLst/>
              <a:rect r="r" b="b" t="t" l="l"/>
              <a:pathLst>
                <a:path h="507424" w="531587">
                  <a:moveTo>
                    <a:pt x="0" y="0"/>
                  </a:moveTo>
                  <a:lnTo>
                    <a:pt x="531587" y="0"/>
                  </a:lnTo>
                  <a:lnTo>
                    <a:pt x="531587" y="507423"/>
                  </a:lnTo>
                  <a:lnTo>
                    <a:pt x="0" y="5074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grpSp>
      <p:grpSp>
        <p:nvGrpSpPr>
          <p:cNvPr name="Group 70" id="70"/>
          <p:cNvGrpSpPr/>
          <p:nvPr/>
        </p:nvGrpSpPr>
        <p:grpSpPr>
          <a:xfrm rot="0">
            <a:off x="4152954" y="7772116"/>
            <a:ext cx="778732" cy="778732"/>
            <a:chOff x="0" y="0"/>
            <a:chExt cx="1038309" cy="1038309"/>
          </a:xfrm>
        </p:grpSpPr>
        <p:grpSp>
          <p:nvGrpSpPr>
            <p:cNvPr name="Group 71" id="71"/>
            <p:cNvGrpSpPr/>
            <p:nvPr/>
          </p:nvGrpSpPr>
          <p:grpSpPr>
            <a:xfrm rot="0">
              <a:off x="0" y="0"/>
              <a:ext cx="1038309" cy="1038309"/>
              <a:chOff x="0" y="0"/>
              <a:chExt cx="812800" cy="812800"/>
            </a:xfrm>
          </p:grpSpPr>
          <p:sp>
            <p:nvSpPr>
              <p:cNvPr name="Freeform 72" id="7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73" id="73"/>
              <p:cNvSpPr txBox="true"/>
              <p:nvPr/>
            </p:nvSpPr>
            <p:spPr>
              <a:xfrm>
                <a:off x="76200" y="57150"/>
                <a:ext cx="660400" cy="679450"/>
              </a:xfrm>
              <a:prstGeom prst="rect">
                <a:avLst/>
              </a:prstGeom>
            </p:spPr>
            <p:txBody>
              <a:bodyPr anchor="ctr" rtlCol="false" tIns="29143" lIns="29143" bIns="29143" rIns="29143"/>
              <a:lstStyle/>
              <a:p>
                <a:pPr algn="ctr">
                  <a:lnSpc>
                    <a:spcPts val="1309"/>
                  </a:lnSpc>
                </a:pPr>
              </a:p>
            </p:txBody>
          </p:sp>
        </p:grpSp>
        <p:sp>
          <p:nvSpPr>
            <p:cNvPr name="Freeform 74" id="74"/>
            <p:cNvSpPr/>
            <p:nvPr/>
          </p:nvSpPr>
          <p:spPr>
            <a:xfrm flipH="false" flipV="false" rot="0">
              <a:off x="291242" y="219311"/>
              <a:ext cx="455824" cy="571078"/>
            </a:xfrm>
            <a:custGeom>
              <a:avLst/>
              <a:gdLst/>
              <a:ahLst/>
              <a:cxnLst/>
              <a:rect r="r" b="b" t="t" l="l"/>
              <a:pathLst>
                <a:path h="571078" w="455824">
                  <a:moveTo>
                    <a:pt x="0" y="0"/>
                  </a:moveTo>
                  <a:lnTo>
                    <a:pt x="455825" y="0"/>
                  </a:lnTo>
                  <a:lnTo>
                    <a:pt x="455825" y="571078"/>
                  </a:lnTo>
                  <a:lnTo>
                    <a:pt x="0" y="57107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a:ln cap="sq">
              <a:noFill/>
              <a:prstDash val="solid"/>
              <a:miter/>
            </a:ln>
          </p:spPr>
        </p:sp>
      </p:grpSp>
      <p:grpSp>
        <p:nvGrpSpPr>
          <p:cNvPr name="Group 75" id="75"/>
          <p:cNvGrpSpPr/>
          <p:nvPr/>
        </p:nvGrpSpPr>
        <p:grpSpPr>
          <a:xfrm rot="0">
            <a:off x="4714060" y="4590304"/>
            <a:ext cx="716991" cy="716991"/>
            <a:chOff x="0" y="0"/>
            <a:chExt cx="955988" cy="955988"/>
          </a:xfrm>
        </p:grpSpPr>
        <p:grpSp>
          <p:nvGrpSpPr>
            <p:cNvPr name="Group 76" id="76"/>
            <p:cNvGrpSpPr/>
            <p:nvPr/>
          </p:nvGrpSpPr>
          <p:grpSpPr>
            <a:xfrm rot="0">
              <a:off x="0" y="0"/>
              <a:ext cx="955988" cy="955988"/>
              <a:chOff x="0" y="0"/>
              <a:chExt cx="812800" cy="812800"/>
            </a:xfrm>
          </p:grpSpPr>
          <p:sp>
            <p:nvSpPr>
              <p:cNvPr name="Freeform 77" id="7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78" id="78"/>
              <p:cNvSpPr txBox="true"/>
              <p:nvPr/>
            </p:nvSpPr>
            <p:spPr>
              <a:xfrm>
                <a:off x="76200" y="57150"/>
                <a:ext cx="660400" cy="679450"/>
              </a:xfrm>
              <a:prstGeom prst="rect">
                <a:avLst/>
              </a:prstGeom>
            </p:spPr>
            <p:txBody>
              <a:bodyPr anchor="ctr" rtlCol="false" tIns="29143" lIns="29143" bIns="29143" rIns="29143"/>
              <a:lstStyle/>
              <a:p>
                <a:pPr algn="ctr">
                  <a:lnSpc>
                    <a:spcPts val="1309"/>
                  </a:lnSpc>
                </a:pPr>
              </a:p>
            </p:txBody>
          </p:sp>
        </p:grpSp>
        <p:sp>
          <p:nvSpPr>
            <p:cNvPr name="Freeform 79" id="79"/>
            <p:cNvSpPr/>
            <p:nvPr/>
          </p:nvSpPr>
          <p:spPr>
            <a:xfrm flipH="false" flipV="false" rot="0">
              <a:off x="270727" y="195996"/>
              <a:ext cx="454035" cy="523521"/>
            </a:xfrm>
            <a:custGeom>
              <a:avLst/>
              <a:gdLst/>
              <a:ahLst/>
              <a:cxnLst/>
              <a:rect r="r" b="b" t="t" l="l"/>
              <a:pathLst>
                <a:path h="523521" w="454035">
                  <a:moveTo>
                    <a:pt x="0" y="0"/>
                  </a:moveTo>
                  <a:lnTo>
                    <a:pt x="454035" y="0"/>
                  </a:lnTo>
                  <a:lnTo>
                    <a:pt x="454035" y="523521"/>
                  </a:lnTo>
                  <a:lnTo>
                    <a:pt x="0" y="52352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a:ln cap="sq">
              <a:noFill/>
              <a:prstDash val="solid"/>
              <a:miter/>
            </a:ln>
          </p:spPr>
        </p:sp>
      </p:grpSp>
      <p:grpSp>
        <p:nvGrpSpPr>
          <p:cNvPr name="Group 80" id="80"/>
          <p:cNvGrpSpPr/>
          <p:nvPr/>
        </p:nvGrpSpPr>
        <p:grpSpPr>
          <a:xfrm rot="0">
            <a:off x="4827222" y="1297870"/>
            <a:ext cx="688127" cy="688127"/>
            <a:chOff x="0" y="0"/>
            <a:chExt cx="917503" cy="917503"/>
          </a:xfrm>
        </p:grpSpPr>
        <p:grpSp>
          <p:nvGrpSpPr>
            <p:cNvPr name="Group 81" id="81"/>
            <p:cNvGrpSpPr/>
            <p:nvPr/>
          </p:nvGrpSpPr>
          <p:grpSpPr>
            <a:xfrm rot="0">
              <a:off x="0" y="0"/>
              <a:ext cx="917503" cy="917503"/>
              <a:chOff x="0" y="0"/>
              <a:chExt cx="812800" cy="812800"/>
            </a:xfrm>
          </p:grpSpPr>
          <p:sp>
            <p:nvSpPr>
              <p:cNvPr name="Freeform 82" id="8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2664"/>
              </a:solidFill>
            </p:spPr>
          </p:sp>
          <p:sp>
            <p:nvSpPr>
              <p:cNvPr name="TextBox 83" id="83"/>
              <p:cNvSpPr txBox="true"/>
              <p:nvPr/>
            </p:nvSpPr>
            <p:spPr>
              <a:xfrm>
                <a:off x="76200" y="57150"/>
                <a:ext cx="660400" cy="679450"/>
              </a:xfrm>
              <a:prstGeom prst="rect">
                <a:avLst/>
              </a:prstGeom>
            </p:spPr>
            <p:txBody>
              <a:bodyPr anchor="ctr" rtlCol="false" tIns="29143" lIns="29143" bIns="29143" rIns="29143"/>
              <a:lstStyle/>
              <a:p>
                <a:pPr algn="ctr">
                  <a:lnSpc>
                    <a:spcPts val="1309"/>
                  </a:lnSpc>
                </a:pPr>
              </a:p>
            </p:txBody>
          </p:sp>
        </p:grpSp>
        <p:sp>
          <p:nvSpPr>
            <p:cNvPr name="Freeform 84" id="84"/>
            <p:cNvSpPr/>
            <p:nvPr/>
          </p:nvSpPr>
          <p:spPr>
            <a:xfrm flipH="false" flipV="false" rot="0">
              <a:off x="235143" y="181357"/>
              <a:ext cx="445010" cy="487561"/>
            </a:xfrm>
            <a:custGeom>
              <a:avLst/>
              <a:gdLst/>
              <a:ahLst/>
              <a:cxnLst/>
              <a:rect r="r" b="b" t="t" l="l"/>
              <a:pathLst>
                <a:path h="487561" w="445010">
                  <a:moveTo>
                    <a:pt x="0" y="0"/>
                  </a:moveTo>
                  <a:lnTo>
                    <a:pt x="445010" y="0"/>
                  </a:lnTo>
                  <a:lnTo>
                    <a:pt x="445010" y="487561"/>
                  </a:lnTo>
                  <a:lnTo>
                    <a:pt x="0" y="48756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a:ln cap="sq">
              <a:noFill/>
              <a:prstDash val="solid"/>
              <a:miter/>
            </a:ln>
          </p:spPr>
        </p:sp>
      </p:grpSp>
      <p:sp>
        <p:nvSpPr>
          <p:cNvPr name="TextBox 85" id="85"/>
          <p:cNvSpPr txBox="true"/>
          <p:nvPr/>
        </p:nvSpPr>
        <p:spPr>
          <a:xfrm rot="0">
            <a:off x="671618" y="2858339"/>
            <a:ext cx="2216909" cy="2106229"/>
          </a:xfrm>
          <a:prstGeom prst="rect">
            <a:avLst/>
          </a:prstGeom>
        </p:spPr>
        <p:txBody>
          <a:bodyPr anchor="t" rtlCol="false" tIns="0" lIns="0" bIns="0" rIns="0">
            <a:spAutoFit/>
          </a:bodyPr>
          <a:lstStyle/>
          <a:p>
            <a:pPr algn="l" marL="398227" indent="-199113" lvl="1">
              <a:lnSpc>
                <a:spcPts val="2379"/>
              </a:lnSpc>
              <a:buFont typeface="Arial"/>
              <a:buChar char="•"/>
            </a:pPr>
            <a:r>
              <a:rPr lang="en-US" b="true" sz="1844" i="true">
                <a:solidFill>
                  <a:srgbClr val="577289"/>
                </a:solidFill>
                <a:latin typeface="Montserrat Semi-Bold Italics"/>
                <a:ea typeface="Montserrat Semi-Bold Italics"/>
                <a:cs typeface="Montserrat Semi-Bold Italics"/>
                <a:sym typeface="Montserrat Semi-Bold Italics"/>
              </a:rPr>
              <a:t>Farmacias.</a:t>
            </a:r>
          </a:p>
          <a:p>
            <a:pPr algn="l" marL="398227" indent="-199113" lvl="1">
              <a:lnSpc>
                <a:spcPts val="2379"/>
              </a:lnSpc>
              <a:buFont typeface="Arial"/>
              <a:buChar char="•"/>
            </a:pPr>
            <a:r>
              <a:rPr lang="en-US" b="true" sz="1844" i="true">
                <a:solidFill>
                  <a:srgbClr val="577289"/>
                </a:solidFill>
                <a:latin typeface="Montserrat Semi-Bold Italics"/>
                <a:ea typeface="Montserrat Semi-Bold Italics"/>
                <a:cs typeface="Montserrat Semi-Bold Italics"/>
                <a:sym typeface="Montserrat Semi-Bold Italics"/>
              </a:rPr>
              <a:t>Proveedores de datos y APIs.</a:t>
            </a:r>
          </a:p>
          <a:p>
            <a:pPr algn="l" marL="398227" indent="-199113" lvl="1">
              <a:lnSpc>
                <a:spcPts val="2379"/>
              </a:lnSpc>
              <a:buFont typeface="Arial"/>
              <a:buChar char="•"/>
            </a:pPr>
            <a:r>
              <a:rPr lang="en-US" b="true" sz="1844" i="true">
                <a:solidFill>
                  <a:srgbClr val="577289"/>
                </a:solidFill>
                <a:latin typeface="Montserrat Semi-Bold Italics"/>
                <a:ea typeface="Montserrat Semi-Bold Italics"/>
                <a:cs typeface="Montserrat Semi-Bold Italics"/>
                <a:sym typeface="Montserrat Semi-Bold Italics"/>
              </a:rPr>
              <a:t>Servicios de alojamiento web.</a:t>
            </a:r>
          </a:p>
        </p:txBody>
      </p:sp>
      <p:sp>
        <p:nvSpPr>
          <p:cNvPr name="TextBox 86" id="86"/>
          <p:cNvSpPr txBox="true"/>
          <p:nvPr/>
        </p:nvSpPr>
        <p:spPr>
          <a:xfrm rot="0">
            <a:off x="7707623" y="3079729"/>
            <a:ext cx="2354377" cy="3285961"/>
          </a:xfrm>
          <a:prstGeom prst="rect">
            <a:avLst/>
          </a:prstGeom>
        </p:spPr>
        <p:txBody>
          <a:bodyPr anchor="t" rtlCol="false" tIns="0" lIns="0" bIns="0" rIns="0">
            <a:spAutoFit/>
          </a:bodyPr>
          <a:lstStyle/>
          <a:p>
            <a:pPr algn="ctr">
              <a:lnSpc>
                <a:spcPts val="2385"/>
              </a:lnSpc>
            </a:pPr>
            <a:r>
              <a:rPr lang="en-US" b="true" sz="1849" i="true">
                <a:solidFill>
                  <a:srgbClr val="577289"/>
                </a:solidFill>
                <a:latin typeface="Montserrat Semi-Bold Italics"/>
                <a:ea typeface="Montserrat Semi-Bold Italics"/>
                <a:cs typeface="Montserrat Semi-Bold Italics"/>
                <a:sym typeface="Montserrat Semi-Bold Italics"/>
              </a:rPr>
              <a:t>Comparar precios y disponibilidad de medicamentos en distintas farmacias, incorporando geolocalización y alertas por correo cuando los precios disminuyan.</a:t>
            </a:r>
          </a:p>
          <a:p>
            <a:pPr algn="ctr" marL="0" indent="0" lvl="1">
              <a:lnSpc>
                <a:spcPts val="2385"/>
              </a:lnSpc>
              <a:spcBef>
                <a:spcPct val="0"/>
              </a:spcBef>
            </a:pPr>
          </a:p>
        </p:txBody>
      </p:sp>
      <p:sp>
        <p:nvSpPr>
          <p:cNvPr name="TextBox 87" id="87"/>
          <p:cNvSpPr txBox="true"/>
          <p:nvPr/>
        </p:nvSpPr>
        <p:spPr>
          <a:xfrm rot="0">
            <a:off x="3243062" y="5758315"/>
            <a:ext cx="3856448" cy="1769231"/>
          </a:xfrm>
          <a:prstGeom prst="rect">
            <a:avLst/>
          </a:prstGeom>
        </p:spPr>
        <p:txBody>
          <a:bodyPr anchor="t" rtlCol="false" tIns="0" lIns="0" bIns="0" rIns="0">
            <a:spAutoFit/>
          </a:bodyPr>
          <a:lstStyle/>
          <a:p>
            <a:pPr algn="l" marL="399393" indent="-199696" lvl="1">
              <a:lnSpc>
                <a:spcPts val="2386"/>
              </a:lnSpc>
              <a:buFont typeface="Arial"/>
              <a:buChar char="•"/>
            </a:pPr>
            <a:r>
              <a:rPr lang="en-US" b="true" sz="1849" i="true">
                <a:solidFill>
                  <a:srgbClr val="577289"/>
                </a:solidFill>
                <a:latin typeface="Montserrat Semi-Bold Italics"/>
                <a:ea typeface="Montserrat Semi-Bold Italics"/>
                <a:cs typeface="Montserrat Semi-Bold Italics"/>
                <a:sym typeface="Montserrat Semi-Bold Italics"/>
              </a:rPr>
              <a:t>Base de datos de medicamentos.</a:t>
            </a:r>
          </a:p>
          <a:p>
            <a:pPr algn="l" marL="399393" indent="-199696" lvl="1">
              <a:lnSpc>
                <a:spcPts val="2386"/>
              </a:lnSpc>
              <a:buFont typeface="Arial"/>
              <a:buChar char="•"/>
            </a:pPr>
            <a:r>
              <a:rPr lang="en-US" b="true" sz="1849" i="true">
                <a:solidFill>
                  <a:srgbClr val="577289"/>
                </a:solidFill>
                <a:latin typeface="Montserrat Semi-Bold Italics"/>
                <a:ea typeface="Montserrat Semi-Bold Italics"/>
                <a:cs typeface="Montserrat Semi-Bold Italics"/>
                <a:sym typeface="Montserrat Semi-Bold Italics"/>
              </a:rPr>
              <a:t>APIs y fuentes de información.</a:t>
            </a:r>
          </a:p>
          <a:p>
            <a:pPr algn="l" marL="399393" indent="-199696" lvl="1">
              <a:lnSpc>
                <a:spcPts val="2386"/>
              </a:lnSpc>
              <a:buFont typeface="Arial"/>
              <a:buChar char="•"/>
            </a:pPr>
            <a:r>
              <a:rPr lang="en-US" b="true" sz="1849" i="true">
                <a:solidFill>
                  <a:srgbClr val="577289"/>
                </a:solidFill>
                <a:latin typeface="Montserrat Semi-Bold Italics"/>
                <a:ea typeface="Montserrat Semi-Bold Italics"/>
                <a:cs typeface="Montserrat Semi-Bold Italics"/>
                <a:sym typeface="Montserrat Semi-Bold Italics"/>
              </a:rPr>
              <a:t>Plataforma web.</a:t>
            </a:r>
          </a:p>
          <a:p>
            <a:pPr algn="l" marL="399393" indent="-199696" lvl="1">
              <a:lnSpc>
                <a:spcPts val="2386"/>
              </a:lnSpc>
              <a:buFont typeface="Arial"/>
              <a:buChar char="•"/>
            </a:pPr>
            <a:r>
              <a:rPr lang="en-US" b="true" sz="1849" i="true">
                <a:solidFill>
                  <a:srgbClr val="577289"/>
                </a:solidFill>
                <a:latin typeface="Montserrat Semi-Bold Italics"/>
                <a:ea typeface="Montserrat Semi-Bold Italics"/>
                <a:cs typeface="Montserrat Semi-Bold Italics"/>
                <a:sym typeface="Montserrat Semi-Bold Italics"/>
              </a:rPr>
              <a:t>Infraestructura tecnológica.</a:t>
            </a:r>
          </a:p>
        </p:txBody>
      </p:sp>
      <p:sp>
        <p:nvSpPr>
          <p:cNvPr name="TextBox 88" id="88"/>
          <p:cNvSpPr txBox="true"/>
          <p:nvPr/>
        </p:nvSpPr>
        <p:spPr>
          <a:xfrm rot="0">
            <a:off x="14505393" y="3268393"/>
            <a:ext cx="3232777" cy="2360458"/>
          </a:xfrm>
          <a:prstGeom prst="rect">
            <a:avLst/>
          </a:prstGeom>
        </p:spPr>
        <p:txBody>
          <a:bodyPr anchor="t" rtlCol="false" tIns="0" lIns="0" bIns="0" rIns="0">
            <a:spAutoFit/>
          </a:bodyPr>
          <a:lstStyle/>
          <a:p>
            <a:pPr algn="l" marL="392741" indent="-196370" lvl="1">
              <a:lnSpc>
                <a:spcPts val="2346"/>
              </a:lnSpc>
              <a:buFont typeface="Arial"/>
              <a:buChar char="•"/>
            </a:pPr>
            <a:r>
              <a:rPr lang="en-US" b="true" sz="1819" i="true">
                <a:solidFill>
                  <a:srgbClr val="577289"/>
                </a:solidFill>
                <a:latin typeface="Montserrat Semi-Bold Italics"/>
                <a:ea typeface="Montserrat Semi-Bold Italics"/>
                <a:cs typeface="Montserrat Semi-Bold Italics"/>
                <a:sym typeface="Montserrat Semi-Bold Italics"/>
              </a:rPr>
              <a:t>Personas que buscan medicamentos a menor precio y en un lugar cercano a ellos.</a:t>
            </a:r>
          </a:p>
          <a:p>
            <a:pPr algn="l" marL="392741" indent="-196370" lvl="1">
              <a:lnSpc>
                <a:spcPts val="2346"/>
              </a:lnSpc>
              <a:buFont typeface="Arial"/>
              <a:buChar char="•"/>
            </a:pPr>
            <a:r>
              <a:rPr lang="en-US" b="true" sz="1819" i="true">
                <a:solidFill>
                  <a:srgbClr val="577289"/>
                </a:solidFill>
                <a:latin typeface="Montserrat Semi-Bold Italics"/>
                <a:ea typeface="Montserrat Semi-Bold Italics"/>
                <a:cs typeface="Montserrat Semi-Bold Italics"/>
                <a:sym typeface="Montserrat Semi-Bold Italics"/>
              </a:rPr>
              <a:t>Personas que necesitan conocer la disponibilidad de un medicamento.</a:t>
            </a:r>
          </a:p>
        </p:txBody>
      </p:sp>
      <p:sp>
        <p:nvSpPr>
          <p:cNvPr name="TextBox 89" id="89"/>
          <p:cNvSpPr txBox="true"/>
          <p:nvPr/>
        </p:nvSpPr>
        <p:spPr>
          <a:xfrm rot="0">
            <a:off x="3203243" y="2443095"/>
            <a:ext cx="4250060" cy="1998735"/>
          </a:xfrm>
          <a:prstGeom prst="rect">
            <a:avLst/>
          </a:prstGeom>
        </p:spPr>
        <p:txBody>
          <a:bodyPr anchor="t" rtlCol="false" tIns="0" lIns="0" bIns="0" rIns="0">
            <a:spAutoFit/>
          </a:bodyPr>
          <a:lstStyle/>
          <a:p>
            <a:pPr algn="l" marL="388450" indent="-194225" lvl="1">
              <a:lnSpc>
                <a:spcPts val="2320"/>
              </a:lnSpc>
              <a:buFont typeface="Arial"/>
              <a:buChar char="•"/>
            </a:pPr>
            <a:r>
              <a:rPr lang="en-US" b="true" sz="1799" i="true">
                <a:solidFill>
                  <a:srgbClr val="577289"/>
                </a:solidFill>
                <a:latin typeface="Montserrat Bold Italics"/>
                <a:ea typeface="Montserrat Bold Italics"/>
                <a:cs typeface="Montserrat Bold Italics"/>
                <a:sym typeface="Montserrat Bold Italics"/>
              </a:rPr>
              <a:t>Recopilación y actualización</a:t>
            </a:r>
          </a:p>
          <a:p>
            <a:pPr algn="l">
              <a:lnSpc>
                <a:spcPts val="2320"/>
              </a:lnSpc>
            </a:pPr>
            <a:r>
              <a:rPr lang="en-US" sz="1799" i="true" b="true">
                <a:solidFill>
                  <a:srgbClr val="577289"/>
                </a:solidFill>
                <a:latin typeface="Montserrat Bold Italics"/>
                <a:ea typeface="Montserrat Bold Italics"/>
                <a:cs typeface="Montserrat Bold Italics"/>
                <a:sym typeface="Montserrat Bold Italics"/>
              </a:rPr>
              <a:t>      </a:t>
            </a:r>
            <a:r>
              <a:rPr lang="en-US" sz="1799" i="true" b="true">
                <a:solidFill>
                  <a:srgbClr val="577289"/>
                </a:solidFill>
                <a:latin typeface="Montserrat Bold Italics"/>
                <a:ea typeface="Montserrat Bold Italics"/>
                <a:cs typeface="Montserrat Bold Italics"/>
                <a:sym typeface="Montserrat Bold Italics"/>
              </a:rPr>
              <a:t>de datos.</a:t>
            </a:r>
          </a:p>
          <a:p>
            <a:pPr algn="l" marL="388450" indent="-194225" lvl="1">
              <a:lnSpc>
                <a:spcPts val="2320"/>
              </a:lnSpc>
              <a:buFont typeface="Arial"/>
              <a:buChar char="•"/>
            </a:pPr>
            <a:r>
              <a:rPr lang="en-US" b="true" sz="1799" i="true">
                <a:solidFill>
                  <a:srgbClr val="577289"/>
                </a:solidFill>
                <a:latin typeface="Montserrat Bold Italics"/>
                <a:ea typeface="Montserrat Bold Italics"/>
                <a:cs typeface="Montserrat Bold Italics"/>
                <a:sym typeface="Montserrat Bold Italics"/>
              </a:rPr>
              <a:t>Comparación de precios.</a:t>
            </a:r>
          </a:p>
          <a:p>
            <a:pPr algn="l" marL="388450" indent="-194225" lvl="1">
              <a:lnSpc>
                <a:spcPts val="2320"/>
              </a:lnSpc>
              <a:buFont typeface="Arial"/>
              <a:buChar char="•"/>
            </a:pPr>
            <a:r>
              <a:rPr lang="en-US" b="true" sz="1799" i="true">
                <a:solidFill>
                  <a:srgbClr val="577289"/>
                </a:solidFill>
                <a:latin typeface="Montserrat Bold Italics"/>
                <a:ea typeface="Montserrat Bold Italics"/>
                <a:cs typeface="Montserrat Bold Italics"/>
                <a:sym typeface="Montserrat Bold Italics"/>
              </a:rPr>
              <a:t>Mantenimiento de la plataforma.</a:t>
            </a:r>
          </a:p>
          <a:p>
            <a:pPr algn="l" marL="388450" indent="-194225" lvl="1">
              <a:lnSpc>
                <a:spcPts val="2320"/>
              </a:lnSpc>
              <a:buFont typeface="Arial"/>
              <a:buChar char="•"/>
            </a:pPr>
            <a:r>
              <a:rPr lang="en-US" b="true" sz="1799" i="true">
                <a:solidFill>
                  <a:srgbClr val="577289"/>
                </a:solidFill>
                <a:latin typeface="Montserrat Bold Italics"/>
                <a:ea typeface="Montserrat Bold Italics"/>
                <a:cs typeface="Montserrat Bold Italics"/>
                <a:sym typeface="Montserrat Bold Italics"/>
              </a:rPr>
              <a:t>Normalización de información.</a:t>
            </a:r>
          </a:p>
          <a:p>
            <a:pPr algn="l" marL="0" indent="0" lvl="1">
              <a:lnSpc>
                <a:spcPts val="2320"/>
              </a:lnSpc>
              <a:spcBef>
                <a:spcPct val="0"/>
              </a:spcBef>
            </a:pPr>
          </a:p>
        </p:txBody>
      </p:sp>
      <p:sp>
        <p:nvSpPr>
          <p:cNvPr name="TextBox 90" id="90"/>
          <p:cNvSpPr txBox="true"/>
          <p:nvPr/>
        </p:nvSpPr>
        <p:spPr>
          <a:xfrm rot="0">
            <a:off x="10359957" y="2763295"/>
            <a:ext cx="3793010" cy="1521418"/>
          </a:xfrm>
          <a:prstGeom prst="rect">
            <a:avLst/>
          </a:prstGeom>
        </p:spPr>
        <p:txBody>
          <a:bodyPr anchor="t" rtlCol="false" tIns="0" lIns="0" bIns="0" rIns="0">
            <a:spAutoFit/>
          </a:bodyPr>
          <a:lstStyle/>
          <a:p>
            <a:pPr algn="l" marL="408606" indent="-204303" lvl="1">
              <a:lnSpc>
                <a:spcPts val="2441"/>
              </a:lnSpc>
              <a:buFont typeface="Arial"/>
              <a:buChar char="•"/>
            </a:pPr>
            <a:r>
              <a:rPr lang="en-US" b="true" sz="1892" i="true">
                <a:solidFill>
                  <a:srgbClr val="577289"/>
                </a:solidFill>
                <a:latin typeface="Montserrat Semi-Bold Italics"/>
                <a:ea typeface="Montserrat Semi-Bold Italics"/>
                <a:cs typeface="Montserrat Semi-Bold Italics"/>
                <a:sym typeface="Montserrat Semi-Bold Italics"/>
              </a:rPr>
              <a:t>Acceso rápido y sencillo a la información.</a:t>
            </a:r>
          </a:p>
          <a:p>
            <a:pPr algn="l" marL="408606" indent="-204303" lvl="1">
              <a:lnSpc>
                <a:spcPts val="2441"/>
              </a:lnSpc>
              <a:buFont typeface="Arial"/>
              <a:buChar char="•"/>
            </a:pPr>
            <a:r>
              <a:rPr lang="en-US" b="true" sz="1892" i="true">
                <a:solidFill>
                  <a:srgbClr val="577289"/>
                </a:solidFill>
                <a:latin typeface="Montserrat Semi-Bold Italics"/>
                <a:ea typeface="Montserrat Semi-Bold Italics"/>
                <a:cs typeface="Montserrat Semi-Bold Italics"/>
                <a:sym typeface="Montserrat Semi-Bold Italics"/>
              </a:rPr>
              <a:t>Atención y soporte a través  de canales digitales.</a:t>
            </a:r>
          </a:p>
        </p:txBody>
      </p:sp>
      <p:sp>
        <p:nvSpPr>
          <p:cNvPr name="TextBox 91" id="91"/>
          <p:cNvSpPr txBox="true"/>
          <p:nvPr/>
        </p:nvSpPr>
        <p:spPr>
          <a:xfrm rot="0">
            <a:off x="671618" y="8833778"/>
            <a:ext cx="7774406" cy="1179434"/>
          </a:xfrm>
          <a:prstGeom prst="rect">
            <a:avLst/>
          </a:prstGeom>
        </p:spPr>
        <p:txBody>
          <a:bodyPr anchor="t" rtlCol="false" tIns="0" lIns="0" bIns="0" rIns="0">
            <a:spAutoFit/>
          </a:bodyPr>
          <a:lstStyle/>
          <a:p>
            <a:pPr algn="l" marL="391297" indent="-195648" lvl="1">
              <a:lnSpc>
                <a:spcPts val="2337"/>
              </a:lnSpc>
              <a:buFont typeface="Arial"/>
              <a:buChar char="•"/>
            </a:pPr>
            <a:r>
              <a:rPr lang="en-US" b="true" sz="1812" i="true">
                <a:solidFill>
                  <a:srgbClr val="577289"/>
                </a:solidFill>
                <a:latin typeface="Montserrat Bold Italics"/>
                <a:ea typeface="Montserrat Bold Italics"/>
                <a:cs typeface="Montserrat Bold Italics"/>
                <a:sym typeface="Montserrat Bold Italics"/>
              </a:rPr>
              <a:t>Desarrollo y mantenimiento.</a:t>
            </a:r>
          </a:p>
          <a:p>
            <a:pPr algn="l" marL="391297" indent="-195648" lvl="1">
              <a:lnSpc>
                <a:spcPts val="2337"/>
              </a:lnSpc>
              <a:buFont typeface="Arial"/>
              <a:buChar char="•"/>
            </a:pPr>
            <a:r>
              <a:rPr lang="en-US" b="true" sz="1812" i="true">
                <a:solidFill>
                  <a:srgbClr val="577289"/>
                </a:solidFill>
                <a:latin typeface="Montserrat Bold Italics"/>
                <a:ea typeface="Montserrat Bold Italics"/>
                <a:cs typeface="Montserrat Bold Italics"/>
                <a:sym typeface="Montserrat Bold Italics"/>
              </a:rPr>
              <a:t>Servidores y alojamiento.</a:t>
            </a:r>
          </a:p>
          <a:p>
            <a:pPr algn="l" marL="391297" indent="-195648" lvl="1">
              <a:lnSpc>
                <a:spcPts val="2337"/>
              </a:lnSpc>
              <a:buFont typeface="Arial"/>
              <a:buChar char="•"/>
            </a:pPr>
            <a:r>
              <a:rPr lang="en-US" b="true" sz="1812" i="true">
                <a:solidFill>
                  <a:srgbClr val="577289"/>
                </a:solidFill>
                <a:latin typeface="Montserrat Bold Italics"/>
                <a:ea typeface="Montserrat Bold Italics"/>
                <a:cs typeface="Montserrat Bold Italics"/>
                <a:sym typeface="Montserrat Bold Italics"/>
              </a:rPr>
              <a:t>APIs o servicios externos.</a:t>
            </a:r>
          </a:p>
          <a:p>
            <a:pPr algn="l" marL="391297" indent="-195648" lvl="1">
              <a:lnSpc>
                <a:spcPts val="2337"/>
              </a:lnSpc>
              <a:buFont typeface="Arial"/>
              <a:buChar char="•"/>
            </a:pPr>
            <a:r>
              <a:rPr lang="en-US" b="true" sz="1812" i="true">
                <a:solidFill>
                  <a:srgbClr val="577289"/>
                </a:solidFill>
                <a:latin typeface="Montserrat Bold Italics"/>
                <a:ea typeface="Montserrat Bold Italics"/>
                <a:cs typeface="Montserrat Bold Italics"/>
                <a:sym typeface="Montserrat Bold Italics"/>
              </a:rPr>
              <a:t>Actualización de datos.</a:t>
            </a:r>
          </a:p>
        </p:txBody>
      </p:sp>
      <p:sp>
        <p:nvSpPr>
          <p:cNvPr name="TextBox 92" id="92"/>
          <p:cNvSpPr txBox="true"/>
          <p:nvPr/>
        </p:nvSpPr>
        <p:spPr>
          <a:xfrm rot="0">
            <a:off x="11015328" y="6115615"/>
            <a:ext cx="2154819" cy="901508"/>
          </a:xfrm>
          <a:prstGeom prst="rect">
            <a:avLst/>
          </a:prstGeom>
        </p:spPr>
        <p:txBody>
          <a:bodyPr anchor="t" rtlCol="false" tIns="0" lIns="0" bIns="0" rIns="0">
            <a:spAutoFit/>
          </a:bodyPr>
          <a:lstStyle/>
          <a:p>
            <a:pPr algn="l" marL="398227" indent="-199113" lvl="1">
              <a:lnSpc>
                <a:spcPts val="2379"/>
              </a:lnSpc>
              <a:buFont typeface="Arial"/>
              <a:buChar char="•"/>
            </a:pPr>
            <a:r>
              <a:rPr lang="en-US" b="true" sz="1844" i="true">
                <a:solidFill>
                  <a:srgbClr val="577289"/>
                </a:solidFill>
                <a:latin typeface="Montserrat Semi-Bold Italics"/>
                <a:ea typeface="Montserrat Semi-Bold Italics"/>
                <a:cs typeface="Montserrat Semi-Bold Italics"/>
                <a:sym typeface="Montserrat Semi-Bold Italics"/>
              </a:rPr>
              <a:t>Página web.</a:t>
            </a:r>
          </a:p>
          <a:p>
            <a:pPr algn="l" marL="398227" indent="-199113" lvl="1">
              <a:lnSpc>
                <a:spcPts val="2379"/>
              </a:lnSpc>
              <a:buFont typeface="Arial"/>
              <a:buChar char="•"/>
            </a:pPr>
            <a:r>
              <a:rPr lang="en-US" b="true" sz="1844" i="true">
                <a:solidFill>
                  <a:srgbClr val="577289"/>
                </a:solidFill>
                <a:latin typeface="Montserrat Semi-Bold Italics"/>
                <a:ea typeface="Montserrat Semi-Bold Italics"/>
                <a:cs typeface="Montserrat Semi-Bold Italics"/>
                <a:sym typeface="Montserrat Semi-Bold Italics"/>
              </a:rPr>
              <a:t>Redes sociales.</a:t>
            </a:r>
          </a:p>
        </p:txBody>
      </p:sp>
      <p:sp>
        <p:nvSpPr>
          <p:cNvPr name="TextBox 93" id="93"/>
          <p:cNvSpPr txBox="true"/>
          <p:nvPr/>
        </p:nvSpPr>
        <p:spPr>
          <a:xfrm rot="0">
            <a:off x="9282548" y="8963768"/>
            <a:ext cx="8132239" cy="600328"/>
          </a:xfrm>
          <a:prstGeom prst="rect">
            <a:avLst/>
          </a:prstGeom>
        </p:spPr>
        <p:txBody>
          <a:bodyPr anchor="t" rtlCol="false" tIns="0" lIns="0" bIns="0" rIns="0">
            <a:spAutoFit/>
          </a:bodyPr>
          <a:lstStyle/>
          <a:p>
            <a:pPr algn="l" marL="398227" indent="-199113" lvl="1">
              <a:lnSpc>
                <a:spcPts val="2379"/>
              </a:lnSpc>
              <a:buFont typeface="Arial"/>
              <a:buChar char="•"/>
            </a:pPr>
            <a:r>
              <a:rPr lang="en-US" b="true" sz="1844" i="true">
                <a:solidFill>
                  <a:srgbClr val="577289"/>
                </a:solidFill>
                <a:latin typeface="Montserrat Bold Italics"/>
                <a:ea typeface="Montserrat Bold Italics"/>
                <a:cs typeface="Montserrat Bold Italics"/>
                <a:sym typeface="Montserrat Bold Italics"/>
              </a:rPr>
              <a:t>Publicidad dentro de la plataforma.</a:t>
            </a:r>
          </a:p>
          <a:p>
            <a:pPr algn="l" marL="398227" indent="-199113" lvl="1">
              <a:lnSpc>
                <a:spcPts val="2379"/>
              </a:lnSpc>
              <a:buFont typeface="Arial"/>
              <a:buChar char="•"/>
            </a:pPr>
            <a:r>
              <a:rPr lang="en-US" b="true" sz="1844" i="true">
                <a:solidFill>
                  <a:srgbClr val="577289"/>
                </a:solidFill>
                <a:latin typeface="Montserrat Bold Italics"/>
                <a:ea typeface="Montserrat Bold Italics"/>
                <a:cs typeface="Montserrat Bold Italics"/>
                <a:sym typeface="Montserrat Bold Italics"/>
              </a:rPr>
              <a:t>Posibles servicios premium a futuro.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1863" y="4603789"/>
            <a:ext cx="2264684" cy="1079422"/>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351749" y="4756996"/>
            <a:ext cx="2734618" cy="773008"/>
          </a:xfrm>
          <a:prstGeom prst="rect">
            <a:avLst/>
          </a:prstGeom>
          <a:solidFill>
            <a:srgbClr val="CFDBFF"/>
          </a:solidFill>
        </p:spPr>
      </p:sp>
      <p:sp>
        <p:nvSpPr>
          <p:cNvPr name="TextBox 6" id="6"/>
          <p:cNvSpPr txBox="true"/>
          <p:nvPr/>
        </p:nvSpPr>
        <p:spPr>
          <a:xfrm rot="0">
            <a:off x="351749" y="4948683"/>
            <a:ext cx="2734618" cy="473937"/>
          </a:xfrm>
          <a:prstGeom prst="rect">
            <a:avLst/>
          </a:prstGeom>
        </p:spPr>
        <p:txBody>
          <a:bodyPr anchor="t" rtlCol="false" tIns="0" lIns="0" bIns="0" rIns="0">
            <a:spAutoFit/>
          </a:bodyPr>
          <a:lstStyle/>
          <a:p>
            <a:pPr algn="ctr">
              <a:lnSpc>
                <a:spcPts val="3163"/>
              </a:lnSpc>
            </a:pPr>
            <a:r>
              <a:rPr lang="en-US" sz="2984">
                <a:solidFill>
                  <a:srgbClr val="1C1B19"/>
                </a:solidFill>
                <a:latin typeface="Gill Sans Condensed"/>
                <a:ea typeface="Gill Sans Condensed"/>
                <a:cs typeface="Gill Sans Condensed"/>
                <a:sym typeface="Gill Sans Condensed"/>
              </a:rPr>
              <a:t>MOCKUP</a:t>
            </a:r>
          </a:p>
        </p:txBody>
      </p:sp>
      <p:pic>
        <p:nvPicPr>
          <p:cNvPr name="Picture 7" id="7"/>
          <p:cNvPicPr>
            <a:picLocks noChangeAspect="true"/>
          </p:cNvPicPr>
          <p:nvPr/>
        </p:nvPicPr>
        <p:blipFill>
          <a:blip r:embed="rId2"/>
          <a:stretch>
            <a:fillRect/>
          </a:stretch>
        </p:blipFill>
        <p:spPr>
          <a:xfrm rot="0">
            <a:off x="545552" y="-1151492"/>
            <a:ext cx="19168789" cy="12706777"/>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1863" y="4603789"/>
            <a:ext cx="2264684" cy="1079422"/>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351749" y="4756996"/>
            <a:ext cx="2734618" cy="773008"/>
          </a:xfrm>
          <a:prstGeom prst="rect">
            <a:avLst/>
          </a:prstGeom>
          <a:solidFill>
            <a:srgbClr val="CFDBFF"/>
          </a:solidFill>
        </p:spPr>
      </p:sp>
      <p:sp>
        <p:nvSpPr>
          <p:cNvPr name="TextBox 6" id="6"/>
          <p:cNvSpPr txBox="true"/>
          <p:nvPr/>
        </p:nvSpPr>
        <p:spPr>
          <a:xfrm rot="0">
            <a:off x="351749" y="4948683"/>
            <a:ext cx="2734618" cy="473937"/>
          </a:xfrm>
          <a:prstGeom prst="rect">
            <a:avLst/>
          </a:prstGeom>
        </p:spPr>
        <p:txBody>
          <a:bodyPr anchor="t" rtlCol="false" tIns="0" lIns="0" bIns="0" rIns="0">
            <a:spAutoFit/>
          </a:bodyPr>
          <a:lstStyle/>
          <a:p>
            <a:pPr algn="ctr">
              <a:lnSpc>
                <a:spcPts val="3163"/>
              </a:lnSpc>
            </a:pPr>
            <a:r>
              <a:rPr lang="en-US" sz="2984">
                <a:solidFill>
                  <a:srgbClr val="1C1B19"/>
                </a:solidFill>
                <a:latin typeface="Gill Sans Condensed"/>
                <a:ea typeface="Gill Sans Condensed"/>
                <a:cs typeface="Gill Sans Condensed"/>
                <a:sym typeface="Gill Sans Condensed"/>
              </a:rPr>
              <a:t>MOCKUP</a:t>
            </a:r>
          </a:p>
        </p:txBody>
      </p:sp>
      <p:pic>
        <p:nvPicPr>
          <p:cNvPr name="Picture 7" id="7"/>
          <p:cNvPicPr>
            <a:picLocks noChangeAspect="true"/>
          </p:cNvPicPr>
          <p:nvPr/>
        </p:nvPicPr>
        <p:blipFill>
          <a:blip r:embed="rId2"/>
          <a:stretch>
            <a:fillRect/>
          </a:stretch>
        </p:blipFill>
        <p:spPr>
          <a:xfrm rot="0">
            <a:off x="545552" y="-1151492"/>
            <a:ext cx="19168789" cy="12706777"/>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51863" y="4603789"/>
            <a:ext cx="2264684" cy="1079422"/>
            <a:chOff x="0" y="0"/>
            <a:chExt cx="2173615" cy="1036016"/>
          </a:xfrm>
        </p:grpSpPr>
        <p:sp>
          <p:nvSpPr>
            <p:cNvPr name="Freeform 3" id="3"/>
            <p:cNvSpPr/>
            <p:nvPr/>
          </p:nvSpPr>
          <p:spPr>
            <a:xfrm flipH="false" flipV="false" rot="0">
              <a:off x="0" y="0"/>
              <a:ext cx="2173615" cy="1036016"/>
            </a:xfrm>
            <a:custGeom>
              <a:avLst/>
              <a:gdLst/>
              <a:ahLst/>
              <a:cxnLst/>
              <a:rect r="r" b="b" t="t" l="l"/>
              <a:pathLst>
                <a:path h="1036016" w="2173615">
                  <a:moveTo>
                    <a:pt x="0" y="0"/>
                  </a:moveTo>
                  <a:lnTo>
                    <a:pt x="2173615" y="0"/>
                  </a:lnTo>
                  <a:lnTo>
                    <a:pt x="2173615" y="1036016"/>
                  </a:lnTo>
                  <a:lnTo>
                    <a:pt x="0" y="1036016"/>
                  </a:lnTo>
                  <a:close/>
                </a:path>
              </a:pathLst>
            </a:custGeom>
            <a:ln w="66675" cap="sq">
              <a:solidFill>
                <a:srgbClr val="8FA4E1"/>
              </a:solidFill>
              <a:prstDash val="solid"/>
              <a:miter/>
            </a:ln>
          </p:spPr>
        </p:sp>
        <p:sp>
          <p:nvSpPr>
            <p:cNvPr name="TextBox 4" id="4"/>
            <p:cNvSpPr txBox="true"/>
            <p:nvPr/>
          </p:nvSpPr>
          <p:spPr>
            <a:xfrm>
              <a:off x="0" y="-47625"/>
              <a:ext cx="2173615" cy="1083641"/>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351749" y="4756996"/>
            <a:ext cx="2734618" cy="773008"/>
          </a:xfrm>
          <a:prstGeom prst="rect">
            <a:avLst/>
          </a:prstGeom>
          <a:solidFill>
            <a:srgbClr val="CFDBFF"/>
          </a:solidFill>
        </p:spPr>
      </p:sp>
      <p:sp>
        <p:nvSpPr>
          <p:cNvPr name="TextBox 6" id="6"/>
          <p:cNvSpPr txBox="true"/>
          <p:nvPr/>
        </p:nvSpPr>
        <p:spPr>
          <a:xfrm rot="0">
            <a:off x="351749" y="4948683"/>
            <a:ext cx="2734618" cy="473937"/>
          </a:xfrm>
          <a:prstGeom prst="rect">
            <a:avLst/>
          </a:prstGeom>
        </p:spPr>
        <p:txBody>
          <a:bodyPr anchor="t" rtlCol="false" tIns="0" lIns="0" bIns="0" rIns="0">
            <a:spAutoFit/>
          </a:bodyPr>
          <a:lstStyle/>
          <a:p>
            <a:pPr algn="ctr">
              <a:lnSpc>
                <a:spcPts val="3163"/>
              </a:lnSpc>
            </a:pPr>
            <a:r>
              <a:rPr lang="en-US" sz="2984">
                <a:solidFill>
                  <a:srgbClr val="1C1B19"/>
                </a:solidFill>
                <a:latin typeface="Gill Sans Condensed"/>
                <a:ea typeface="Gill Sans Condensed"/>
                <a:cs typeface="Gill Sans Condensed"/>
                <a:sym typeface="Gill Sans Condensed"/>
              </a:rPr>
              <a:t>MOCKUP</a:t>
            </a:r>
          </a:p>
        </p:txBody>
      </p:sp>
      <p:pic>
        <p:nvPicPr>
          <p:cNvPr name="Picture 7" id="7"/>
          <p:cNvPicPr>
            <a:picLocks noChangeAspect="true"/>
          </p:cNvPicPr>
          <p:nvPr/>
        </p:nvPicPr>
        <p:blipFill>
          <a:blip r:embed="rId2"/>
          <a:stretch>
            <a:fillRect/>
          </a:stretch>
        </p:blipFill>
        <p:spPr>
          <a:xfrm rot="0">
            <a:off x="545552" y="-1151492"/>
            <a:ext cx="19168789" cy="12706777"/>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sp>
        <p:nvSpPr>
          <p:cNvPr name="AutoShape 2" id="2"/>
          <p:cNvSpPr/>
          <p:nvPr/>
        </p:nvSpPr>
        <p:spPr>
          <a:xfrm rot="0">
            <a:off x="-1379812" y="-1006101"/>
            <a:ext cx="2759625" cy="12299202"/>
          </a:xfrm>
          <a:prstGeom prst="rect">
            <a:avLst/>
          </a:prstGeom>
          <a:solidFill>
            <a:srgbClr val="CFDBFF"/>
          </a:solidFill>
        </p:spPr>
      </p:sp>
      <p:grpSp>
        <p:nvGrpSpPr>
          <p:cNvPr name="Group 3" id="3"/>
          <p:cNvGrpSpPr/>
          <p:nvPr/>
        </p:nvGrpSpPr>
        <p:grpSpPr>
          <a:xfrm rot="0">
            <a:off x="2457588" y="1291826"/>
            <a:ext cx="14318678" cy="1282750"/>
            <a:chOff x="0" y="0"/>
            <a:chExt cx="6778587" cy="607265"/>
          </a:xfrm>
        </p:grpSpPr>
        <p:sp>
          <p:nvSpPr>
            <p:cNvPr name="Freeform 4" id="4"/>
            <p:cNvSpPr/>
            <p:nvPr/>
          </p:nvSpPr>
          <p:spPr>
            <a:xfrm flipH="false" flipV="false" rot="0">
              <a:off x="0" y="0"/>
              <a:ext cx="6778587" cy="607265"/>
            </a:xfrm>
            <a:custGeom>
              <a:avLst/>
              <a:gdLst/>
              <a:ahLst/>
              <a:cxnLst/>
              <a:rect r="r" b="b" t="t" l="l"/>
              <a:pathLst>
                <a:path h="607265" w="6778587">
                  <a:moveTo>
                    <a:pt x="0" y="0"/>
                  </a:moveTo>
                  <a:lnTo>
                    <a:pt x="6778587" y="0"/>
                  </a:lnTo>
                  <a:lnTo>
                    <a:pt x="6778587" y="607265"/>
                  </a:lnTo>
                  <a:lnTo>
                    <a:pt x="0" y="607265"/>
                  </a:lnTo>
                  <a:close/>
                </a:path>
              </a:pathLst>
            </a:custGeom>
            <a:ln w="66675" cap="sq">
              <a:solidFill>
                <a:srgbClr val="8FA4E1"/>
              </a:solidFill>
              <a:prstDash val="solid"/>
              <a:miter/>
            </a:ln>
          </p:spPr>
        </p:sp>
        <p:sp>
          <p:nvSpPr>
            <p:cNvPr name="TextBox 5" id="5"/>
            <p:cNvSpPr txBox="true"/>
            <p:nvPr/>
          </p:nvSpPr>
          <p:spPr>
            <a:xfrm>
              <a:off x="0" y="-47625"/>
              <a:ext cx="6778587" cy="654890"/>
            </a:xfrm>
            <a:prstGeom prst="rect">
              <a:avLst/>
            </a:prstGeom>
          </p:spPr>
          <p:txBody>
            <a:bodyPr anchor="ctr" rtlCol="false" tIns="48876" lIns="48876" bIns="48876" rIns="48876"/>
            <a:lstStyle/>
            <a:p>
              <a:pPr algn="ctr">
                <a:lnSpc>
                  <a:spcPts val="1588"/>
                </a:lnSpc>
              </a:pPr>
            </a:p>
          </p:txBody>
        </p:sp>
      </p:grpSp>
      <p:sp>
        <p:nvSpPr>
          <p:cNvPr name="AutoShape 6" id="6"/>
          <p:cNvSpPr/>
          <p:nvPr/>
        </p:nvSpPr>
        <p:spPr>
          <a:xfrm rot="0">
            <a:off x="3087198" y="1028700"/>
            <a:ext cx="13073008" cy="1809001"/>
          </a:xfrm>
          <a:prstGeom prst="rect">
            <a:avLst/>
          </a:prstGeom>
          <a:solidFill>
            <a:srgbClr val="CFDBFF"/>
          </a:solidFill>
        </p:spPr>
      </p:sp>
      <p:sp>
        <p:nvSpPr>
          <p:cNvPr name="TextBox 7" id="7"/>
          <p:cNvSpPr txBox="true"/>
          <p:nvPr/>
        </p:nvSpPr>
        <p:spPr>
          <a:xfrm rot="0">
            <a:off x="2502385" y="3655082"/>
            <a:ext cx="14229084" cy="6375561"/>
          </a:xfrm>
          <a:prstGeom prst="rect">
            <a:avLst/>
          </a:prstGeom>
        </p:spPr>
        <p:txBody>
          <a:bodyPr anchor="t" rtlCol="false" tIns="0" lIns="0" bIns="0" rIns="0">
            <a:spAutoFit/>
          </a:bodyPr>
          <a:lstStyle/>
          <a:p>
            <a:pPr algn="l">
              <a:lnSpc>
                <a:spcPts val="3895"/>
              </a:lnSpc>
            </a:pPr>
            <a:r>
              <a:rPr lang="en-US" sz="2782">
                <a:solidFill>
                  <a:srgbClr val="242424"/>
                </a:solidFill>
                <a:latin typeface="TT Chocolates"/>
                <a:ea typeface="TT Chocolates"/>
                <a:cs typeface="TT Chocolates"/>
                <a:sym typeface="TT Chocolates"/>
              </a:rPr>
              <a:t>FarmaPricey propone una solución tecnológica orientada a facilitar la búsqueda y comparación de precios de medicamentos entre distintas farmacias, centralizando información que actualmente se encuentra distribuida.</a:t>
            </a:r>
          </a:p>
          <a:p>
            <a:pPr algn="l">
              <a:lnSpc>
                <a:spcPts val="3895"/>
              </a:lnSpc>
            </a:pPr>
          </a:p>
          <a:p>
            <a:pPr algn="l">
              <a:lnSpc>
                <a:spcPts val="3895"/>
              </a:lnSpc>
            </a:pPr>
            <a:r>
              <a:rPr lang="en-US" sz="2782">
                <a:solidFill>
                  <a:srgbClr val="242424"/>
                </a:solidFill>
                <a:latin typeface="TT Chocolates"/>
                <a:ea typeface="TT Chocolates"/>
                <a:cs typeface="TT Chocolates"/>
                <a:sym typeface="TT Chocolates"/>
              </a:rPr>
              <a:t>El proyecto integra desarrollo web, gestión y procesamiento de datos, servicios de geolocalización y obtención automatizada de información, permitiendo abordar la problemática desde una perspectiva tecnológica e integral.</a:t>
            </a:r>
          </a:p>
          <a:p>
            <a:pPr algn="l">
              <a:lnSpc>
                <a:spcPts val="3895"/>
              </a:lnSpc>
            </a:pPr>
          </a:p>
          <a:p>
            <a:pPr algn="l">
              <a:lnSpc>
                <a:spcPts val="3895"/>
              </a:lnSpc>
            </a:pPr>
            <a:r>
              <a:rPr lang="en-US" sz="2782">
                <a:solidFill>
                  <a:srgbClr val="242424"/>
                </a:solidFill>
                <a:latin typeface="TT Chocolates"/>
                <a:ea typeface="TT Chocolates"/>
                <a:cs typeface="TT Chocolates"/>
                <a:sym typeface="TT Chocolates"/>
              </a:rPr>
              <a:t>A través de una metodología ágil y un trabajo colaborativo, buscamos desarrollar una plataforma funcional que permita a los usuarios considerar precio y ubicación al momento de buscar alternativas, aplicando las competencias adquiridas durante nuestra formación como Ingenieros en Informática.</a:t>
            </a:r>
          </a:p>
          <a:p>
            <a:pPr algn="l" marL="0" indent="0" lvl="0">
              <a:lnSpc>
                <a:spcPts val="3895"/>
              </a:lnSpc>
            </a:pPr>
          </a:p>
        </p:txBody>
      </p:sp>
      <p:sp>
        <p:nvSpPr>
          <p:cNvPr name="TextBox 8" id="8"/>
          <p:cNvSpPr txBox="true"/>
          <p:nvPr/>
        </p:nvSpPr>
        <p:spPr>
          <a:xfrm rot="0">
            <a:off x="3087198" y="1057099"/>
            <a:ext cx="13073008" cy="1899764"/>
          </a:xfrm>
          <a:prstGeom prst="rect">
            <a:avLst/>
          </a:prstGeom>
        </p:spPr>
        <p:txBody>
          <a:bodyPr anchor="t" rtlCol="false" tIns="0" lIns="0" bIns="0" rIns="0">
            <a:spAutoFit/>
          </a:bodyPr>
          <a:lstStyle/>
          <a:p>
            <a:pPr algn="ctr">
              <a:lnSpc>
                <a:spcPts val="13653"/>
              </a:lnSpc>
            </a:pPr>
            <a:r>
              <a:rPr lang="en-US" sz="10343">
                <a:solidFill>
                  <a:srgbClr val="1C1B19"/>
                </a:solidFill>
                <a:latin typeface="Gill Sans Condensed"/>
                <a:ea typeface="Gill Sans Condensed"/>
                <a:cs typeface="Gill Sans Condensed"/>
                <a:sym typeface="Gill Sans Condensed"/>
              </a:rPr>
              <a:t>CONCLUSIONES</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8FAFF"/>
        </a:solidFill>
      </p:bgPr>
    </p:bg>
    <p:spTree>
      <p:nvGrpSpPr>
        <p:cNvPr id="1" name=""/>
        <p:cNvGrpSpPr/>
        <p:nvPr/>
      </p:nvGrpSpPr>
      <p:grpSpPr>
        <a:xfrm>
          <a:off x="0" y="0"/>
          <a:ext cx="0" cy="0"/>
          <a:chOff x="0" y="0"/>
          <a:chExt cx="0" cy="0"/>
        </a:xfrm>
      </p:grpSpPr>
      <p:grpSp>
        <p:nvGrpSpPr>
          <p:cNvPr name="Group 2" id="2"/>
          <p:cNvGrpSpPr/>
          <p:nvPr/>
        </p:nvGrpSpPr>
        <p:grpSpPr>
          <a:xfrm rot="0">
            <a:off x="1794544" y="620169"/>
            <a:ext cx="14619414" cy="8985697"/>
            <a:chOff x="0" y="0"/>
            <a:chExt cx="4284994" cy="2633735"/>
          </a:xfrm>
        </p:grpSpPr>
        <p:sp>
          <p:nvSpPr>
            <p:cNvPr name="Freeform 3" id="3"/>
            <p:cNvSpPr/>
            <p:nvPr/>
          </p:nvSpPr>
          <p:spPr>
            <a:xfrm flipH="false" flipV="false" rot="0">
              <a:off x="0" y="0"/>
              <a:ext cx="4284994" cy="2633735"/>
            </a:xfrm>
            <a:custGeom>
              <a:avLst/>
              <a:gdLst/>
              <a:ahLst/>
              <a:cxnLst/>
              <a:rect r="r" b="b" t="t" l="l"/>
              <a:pathLst>
                <a:path h="2633735" w="4284994">
                  <a:moveTo>
                    <a:pt x="0" y="0"/>
                  </a:moveTo>
                  <a:lnTo>
                    <a:pt x="4284994" y="0"/>
                  </a:lnTo>
                  <a:lnTo>
                    <a:pt x="4284994" y="2633735"/>
                  </a:lnTo>
                  <a:lnTo>
                    <a:pt x="0" y="2633735"/>
                  </a:lnTo>
                  <a:close/>
                </a:path>
              </a:pathLst>
            </a:custGeom>
            <a:ln w="66675" cap="sq">
              <a:solidFill>
                <a:srgbClr val="8FA4E1"/>
              </a:solidFill>
              <a:prstDash val="solid"/>
              <a:miter/>
            </a:ln>
          </p:spPr>
        </p:sp>
        <p:sp>
          <p:nvSpPr>
            <p:cNvPr name="TextBox 4" id="4"/>
            <p:cNvSpPr txBox="true"/>
            <p:nvPr/>
          </p:nvSpPr>
          <p:spPr>
            <a:xfrm>
              <a:off x="0" y="-38100"/>
              <a:ext cx="4284994" cy="2671835"/>
            </a:xfrm>
            <a:prstGeom prst="rect">
              <a:avLst/>
            </a:prstGeom>
          </p:spPr>
          <p:txBody>
            <a:bodyPr anchor="ctr" rtlCol="false" tIns="48876" lIns="48876" bIns="48876" rIns="48876"/>
            <a:lstStyle/>
            <a:p>
              <a:pPr algn="ctr">
                <a:lnSpc>
                  <a:spcPts val="1588"/>
                </a:lnSpc>
              </a:pPr>
            </a:p>
          </p:txBody>
        </p:sp>
      </p:grpSp>
      <p:sp>
        <p:nvSpPr>
          <p:cNvPr name="AutoShape 5" id="5"/>
          <p:cNvSpPr/>
          <p:nvPr/>
        </p:nvSpPr>
        <p:spPr>
          <a:xfrm rot="0">
            <a:off x="1028700" y="3161274"/>
            <a:ext cx="16230600" cy="3964452"/>
          </a:xfrm>
          <a:prstGeom prst="rect">
            <a:avLst/>
          </a:prstGeom>
          <a:solidFill>
            <a:srgbClr val="CFDBFF"/>
          </a:solidFill>
        </p:spPr>
      </p:sp>
      <p:sp>
        <p:nvSpPr>
          <p:cNvPr name="TextBox 6" id="6"/>
          <p:cNvSpPr txBox="true"/>
          <p:nvPr/>
        </p:nvSpPr>
        <p:spPr>
          <a:xfrm rot="0">
            <a:off x="2225537" y="3272235"/>
            <a:ext cx="14309803" cy="3695812"/>
          </a:xfrm>
          <a:prstGeom prst="rect">
            <a:avLst/>
          </a:prstGeom>
        </p:spPr>
        <p:txBody>
          <a:bodyPr anchor="t" rtlCol="false" tIns="0" lIns="0" bIns="0" rIns="0">
            <a:spAutoFit/>
          </a:bodyPr>
          <a:lstStyle/>
          <a:p>
            <a:pPr algn="ctr">
              <a:lnSpc>
                <a:spcPts val="26681"/>
              </a:lnSpc>
            </a:pPr>
            <a:r>
              <a:rPr lang="en-US" sz="20212">
                <a:solidFill>
                  <a:srgbClr val="000000"/>
                </a:solidFill>
                <a:latin typeface="Gill Sans Condensed"/>
                <a:ea typeface="Gill Sans Condensed"/>
                <a:cs typeface="Gill Sans Condensed"/>
                <a:sym typeface="Gill Sans Condense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DAHToLa6Uds</dc:identifier>
  <dcterms:modified xsi:type="dcterms:W3CDTF">2011-08-01T06:04:30Z</dcterms:modified>
  <cp:revision>1</cp:revision>
  <dc:title>Presentación Diapositivas Informe de Negocios Corporativo Azul</dc:title>
</cp:coreProperties>
</file>