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ill Sans Condensed" charset="1" panose="020B0606020104020203"/>
      <p:regular r:id="rId19"/>
    </p:embeddedFont>
    <p:embeddedFont>
      <p:font typeface="DM Sans" charset="1" panose="00000000000000000000"/>
      <p:regular r:id="rId20"/>
    </p:embeddedFont>
    <p:embeddedFont>
      <p:font typeface="Gill Sans Condensed Bold" charset="1" panose="020B0608020104020203"/>
      <p:regular r:id="rId21"/>
    </p:embeddedFont>
    <p:embeddedFont>
      <p:font typeface="Handelson Three" charset="1" panose="00000100000000000000"/>
      <p:regular r:id="rId22"/>
    </p:embeddedFont>
    <p:embeddedFont>
      <p:font typeface="TT Chocolates Bold" charset="1" panose="02000803020000020003"/>
      <p:regular r:id="rId23"/>
    </p:embeddedFont>
    <p:embeddedFont>
      <p:font typeface="TT Chocolates" charset="1" panose="020005030200000200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embeddings/oleObject1.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VAHX8pH2kns.mp4" Type="http://schemas.openxmlformats.org/officeDocument/2006/relationships/video"/><Relationship Id="rId4" Target="../media/VAHX8pH2kns.mp4" Type="http://schemas.microsoft.com/office/2007/relationships/media"/></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24140" y="650651"/>
            <a:ext cx="14839720" cy="8985697"/>
            <a:chOff x="0" y="0"/>
            <a:chExt cx="4349566" cy="2633735"/>
          </a:xfrm>
        </p:grpSpPr>
        <p:sp>
          <p:nvSpPr>
            <p:cNvPr name="Freeform 3" id="3"/>
            <p:cNvSpPr/>
            <p:nvPr/>
          </p:nvSpPr>
          <p:spPr>
            <a:xfrm flipH="false" flipV="false" rot="0">
              <a:off x="0" y="0"/>
              <a:ext cx="4349566" cy="2633735"/>
            </a:xfrm>
            <a:custGeom>
              <a:avLst/>
              <a:gdLst/>
              <a:ahLst/>
              <a:cxnLst/>
              <a:rect r="r" b="b" t="t" l="l"/>
              <a:pathLst>
                <a:path h="2633735" w="4349566">
                  <a:moveTo>
                    <a:pt x="0" y="0"/>
                  </a:moveTo>
                  <a:lnTo>
                    <a:pt x="4349566" y="0"/>
                  </a:lnTo>
                  <a:lnTo>
                    <a:pt x="4349566" y="2633735"/>
                  </a:lnTo>
                  <a:lnTo>
                    <a:pt x="0" y="2633735"/>
                  </a:lnTo>
                  <a:close/>
                </a:path>
              </a:pathLst>
            </a:custGeom>
            <a:ln w="66675" cap="sq">
              <a:solidFill>
                <a:srgbClr val="8FA4E1"/>
              </a:solidFill>
              <a:prstDash val="solid"/>
              <a:miter/>
            </a:ln>
          </p:spPr>
        </p:sp>
        <p:sp>
          <p:nvSpPr>
            <p:cNvPr name="TextBox 4" id="4"/>
            <p:cNvSpPr txBox="true"/>
            <p:nvPr/>
          </p:nvSpPr>
          <p:spPr>
            <a:xfrm>
              <a:off x="0" y="-38100"/>
              <a:ext cx="4349566"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007927" cy="3964452"/>
          </a:xfrm>
          <a:prstGeom prst="rect">
            <a:avLst/>
          </a:prstGeom>
          <a:solidFill>
            <a:srgbClr val="CFDBFF"/>
          </a:solidFill>
        </p:spPr>
      </p:sp>
      <p:sp>
        <p:nvSpPr>
          <p:cNvPr name="AutoShape 6" id="6"/>
          <p:cNvSpPr/>
          <p:nvPr/>
        </p:nvSpPr>
        <p:spPr>
          <a:xfrm rot="0">
            <a:off x="7109838" y="7608122"/>
            <a:ext cx="3320366" cy="1650178"/>
          </a:xfrm>
          <a:prstGeom prst="rect">
            <a:avLst/>
          </a:prstGeom>
          <a:solidFill>
            <a:srgbClr val="CFDBFF"/>
          </a:solidFill>
        </p:spPr>
      </p:sp>
      <p:sp>
        <p:nvSpPr>
          <p:cNvPr name="TextBox 7" id="7"/>
          <p:cNvSpPr txBox="true"/>
          <p:nvPr/>
        </p:nvSpPr>
        <p:spPr>
          <a:xfrm rot="0">
            <a:off x="1381038" y="2560711"/>
            <a:ext cx="14777966" cy="4650221"/>
          </a:xfrm>
          <a:prstGeom prst="rect">
            <a:avLst/>
          </a:prstGeom>
        </p:spPr>
        <p:txBody>
          <a:bodyPr anchor="t" rtlCol="false" tIns="0" lIns="0" bIns="0" rIns="0">
            <a:spAutoFit/>
          </a:bodyPr>
          <a:lstStyle/>
          <a:p>
            <a:pPr algn="ctr">
              <a:lnSpc>
                <a:spcPts val="33553"/>
              </a:lnSpc>
            </a:pPr>
            <a:r>
              <a:rPr lang="en-US" sz="25419">
                <a:solidFill>
                  <a:srgbClr val="000000"/>
                </a:solidFill>
                <a:latin typeface="Gill Sans Condensed"/>
                <a:ea typeface="Gill Sans Condensed"/>
                <a:cs typeface="Gill Sans Condensed"/>
                <a:sym typeface="Gill Sans Condensed"/>
              </a:rPr>
              <a:t>FARMAPRICEY</a:t>
            </a:r>
          </a:p>
        </p:txBody>
      </p:sp>
      <p:sp>
        <p:nvSpPr>
          <p:cNvPr name="TextBox 8" id="8"/>
          <p:cNvSpPr txBox="true"/>
          <p:nvPr/>
        </p:nvSpPr>
        <p:spPr>
          <a:xfrm rot="0">
            <a:off x="6348813" y="7738453"/>
            <a:ext cx="4842417" cy="1410410"/>
          </a:xfrm>
          <a:prstGeom prst="rect">
            <a:avLst/>
          </a:prstGeom>
        </p:spPr>
        <p:txBody>
          <a:bodyPr anchor="t" rtlCol="false" tIns="0" lIns="0" bIns="0" rIns="0">
            <a:spAutoFit/>
          </a:bodyPr>
          <a:lstStyle/>
          <a:p>
            <a:pPr algn="ctr">
              <a:lnSpc>
                <a:spcPts val="2284"/>
              </a:lnSpc>
            </a:pPr>
            <a:r>
              <a:rPr lang="en-US" sz="1631" spc="34">
                <a:solidFill>
                  <a:srgbClr val="000000"/>
                </a:solidFill>
                <a:latin typeface="DM Sans"/>
                <a:ea typeface="DM Sans"/>
                <a:cs typeface="DM Sans"/>
                <a:sym typeface="DM Sans"/>
              </a:rPr>
              <a:t>Integrantes: Bastian Herrera</a:t>
            </a:r>
          </a:p>
          <a:p>
            <a:pPr algn="ctr">
              <a:lnSpc>
                <a:spcPts val="2284"/>
              </a:lnSpc>
            </a:pPr>
            <a:r>
              <a:rPr lang="en-US" sz="1631" spc="34">
                <a:solidFill>
                  <a:srgbClr val="000000"/>
                </a:solidFill>
                <a:latin typeface="DM Sans"/>
                <a:ea typeface="DM Sans"/>
                <a:cs typeface="DM Sans"/>
                <a:sym typeface="DM Sans"/>
              </a:rPr>
              <a:t>Josefa Duran </a:t>
            </a:r>
          </a:p>
          <a:p>
            <a:pPr algn="ctr">
              <a:lnSpc>
                <a:spcPts val="2284"/>
              </a:lnSpc>
            </a:pPr>
            <a:r>
              <a:rPr lang="en-US" sz="1631" spc="34">
                <a:solidFill>
                  <a:srgbClr val="000000"/>
                </a:solidFill>
                <a:latin typeface="DM Sans"/>
                <a:ea typeface="DM Sans"/>
                <a:cs typeface="DM Sans"/>
                <a:sym typeface="DM Sans"/>
              </a:rPr>
              <a:t>Helen Mora</a:t>
            </a:r>
          </a:p>
          <a:p>
            <a:pPr algn="ctr">
              <a:lnSpc>
                <a:spcPts val="2284"/>
              </a:lnSpc>
            </a:pPr>
            <a:r>
              <a:rPr lang="en-US" sz="1631" spc="34">
                <a:solidFill>
                  <a:srgbClr val="000000"/>
                </a:solidFill>
                <a:latin typeface="DM Sans"/>
                <a:ea typeface="DM Sans"/>
                <a:cs typeface="DM Sans"/>
                <a:sym typeface="DM Sans"/>
              </a:rPr>
              <a:t>Curso: Capstone 004D</a:t>
            </a:r>
          </a:p>
          <a:p>
            <a:pPr algn="ctr" marL="0" indent="0" lvl="0">
              <a:lnSpc>
                <a:spcPts val="2284"/>
              </a:lnSpc>
              <a:spcBef>
                <a:spcPct val="0"/>
              </a:spcBef>
            </a:pPr>
            <a:r>
              <a:rPr lang="en-US" sz="1631" spc="34">
                <a:solidFill>
                  <a:srgbClr val="000000"/>
                </a:solidFill>
                <a:latin typeface="DM Sans"/>
                <a:ea typeface="DM Sans"/>
                <a:cs typeface="DM Sans"/>
                <a:sym typeface="DM Sans"/>
              </a:rPr>
              <a:t>Profesor: Aldo Martinez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997417" y="223076"/>
            <a:ext cx="4374085" cy="2092173"/>
            <a:chOff x="0" y="0"/>
            <a:chExt cx="1904541" cy="910963"/>
          </a:xfrm>
        </p:grpSpPr>
        <p:sp>
          <p:nvSpPr>
            <p:cNvPr name="Freeform 3" id="3"/>
            <p:cNvSpPr/>
            <p:nvPr/>
          </p:nvSpPr>
          <p:spPr>
            <a:xfrm flipH="false" flipV="false" rot="0">
              <a:off x="0" y="0"/>
              <a:ext cx="1904541" cy="910963"/>
            </a:xfrm>
            <a:custGeom>
              <a:avLst/>
              <a:gdLst/>
              <a:ahLst/>
              <a:cxnLst/>
              <a:rect r="r" b="b" t="t" l="l"/>
              <a:pathLst>
                <a:path h="910963" w="1904541">
                  <a:moveTo>
                    <a:pt x="0" y="0"/>
                  </a:moveTo>
                  <a:lnTo>
                    <a:pt x="1904541" y="0"/>
                  </a:lnTo>
                  <a:lnTo>
                    <a:pt x="1904541" y="910963"/>
                  </a:lnTo>
                  <a:lnTo>
                    <a:pt x="0" y="910963"/>
                  </a:lnTo>
                  <a:close/>
                </a:path>
              </a:pathLst>
            </a:custGeom>
            <a:ln w="66675" cap="sq">
              <a:solidFill>
                <a:srgbClr val="8FA4E1"/>
              </a:solidFill>
              <a:prstDash val="solid"/>
              <a:miter/>
            </a:ln>
          </p:spPr>
        </p:sp>
        <p:sp>
          <p:nvSpPr>
            <p:cNvPr name="TextBox 4" id="4"/>
            <p:cNvSpPr txBox="true"/>
            <p:nvPr/>
          </p:nvSpPr>
          <p:spPr>
            <a:xfrm>
              <a:off x="0" y="-47625"/>
              <a:ext cx="1904541" cy="958588"/>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551066" y="405288"/>
            <a:ext cx="5266786" cy="1703948"/>
          </a:xfrm>
          <a:prstGeom prst="rect">
            <a:avLst/>
          </a:prstGeom>
          <a:solidFill>
            <a:srgbClr val="CFDBFF"/>
          </a:solidFill>
        </p:spPr>
      </p:sp>
      <p:sp>
        <p:nvSpPr>
          <p:cNvPr name="AutoShape 6" id="6"/>
          <p:cNvSpPr/>
          <p:nvPr/>
        </p:nvSpPr>
        <p:spPr>
          <a:xfrm rot="0">
            <a:off x="-1379812" y="-1006101"/>
            <a:ext cx="2759625" cy="12299202"/>
          </a:xfrm>
          <a:prstGeom prst="rect">
            <a:avLst/>
          </a:prstGeom>
          <a:solidFill>
            <a:srgbClr val="CFDBFF"/>
          </a:solidFill>
        </p:spPr>
      </p:sp>
      <p:grpSp>
        <p:nvGrpSpPr>
          <p:cNvPr name="Group 7" id="7"/>
          <p:cNvGrpSpPr/>
          <p:nvPr/>
        </p:nvGrpSpPr>
        <p:grpSpPr>
          <a:xfrm rot="0">
            <a:off x="3870819" y="2988761"/>
            <a:ext cx="1038068" cy="727016"/>
            <a:chOff x="0" y="0"/>
            <a:chExt cx="838717" cy="587399"/>
          </a:xfrm>
        </p:grpSpPr>
        <p:sp>
          <p:nvSpPr>
            <p:cNvPr name="Freeform 8" id="8"/>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9" id="9"/>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0" id="10"/>
          <p:cNvGrpSpPr/>
          <p:nvPr/>
        </p:nvGrpSpPr>
        <p:grpSpPr>
          <a:xfrm rot="0">
            <a:off x="3870819" y="4159986"/>
            <a:ext cx="1038068" cy="727016"/>
            <a:chOff x="0" y="0"/>
            <a:chExt cx="838717" cy="587399"/>
          </a:xfrm>
        </p:grpSpPr>
        <p:sp>
          <p:nvSpPr>
            <p:cNvPr name="Freeform 11" id="11"/>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2" id="12"/>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3" id="13"/>
          <p:cNvGrpSpPr/>
          <p:nvPr/>
        </p:nvGrpSpPr>
        <p:grpSpPr>
          <a:xfrm rot="0">
            <a:off x="3870819" y="5324643"/>
            <a:ext cx="1038068" cy="727016"/>
            <a:chOff x="0" y="0"/>
            <a:chExt cx="838717" cy="587399"/>
          </a:xfrm>
        </p:grpSpPr>
        <p:sp>
          <p:nvSpPr>
            <p:cNvPr name="Freeform 14" id="14"/>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5" id="15"/>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6" id="16"/>
          <p:cNvGrpSpPr/>
          <p:nvPr/>
        </p:nvGrpSpPr>
        <p:grpSpPr>
          <a:xfrm rot="0">
            <a:off x="3870819" y="6489300"/>
            <a:ext cx="1038068" cy="727016"/>
            <a:chOff x="0" y="0"/>
            <a:chExt cx="838717" cy="587399"/>
          </a:xfrm>
        </p:grpSpPr>
        <p:sp>
          <p:nvSpPr>
            <p:cNvPr name="Freeform 17" id="17"/>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8" id="18"/>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9" id="19"/>
          <p:cNvGrpSpPr/>
          <p:nvPr/>
        </p:nvGrpSpPr>
        <p:grpSpPr>
          <a:xfrm rot="0">
            <a:off x="3900372" y="7653957"/>
            <a:ext cx="1038068" cy="727016"/>
            <a:chOff x="0" y="0"/>
            <a:chExt cx="838717" cy="587399"/>
          </a:xfrm>
        </p:grpSpPr>
        <p:sp>
          <p:nvSpPr>
            <p:cNvPr name="Freeform 20" id="20"/>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1" id="21"/>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2" id="22"/>
          <p:cNvGrpSpPr/>
          <p:nvPr/>
        </p:nvGrpSpPr>
        <p:grpSpPr>
          <a:xfrm rot="0">
            <a:off x="10149225" y="2988761"/>
            <a:ext cx="1038068" cy="727016"/>
            <a:chOff x="0" y="0"/>
            <a:chExt cx="838717" cy="587399"/>
          </a:xfrm>
        </p:grpSpPr>
        <p:sp>
          <p:nvSpPr>
            <p:cNvPr name="Freeform 23" id="23"/>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4" id="24"/>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5" id="25"/>
          <p:cNvGrpSpPr/>
          <p:nvPr/>
        </p:nvGrpSpPr>
        <p:grpSpPr>
          <a:xfrm rot="0">
            <a:off x="10149225" y="4159986"/>
            <a:ext cx="1038068" cy="727016"/>
            <a:chOff x="0" y="0"/>
            <a:chExt cx="838717" cy="587399"/>
          </a:xfrm>
        </p:grpSpPr>
        <p:sp>
          <p:nvSpPr>
            <p:cNvPr name="Freeform 26" id="26"/>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7" id="27"/>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8" id="28"/>
          <p:cNvGrpSpPr/>
          <p:nvPr/>
        </p:nvGrpSpPr>
        <p:grpSpPr>
          <a:xfrm rot="0">
            <a:off x="10149225" y="5324643"/>
            <a:ext cx="1038068" cy="727016"/>
            <a:chOff x="0" y="0"/>
            <a:chExt cx="838717" cy="587399"/>
          </a:xfrm>
        </p:grpSpPr>
        <p:sp>
          <p:nvSpPr>
            <p:cNvPr name="Freeform 29" id="29"/>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0" id="30"/>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31" id="31"/>
          <p:cNvGrpSpPr/>
          <p:nvPr/>
        </p:nvGrpSpPr>
        <p:grpSpPr>
          <a:xfrm rot="0">
            <a:off x="3870819" y="8818613"/>
            <a:ext cx="1038068" cy="727016"/>
            <a:chOff x="0" y="0"/>
            <a:chExt cx="838717" cy="587399"/>
          </a:xfrm>
        </p:grpSpPr>
        <p:sp>
          <p:nvSpPr>
            <p:cNvPr name="Freeform 32" id="32"/>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3" id="33"/>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34" id="34"/>
          <p:cNvSpPr txBox="true"/>
          <p:nvPr/>
        </p:nvSpPr>
        <p:spPr>
          <a:xfrm rot="0">
            <a:off x="6643344" y="286683"/>
            <a:ext cx="5093591" cy="1860633"/>
          </a:xfrm>
          <a:prstGeom prst="rect">
            <a:avLst/>
          </a:prstGeom>
        </p:spPr>
        <p:txBody>
          <a:bodyPr anchor="t" rtlCol="false" tIns="0" lIns="0" bIns="0" rIns="0">
            <a:spAutoFit/>
          </a:bodyPr>
          <a:lstStyle/>
          <a:p>
            <a:pPr algn="ctr">
              <a:lnSpc>
                <a:spcPts val="13421"/>
              </a:lnSpc>
            </a:pPr>
            <a:r>
              <a:rPr lang="en-US" sz="10167">
                <a:solidFill>
                  <a:srgbClr val="1C1B19"/>
                </a:solidFill>
                <a:latin typeface="Gill Sans Condensed"/>
                <a:ea typeface="Gill Sans Condensed"/>
                <a:cs typeface="Gill Sans Condensed"/>
                <a:sym typeface="Gill Sans Condensed"/>
              </a:rPr>
              <a:t>ÍNDICE</a:t>
            </a:r>
          </a:p>
        </p:txBody>
      </p:sp>
      <p:sp>
        <p:nvSpPr>
          <p:cNvPr name="TextBox 35" id="35"/>
          <p:cNvSpPr txBox="true"/>
          <p:nvPr/>
        </p:nvSpPr>
        <p:spPr>
          <a:xfrm rot="0">
            <a:off x="4116629" y="3020836"/>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01</a:t>
            </a:r>
          </a:p>
        </p:txBody>
      </p:sp>
      <p:sp>
        <p:nvSpPr>
          <p:cNvPr name="TextBox 36" id="36"/>
          <p:cNvSpPr txBox="true"/>
          <p:nvPr/>
        </p:nvSpPr>
        <p:spPr>
          <a:xfrm rot="0">
            <a:off x="5248605" y="6480232"/>
            <a:ext cx="437674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Mapa Tecnologico/Arquitectura</a:t>
            </a:r>
          </a:p>
        </p:txBody>
      </p:sp>
      <p:sp>
        <p:nvSpPr>
          <p:cNvPr name="TextBox 37" id="37"/>
          <p:cNvSpPr txBox="true"/>
          <p:nvPr/>
        </p:nvSpPr>
        <p:spPr>
          <a:xfrm rot="0">
            <a:off x="5303449" y="5315575"/>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Solución </a:t>
            </a:r>
          </a:p>
        </p:txBody>
      </p:sp>
      <p:sp>
        <p:nvSpPr>
          <p:cNvPr name="TextBox 38" id="38"/>
          <p:cNvSpPr txBox="true"/>
          <p:nvPr/>
        </p:nvSpPr>
        <p:spPr>
          <a:xfrm rot="0">
            <a:off x="11532102" y="6384525"/>
            <a:ext cx="2055747"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Conclusiones</a:t>
            </a:r>
          </a:p>
        </p:txBody>
      </p:sp>
      <p:sp>
        <p:nvSpPr>
          <p:cNvPr name="TextBox 39" id="39"/>
          <p:cNvSpPr txBox="true"/>
          <p:nvPr/>
        </p:nvSpPr>
        <p:spPr>
          <a:xfrm rot="0">
            <a:off x="6470148" y="1444459"/>
            <a:ext cx="5266786" cy="627119"/>
          </a:xfrm>
          <a:prstGeom prst="rect">
            <a:avLst/>
          </a:prstGeom>
        </p:spPr>
        <p:txBody>
          <a:bodyPr anchor="t" rtlCol="false" tIns="0" lIns="0" bIns="0" rIns="0">
            <a:spAutoFit/>
          </a:bodyPr>
          <a:lstStyle/>
          <a:p>
            <a:pPr algn="ctr">
              <a:lnSpc>
                <a:spcPts val="5065"/>
              </a:lnSpc>
            </a:pPr>
            <a:r>
              <a:rPr lang="en-US" sz="3837" spc="42">
                <a:solidFill>
                  <a:srgbClr val="000000"/>
                </a:solidFill>
                <a:latin typeface="Handelson Three"/>
                <a:ea typeface="Handelson Three"/>
                <a:cs typeface="Handelson Three"/>
                <a:sym typeface="Handelson Three"/>
              </a:rPr>
              <a:t>de contenidos</a:t>
            </a:r>
          </a:p>
        </p:txBody>
      </p:sp>
      <p:sp>
        <p:nvSpPr>
          <p:cNvPr name="TextBox 40" id="40"/>
          <p:cNvSpPr txBox="true"/>
          <p:nvPr/>
        </p:nvSpPr>
        <p:spPr>
          <a:xfrm rot="0">
            <a:off x="5248605" y="3039886"/>
            <a:ext cx="2784577"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Contexto</a:t>
            </a:r>
          </a:p>
        </p:txBody>
      </p:sp>
      <p:sp>
        <p:nvSpPr>
          <p:cNvPr name="TextBox 41" id="41"/>
          <p:cNvSpPr txBox="true"/>
          <p:nvPr/>
        </p:nvSpPr>
        <p:spPr>
          <a:xfrm rot="0">
            <a:off x="4116629" y="419206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02</a:t>
            </a:r>
          </a:p>
        </p:txBody>
      </p:sp>
      <p:sp>
        <p:nvSpPr>
          <p:cNvPr name="TextBox 42" id="42"/>
          <p:cNvSpPr txBox="true"/>
          <p:nvPr/>
        </p:nvSpPr>
        <p:spPr>
          <a:xfrm rot="0">
            <a:off x="4116629" y="535671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03</a:t>
            </a:r>
          </a:p>
        </p:txBody>
      </p:sp>
      <p:sp>
        <p:nvSpPr>
          <p:cNvPr name="TextBox 43" id="43"/>
          <p:cNvSpPr txBox="true"/>
          <p:nvPr/>
        </p:nvSpPr>
        <p:spPr>
          <a:xfrm rot="0">
            <a:off x="4116629" y="6521375"/>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04</a:t>
            </a:r>
          </a:p>
        </p:txBody>
      </p:sp>
      <p:sp>
        <p:nvSpPr>
          <p:cNvPr name="TextBox 44" id="44"/>
          <p:cNvSpPr txBox="true"/>
          <p:nvPr/>
        </p:nvSpPr>
        <p:spPr>
          <a:xfrm rot="0">
            <a:off x="4146181" y="768603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05</a:t>
            </a:r>
          </a:p>
        </p:txBody>
      </p:sp>
      <p:sp>
        <p:nvSpPr>
          <p:cNvPr name="TextBox 45" id="45"/>
          <p:cNvSpPr txBox="true"/>
          <p:nvPr/>
        </p:nvSpPr>
        <p:spPr>
          <a:xfrm rot="0">
            <a:off x="5248605" y="4211112"/>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Problemática </a:t>
            </a:r>
          </a:p>
        </p:txBody>
      </p:sp>
      <p:sp>
        <p:nvSpPr>
          <p:cNvPr name="TextBox 46" id="46"/>
          <p:cNvSpPr txBox="true"/>
          <p:nvPr/>
        </p:nvSpPr>
        <p:spPr>
          <a:xfrm rot="0">
            <a:off x="5248605" y="8776668"/>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Riesgo</a:t>
            </a:r>
          </a:p>
        </p:txBody>
      </p:sp>
      <p:sp>
        <p:nvSpPr>
          <p:cNvPr name="TextBox 47" id="47"/>
          <p:cNvSpPr txBox="true"/>
          <p:nvPr/>
        </p:nvSpPr>
        <p:spPr>
          <a:xfrm rot="0">
            <a:off x="10395035" y="3020836"/>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07</a:t>
            </a:r>
          </a:p>
        </p:txBody>
      </p:sp>
      <p:sp>
        <p:nvSpPr>
          <p:cNvPr name="TextBox 48" id="48"/>
          <p:cNvSpPr txBox="true"/>
          <p:nvPr/>
        </p:nvSpPr>
        <p:spPr>
          <a:xfrm rot="0">
            <a:off x="10395035" y="419206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08</a:t>
            </a:r>
          </a:p>
        </p:txBody>
      </p:sp>
      <p:sp>
        <p:nvSpPr>
          <p:cNvPr name="TextBox 49" id="49"/>
          <p:cNvSpPr txBox="true"/>
          <p:nvPr/>
        </p:nvSpPr>
        <p:spPr>
          <a:xfrm rot="0">
            <a:off x="10395035" y="535671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09</a:t>
            </a:r>
          </a:p>
        </p:txBody>
      </p:sp>
      <p:sp>
        <p:nvSpPr>
          <p:cNvPr name="TextBox 50" id="50"/>
          <p:cNvSpPr txBox="true"/>
          <p:nvPr/>
        </p:nvSpPr>
        <p:spPr>
          <a:xfrm rot="0">
            <a:off x="11532102" y="2948568"/>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Seguridad y privacidad</a:t>
            </a:r>
          </a:p>
        </p:txBody>
      </p:sp>
      <p:sp>
        <p:nvSpPr>
          <p:cNvPr name="TextBox 51" id="51"/>
          <p:cNvSpPr txBox="true"/>
          <p:nvPr/>
        </p:nvSpPr>
        <p:spPr>
          <a:xfrm rot="0">
            <a:off x="11532102" y="5315575"/>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Video</a:t>
            </a:r>
          </a:p>
        </p:txBody>
      </p:sp>
      <p:sp>
        <p:nvSpPr>
          <p:cNvPr name="TextBox 52" id="52"/>
          <p:cNvSpPr txBox="true"/>
          <p:nvPr/>
        </p:nvSpPr>
        <p:spPr>
          <a:xfrm rot="0">
            <a:off x="4116629" y="885068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06</a:t>
            </a:r>
          </a:p>
        </p:txBody>
      </p:sp>
      <p:sp>
        <p:nvSpPr>
          <p:cNvPr name="TextBox 53" id="53"/>
          <p:cNvSpPr txBox="true"/>
          <p:nvPr/>
        </p:nvSpPr>
        <p:spPr>
          <a:xfrm rot="0">
            <a:off x="5303449" y="7669568"/>
            <a:ext cx="437674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Modelo base de datos</a:t>
            </a:r>
          </a:p>
        </p:txBody>
      </p:sp>
      <p:grpSp>
        <p:nvGrpSpPr>
          <p:cNvPr name="Group 54" id="54"/>
          <p:cNvGrpSpPr/>
          <p:nvPr/>
        </p:nvGrpSpPr>
        <p:grpSpPr>
          <a:xfrm rot="0">
            <a:off x="10178778" y="6393592"/>
            <a:ext cx="1038068" cy="727016"/>
            <a:chOff x="0" y="0"/>
            <a:chExt cx="838717" cy="587399"/>
          </a:xfrm>
        </p:grpSpPr>
        <p:sp>
          <p:nvSpPr>
            <p:cNvPr name="Freeform 55" id="55"/>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56" id="56"/>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57" id="57"/>
          <p:cNvSpPr txBox="true"/>
          <p:nvPr/>
        </p:nvSpPr>
        <p:spPr>
          <a:xfrm rot="0">
            <a:off x="10395035" y="6365983"/>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10</a:t>
            </a:r>
          </a:p>
        </p:txBody>
      </p:sp>
      <p:sp>
        <p:nvSpPr>
          <p:cNvPr name="TextBox 58" id="58"/>
          <p:cNvSpPr txBox="true"/>
          <p:nvPr/>
        </p:nvSpPr>
        <p:spPr>
          <a:xfrm rot="0">
            <a:off x="11532102" y="4132072"/>
            <a:ext cx="2055747"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Sprints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201403" y="453616"/>
            <a:ext cx="5873377" cy="2555853"/>
            <a:chOff x="0" y="0"/>
            <a:chExt cx="2120236" cy="922640"/>
          </a:xfrm>
        </p:grpSpPr>
        <p:sp>
          <p:nvSpPr>
            <p:cNvPr name="Freeform 3" id="3"/>
            <p:cNvSpPr/>
            <p:nvPr/>
          </p:nvSpPr>
          <p:spPr>
            <a:xfrm flipH="false" flipV="false" rot="0">
              <a:off x="0" y="0"/>
              <a:ext cx="2120236" cy="922640"/>
            </a:xfrm>
            <a:custGeom>
              <a:avLst/>
              <a:gdLst/>
              <a:ahLst/>
              <a:cxnLst/>
              <a:rect r="r" b="b" t="t" l="l"/>
              <a:pathLst>
                <a:path h="922640" w="2120236">
                  <a:moveTo>
                    <a:pt x="0" y="0"/>
                  </a:moveTo>
                  <a:lnTo>
                    <a:pt x="2120236" y="0"/>
                  </a:lnTo>
                  <a:lnTo>
                    <a:pt x="2120236" y="922640"/>
                  </a:lnTo>
                  <a:lnTo>
                    <a:pt x="0" y="922640"/>
                  </a:lnTo>
                  <a:close/>
                </a:path>
              </a:pathLst>
            </a:custGeom>
            <a:ln w="66675" cap="sq">
              <a:solidFill>
                <a:srgbClr val="8FA4E1"/>
              </a:solidFill>
              <a:prstDash val="solid"/>
              <a:miter/>
            </a:ln>
          </p:spPr>
        </p:sp>
        <p:sp>
          <p:nvSpPr>
            <p:cNvPr name="TextBox 4" id="4"/>
            <p:cNvSpPr txBox="true"/>
            <p:nvPr/>
          </p:nvSpPr>
          <p:spPr>
            <a:xfrm>
              <a:off x="0" y="-47625"/>
              <a:ext cx="2120236" cy="97026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5495832" y="686474"/>
            <a:ext cx="7296337" cy="2055242"/>
          </a:xfrm>
          <a:prstGeom prst="rect">
            <a:avLst/>
          </a:prstGeom>
          <a:solidFill>
            <a:srgbClr val="CFDBFF"/>
          </a:solidFill>
        </p:spPr>
      </p:sp>
      <p:sp>
        <p:nvSpPr>
          <p:cNvPr name="TextBox 6" id="6"/>
          <p:cNvSpPr txBox="true"/>
          <p:nvPr/>
        </p:nvSpPr>
        <p:spPr>
          <a:xfrm rot="0">
            <a:off x="5495832" y="762017"/>
            <a:ext cx="7202660" cy="1870037"/>
          </a:xfrm>
          <a:prstGeom prst="rect">
            <a:avLst/>
          </a:prstGeom>
        </p:spPr>
        <p:txBody>
          <a:bodyPr anchor="t" rtlCol="false" tIns="0" lIns="0" bIns="0" rIns="0">
            <a:spAutoFit/>
          </a:bodyPr>
          <a:lstStyle/>
          <a:p>
            <a:pPr algn="ctr">
              <a:lnSpc>
                <a:spcPts val="13493"/>
              </a:lnSpc>
            </a:pPr>
            <a:r>
              <a:rPr lang="en-US" sz="10221">
                <a:solidFill>
                  <a:srgbClr val="1C1B19"/>
                </a:solidFill>
                <a:latin typeface="Gill Sans Condensed"/>
                <a:ea typeface="Gill Sans Condensed"/>
                <a:cs typeface="Gill Sans Condensed"/>
                <a:sym typeface="Gill Sans Condensed"/>
              </a:rPr>
              <a:t>CONTEXTO</a:t>
            </a:r>
          </a:p>
        </p:txBody>
      </p:sp>
      <p:sp>
        <p:nvSpPr>
          <p:cNvPr name="TextBox 7" id="7"/>
          <p:cNvSpPr txBox="true"/>
          <p:nvPr/>
        </p:nvSpPr>
        <p:spPr>
          <a:xfrm rot="0">
            <a:off x="1578518" y="3477259"/>
            <a:ext cx="15130963" cy="6591300"/>
          </a:xfrm>
          <a:prstGeom prst="rect">
            <a:avLst/>
          </a:prstGeom>
        </p:spPr>
        <p:txBody>
          <a:bodyPr anchor="t" rtlCol="false" tIns="0" lIns="0" bIns="0" rIns="0">
            <a:spAutoFit/>
          </a:bodyPr>
          <a:lstStyle/>
          <a:p>
            <a:pPr algn="l">
              <a:lnSpc>
                <a:spcPts val="4331"/>
              </a:lnSpc>
            </a:pPr>
            <a:r>
              <a:rPr lang="en-US" sz="3799">
                <a:solidFill>
                  <a:srgbClr val="1C1B19"/>
                </a:solidFill>
                <a:latin typeface="Gill Sans Condensed"/>
                <a:ea typeface="Gill Sans Condensed"/>
                <a:cs typeface="Gill Sans Condensed"/>
                <a:sym typeface="Gill Sans Condensed"/>
              </a:rPr>
              <a:t>En Chile, las personas que necesitan adquirir medicamentos pueden encontrar diferencias de precios entre distintas farmacias. Sin embargo, esta información se encuentra distribuida entre los sitios web de cada establecimiento, por lo que comparar alternativas requiere realizar búsquedas de manera individual. </a:t>
            </a:r>
          </a:p>
          <a:p>
            <a:pPr algn="l">
              <a:lnSpc>
                <a:spcPts val="4331"/>
              </a:lnSpc>
            </a:pPr>
          </a:p>
          <a:p>
            <a:pPr algn="l">
              <a:lnSpc>
                <a:spcPts val="4331"/>
              </a:lnSpc>
            </a:pPr>
            <a:r>
              <a:rPr lang="en-US" sz="3799">
                <a:solidFill>
                  <a:srgbClr val="1C1B19"/>
                </a:solidFill>
                <a:latin typeface="Gill Sans Condensed"/>
                <a:ea typeface="Gill Sans Condensed"/>
                <a:cs typeface="Gill Sans Condensed"/>
                <a:sym typeface="Gill Sans Condensed"/>
              </a:rPr>
              <a:t>Además del precio, la ubicación de la farmacia es un factor relevante al momento de elegir dónde comprar, ya que la alternativa más económica no necesariamente es la más conveniente si se encuentra a una mayor distancia.</a:t>
            </a:r>
          </a:p>
          <a:p>
            <a:pPr algn="l">
              <a:lnSpc>
                <a:spcPts val="4331"/>
              </a:lnSpc>
            </a:pPr>
          </a:p>
          <a:p>
            <a:pPr algn="l">
              <a:lnSpc>
                <a:spcPts val="4331"/>
              </a:lnSpc>
            </a:pPr>
            <a:r>
              <a:rPr lang="en-US" sz="3799">
                <a:solidFill>
                  <a:srgbClr val="1C1B19"/>
                </a:solidFill>
                <a:latin typeface="Gill Sans Condensed"/>
                <a:ea typeface="Gill Sans Condensed"/>
                <a:cs typeface="Gill Sans Condensed"/>
                <a:sym typeface="Gill Sans Condensed"/>
              </a:rPr>
              <a:t>Por ello, surge la oportunidad de utilizar herramientas tecnológicas para centralizar información de medicamentos, precios y establecimientos, facilitando el acceso a estos datos desde una misma plataforma.</a:t>
            </a:r>
          </a:p>
          <a:p>
            <a:pPr algn="l">
              <a:lnSpc>
                <a:spcPts val="4217"/>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TextBox 2" id="2"/>
          <p:cNvSpPr txBox="true"/>
          <p:nvPr/>
        </p:nvSpPr>
        <p:spPr>
          <a:xfrm rot="0">
            <a:off x="331079" y="3626605"/>
            <a:ext cx="8612408" cy="5753100"/>
          </a:xfrm>
          <a:prstGeom prst="rect">
            <a:avLst/>
          </a:prstGeom>
        </p:spPr>
        <p:txBody>
          <a:bodyPr anchor="t" rtlCol="false" tIns="0" lIns="0" bIns="0" rIns="0">
            <a:spAutoFit/>
          </a:bodyPr>
          <a:lstStyle/>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Comparación  poco práctica:</a:t>
            </a:r>
            <a:r>
              <a:rPr lang="en-US" sz="2999">
                <a:solidFill>
                  <a:srgbClr val="242424"/>
                </a:solidFill>
                <a:latin typeface="TT Chocolates"/>
                <a:ea typeface="TT Chocolates"/>
                <a:cs typeface="TT Chocolates"/>
                <a:sym typeface="TT Chocolates"/>
              </a:rPr>
              <a:t> El usuario debe buscar y comparar cada alternativa individualmente.</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Precio ≠ conveniencia: </a:t>
            </a:r>
            <a:r>
              <a:rPr lang="en-US" sz="2999">
                <a:solidFill>
                  <a:srgbClr val="242424"/>
                </a:solidFill>
                <a:latin typeface="TT Chocolates"/>
                <a:ea typeface="TT Chocolates"/>
                <a:cs typeface="TT Chocolates"/>
                <a:sym typeface="TT Chocolates"/>
              </a:rPr>
              <a:t> La opción más económica no siempre es la más conveniente por su ubicación.</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Comparación poco práctica:</a:t>
            </a:r>
            <a:r>
              <a:rPr lang="en-US" sz="2999">
                <a:solidFill>
                  <a:srgbClr val="242424"/>
                </a:solidFill>
                <a:latin typeface="TT Chocolates"/>
                <a:ea typeface="TT Chocolates"/>
                <a:cs typeface="TT Chocolates"/>
                <a:sym typeface="TT Chocolates"/>
              </a:rPr>
              <a:t> El usuario debe buscar y comparar cada alternativa individualmente.</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Información dispersa</a:t>
            </a:r>
            <a:r>
              <a:rPr lang="en-US" sz="2999">
                <a:solidFill>
                  <a:srgbClr val="242424"/>
                </a:solidFill>
                <a:latin typeface="TT Chocolates"/>
                <a:ea typeface="TT Chocolates"/>
                <a:cs typeface="TT Chocolates"/>
                <a:sym typeface="TT Chocolates"/>
              </a:rPr>
              <a:t>: Los precios están distribuidos en diferentes sitios web.</a:t>
            </a:r>
          </a:p>
        </p:txBody>
      </p:sp>
      <p:grpSp>
        <p:nvGrpSpPr>
          <p:cNvPr name="Group 3" id="3"/>
          <p:cNvGrpSpPr/>
          <p:nvPr/>
        </p:nvGrpSpPr>
        <p:grpSpPr>
          <a:xfrm rot="0">
            <a:off x="946649" y="1796413"/>
            <a:ext cx="7799851" cy="1410541"/>
            <a:chOff x="0" y="0"/>
            <a:chExt cx="3357985" cy="607265"/>
          </a:xfrm>
        </p:grpSpPr>
        <p:sp>
          <p:nvSpPr>
            <p:cNvPr name="Freeform 4" id="4"/>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ln w="66675" cap="sq">
              <a:solidFill>
                <a:srgbClr val="8FA4E1"/>
              </a:solidFill>
              <a:prstDash val="solid"/>
              <a:miter/>
            </a:ln>
          </p:spPr>
        </p:sp>
        <p:sp>
          <p:nvSpPr>
            <p:cNvPr name="TextBox 5" id="5"/>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1631532" y="1507075"/>
            <a:ext cx="6406437" cy="1989219"/>
          </a:xfrm>
          <a:prstGeom prst="rect">
            <a:avLst/>
          </a:prstGeom>
          <a:solidFill>
            <a:srgbClr val="CFDBFF"/>
          </a:solidFill>
        </p:spPr>
      </p:sp>
      <p:sp>
        <p:nvSpPr>
          <p:cNvPr name="TextBox 7" id="7"/>
          <p:cNvSpPr txBox="true"/>
          <p:nvPr/>
        </p:nvSpPr>
        <p:spPr>
          <a:xfrm rot="0">
            <a:off x="1631532" y="1817143"/>
            <a:ext cx="6406437" cy="1418387"/>
          </a:xfrm>
          <a:prstGeom prst="rect">
            <a:avLst/>
          </a:prstGeom>
        </p:spPr>
        <p:txBody>
          <a:bodyPr anchor="t" rtlCol="false" tIns="0" lIns="0" bIns="0" rIns="0">
            <a:spAutoFit/>
          </a:bodyPr>
          <a:lstStyle/>
          <a:p>
            <a:pPr algn="ctr">
              <a:lnSpc>
                <a:spcPts val="10264"/>
              </a:lnSpc>
            </a:pPr>
            <a:r>
              <a:rPr lang="en-US" sz="7775">
                <a:solidFill>
                  <a:srgbClr val="1C1B19"/>
                </a:solidFill>
                <a:latin typeface="Gill Sans Condensed"/>
                <a:ea typeface="Gill Sans Condensed"/>
                <a:cs typeface="Gill Sans Condensed"/>
                <a:sym typeface="Gill Sans Condensed"/>
              </a:rPr>
              <a:t>PROBLEMÁTICA </a:t>
            </a:r>
          </a:p>
        </p:txBody>
      </p:sp>
      <p:sp>
        <p:nvSpPr>
          <p:cNvPr name="TextBox 8" id="8"/>
          <p:cNvSpPr txBox="true"/>
          <p:nvPr/>
        </p:nvSpPr>
        <p:spPr>
          <a:xfrm rot="0">
            <a:off x="9469732" y="3645655"/>
            <a:ext cx="8279966" cy="5694045"/>
          </a:xfrm>
          <a:prstGeom prst="rect">
            <a:avLst/>
          </a:prstGeom>
        </p:spPr>
        <p:txBody>
          <a:bodyPr anchor="t" rtlCol="false" tIns="0" lIns="0" bIns="0" rIns="0">
            <a:spAutoFit/>
          </a:bodyPr>
          <a:lstStyle/>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Información centralizada:</a:t>
            </a:r>
            <a:r>
              <a:rPr lang="en-US" sz="2699">
                <a:solidFill>
                  <a:srgbClr val="242424"/>
                </a:solidFill>
                <a:latin typeface="TT Chocolates"/>
                <a:ea typeface="TT Chocolates"/>
                <a:cs typeface="TT Chocolates"/>
                <a:sym typeface="TT Chocolates"/>
              </a:rPr>
              <a:t> Reunir en una misma plataforma los medicamentos, precios y farmacias disponibles.</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Comparación de precios:</a:t>
            </a:r>
            <a:r>
              <a:rPr lang="en-US" sz="2699">
                <a:solidFill>
                  <a:srgbClr val="242424"/>
                </a:solidFill>
                <a:latin typeface="TT Chocolates"/>
                <a:ea typeface="TT Chocolates"/>
                <a:cs typeface="TT Chocolates"/>
                <a:sym typeface="TT Chocolates"/>
              </a:rPr>
              <a:t> Permitir buscar un medicamento y comparar las alternativas ofrecidas por distintas farmacias.</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Geolocalización:</a:t>
            </a:r>
            <a:r>
              <a:rPr lang="en-US" sz="2699">
                <a:solidFill>
                  <a:srgbClr val="242424"/>
                </a:solidFill>
                <a:latin typeface="TT Chocolates"/>
                <a:ea typeface="TT Chocolates"/>
                <a:cs typeface="TT Chocolates"/>
                <a:sym typeface="TT Chocolates"/>
              </a:rPr>
              <a:t> Mostrar farmacias cercanas y su ubicación para considerar tanto el precio como la distancia.</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Obtención automatizada de datos: </a:t>
            </a:r>
            <a:r>
              <a:rPr lang="en-US" sz="2699">
                <a:solidFill>
                  <a:srgbClr val="242424"/>
                </a:solidFill>
                <a:latin typeface="TT Chocolates"/>
                <a:ea typeface="TT Chocolates"/>
                <a:cs typeface="TT Chocolates"/>
                <a:sym typeface="TT Chocolates"/>
              </a:rPr>
              <a:t>Utilizar mecanismos de extracción de información para mantener los datos disponibles.</a:t>
            </a:r>
          </a:p>
        </p:txBody>
      </p:sp>
      <p:grpSp>
        <p:nvGrpSpPr>
          <p:cNvPr name="Group 9" id="9"/>
          <p:cNvGrpSpPr/>
          <p:nvPr/>
        </p:nvGrpSpPr>
        <p:grpSpPr>
          <a:xfrm rot="0">
            <a:off x="9447625" y="1796413"/>
            <a:ext cx="7799851" cy="1410541"/>
            <a:chOff x="0" y="0"/>
            <a:chExt cx="3357985" cy="607265"/>
          </a:xfrm>
        </p:grpSpPr>
        <p:sp>
          <p:nvSpPr>
            <p:cNvPr name="Freeform 10" id="10"/>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ln w="66675" cap="sq">
              <a:solidFill>
                <a:srgbClr val="8FA4E1"/>
              </a:solidFill>
              <a:prstDash val="solid"/>
              <a:miter/>
            </a:ln>
          </p:spPr>
        </p:sp>
        <p:sp>
          <p:nvSpPr>
            <p:cNvPr name="TextBox 11" id="11"/>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12" id="12"/>
          <p:cNvSpPr/>
          <p:nvPr/>
        </p:nvSpPr>
        <p:spPr>
          <a:xfrm rot="0">
            <a:off x="10132509" y="1507075"/>
            <a:ext cx="6406437" cy="1989219"/>
          </a:xfrm>
          <a:prstGeom prst="rect">
            <a:avLst/>
          </a:prstGeom>
          <a:solidFill>
            <a:srgbClr val="CFDBFF"/>
          </a:solidFill>
        </p:spPr>
      </p:sp>
      <p:sp>
        <p:nvSpPr>
          <p:cNvPr name="TextBox 13" id="13"/>
          <p:cNvSpPr txBox="true"/>
          <p:nvPr/>
        </p:nvSpPr>
        <p:spPr>
          <a:xfrm rot="0">
            <a:off x="10132509" y="1817143"/>
            <a:ext cx="6406437" cy="1418387"/>
          </a:xfrm>
          <a:prstGeom prst="rect">
            <a:avLst/>
          </a:prstGeom>
        </p:spPr>
        <p:txBody>
          <a:bodyPr anchor="t" rtlCol="false" tIns="0" lIns="0" bIns="0" rIns="0">
            <a:spAutoFit/>
          </a:bodyPr>
          <a:lstStyle/>
          <a:p>
            <a:pPr algn="ctr">
              <a:lnSpc>
                <a:spcPts val="10264"/>
              </a:lnSpc>
            </a:pPr>
            <a:r>
              <a:rPr lang="en-US" sz="7775">
                <a:solidFill>
                  <a:srgbClr val="1C1B19"/>
                </a:solidFill>
                <a:latin typeface="Gill Sans Condensed"/>
                <a:ea typeface="Gill Sans Condensed"/>
                <a:cs typeface="Gill Sans Condensed"/>
                <a:sym typeface="Gill Sans Condensed"/>
              </a:rPr>
              <a:t>SOLUCIÓN</a:t>
            </a:r>
          </a:p>
        </p:txBody>
      </p:sp>
      <p:sp>
        <p:nvSpPr>
          <p:cNvPr name="AutoShape 14" id="14"/>
          <p:cNvSpPr/>
          <p:nvPr/>
        </p:nvSpPr>
        <p:spPr>
          <a:xfrm rot="0">
            <a:off x="-734314" y="9404013"/>
            <a:ext cx="20408092" cy="1449430"/>
          </a:xfrm>
          <a:prstGeom prst="rect">
            <a:avLst/>
          </a:prstGeom>
          <a:solidFill>
            <a:srgbClr val="CFDBFF"/>
          </a:solidFill>
        </p:spPr>
      </p:sp>
      <p:sp>
        <p:nvSpPr>
          <p:cNvPr name="AutoShape 15" id="15"/>
          <p:cNvSpPr/>
          <p:nvPr/>
        </p:nvSpPr>
        <p:spPr>
          <a:xfrm rot="0">
            <a:off x="-1636889" y="-420730"/>
            <a:ext cx="20408092" cy="1449430"/>
          </a:xfrm>
          <a:prstGeom prst="rect">
            <a:avLst/>
          </a:prstGeom>
          <a:solidFill>
            <a:srgbClr val="CFDBFF"/>
          </a:solid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5270254" y="461582"/>
            <a:ext cx="7747493" cy="1050335"/>
            <a:chOff x="0" y="0"/>
            <a:chExt cx="3072935" cy="416601"/>
          </a:xfrm>
        </p:grpSpPr>
        <p:sp>
          <p:nvSpPr>
            <p:cNvPr name="Freeform 3" id="3"/>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ln w="66675" cap="sq">
              <a:solidFill>
                <a:srgbClr val="8FA4E1"/>
              </a:solidFill>
              <a:prstDash val="solid"/>
              <a:miter/>
            </a:ln>
          </p:spPr>
        </p:sp>
        <p:sp>
          <p:nvSpPr>
            <p:cNvPr name="TextBox 4" id="4"/>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5763207" y="332285"/>
            <a:ext cx="6802892" cy="1392831"/>
          </a:xfrm>
          <a:prstGeom prst="rect">
            <a:avLst/>
          </a:prstGeom>
          <a:solidFill>
            <a:srgbClr val="CFDBFF"/>
          </a:solidFill>
        </p:spPr>
      </p:sp>
      <p:sp>
        <p:nvSpPr>
          <p:cNvPr name="Freeform 6" id="6"/>
          <p:cNvSpPr/>
          <p:nvPr/>
        </p:nvSpPr>
        <p:spPr>
          <a:xfrm flipH="false" flipV="false" rot="0">
            <a:off x="5532122" y="1511917"/>
            <a:ext cx="7265064" cy="8365098"/>
          </a:xfrm>
          <a:custGeom>
            <a:avLst/>
            <a:gdLst/>
            <a:ahLst/>
            <a:cxnLst/>
            <a:rect r="r" b="b" t="t" l="l"/>
            <a:pathLst>
              <a:path h="8365098" w="7265064">
                <a:moveTo>
                  <a:pt x="0" y="0"/>
                </a:moveTo>
                <a:lnTo>
                  <a:pt x="7265063" y="0"/>
                </a:lnTo>
                <a:lnTo>
                  <a:pt x="7265063" y="8365098"/>
                </a:lnTo>
                <a:lnTo>
                  <a:pt x="0" y="8365098"/>
                </a:lnTo>
                <a:lnTo>
                  <a:pt x="0" y="0"/>
                </a:lnTo>
                <a:close/>
              </a:path>
            </a:pathLst>
          </a:custGeom>
          <a:blipFill>
            <a:blip r:embed="rId2"/>
            <a:stretch>
              <a:fillRect l="0" t="0" r="0" b="0"/>
            </a:stretch>
          </a:blipFill>
        </p:spPr>
      </p:sp>
      <p:sp>
        <p:nvSpPr>
          <p:cNvPr name="TextBox 7" id="7"/>
          <p:cNvSpPr txBox="true"/>
          <p:nvPr/>
        </p:nvSpPr>
        <p:spPr>
          <a:xfrm rot="0">
            <a:off x="5763207" y="504659"/>
            <a:ext cx="6802892" cy="1079642"/>
          </a:xfrm>
          <a:prstGeom prst="rect">
            <a:avLst/>
          </a:prstGeom>
        </p:spPr>
        <p:txBody>
          <a:bodyPr anchor="t" rtlCol="false" tIns="0" lIns="0" bIns="0" rIns="0">
            <a:spAutoFit/>
          </a:bodyPr>
          <a:lstStyle/>
          <a:p>
            <a:pPr algn="ctr">
              <a:lnSpc>
                <a:spcPts val="7726"/>
              </a:lnSpc>
            </a:pPr>
            <a:r>
              <a:rPr lang="en-US" sz="5853" spc="-128">
                <a:solidFill>
                  <a:srgbClr val="1C1B19"/>
                </a:solidFill>
                <a:latin typeface="Gill Sans Condensed"/>
                <a:ea typeface="Gill Sans Condensed"/>
                <a:cs typeface="Gill Sans Condensed"/>
                <a:sym typeface="Gill Sans Condensed"/>
              </a:rPr>
              <a:t>ARQUITECTURA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870321" y="346099"/>
            <a:ext cx="4411568" cy="2102696"/>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480504" y="644543"/>
            <a:ext cx="5326992" cy="1505808"/>
          </a:xfrm>
          <a:prstGeom prst="rect">
            <a:avLst/>
          </a:prstGeom>
          <a:solidFill>
            <a:srgbClr val="CFDBFF"/>
          </a:solidFill>
        </p:spPr>
      </p:sp>
      <p:sp>
        <p:nvSpPr>
          <p:cNvPr name="Freeform 6" id="6"/>
          <p:cNvSpPr/>
          <p:nvPr/>
        </p:nvSpPr>
        <p:spPr>
          <a:xfrm flipH="false" flipV="false" rot="0">
            <a:off x="1923320" y="2792004"/>
            <a:ext cx="14441360" cy="6048671"/>
          </a:xfrm>
          <a:custGeom>
            <a:avLst/>
            <a:gdLst/>
            <a:ahLst/>
            <a:cxnLst/>
            <a:rect r="r" b="b" t="t" l="l"/>
            <a:pathLst>
              <a:path h="6048671" w="14441360">
                <a:moveTo>
                  <a:pt x="0" y="0"/>
                </a:moveTo>
                <a:lnTo>
                  <a:pt x="14441360" y="0"/>
                </a:lnTo>
                <a:lnTo>
                  <a:pt x="14441360" y="6048671"/>
                </a:lnTo>
                <a:lnTo>
                  <a:pt x="0" y="6048671"/>
                </a:lnTo>
                <a:lnTo>
                  <a:pt x="0" y="0"/>
                </a:lnTo>
                <a:close/>
              </a:path>
            </a:pathLst>
          </a:custGeom>
          <a:blipFill>
            <a:blip r:embed="rId2"/>
            <a:stretch>
              <a:fillRect l="0" t="-33253" r="0" b="0"/>
            </a:stretch>
          </a:blipFill>
        </p:spPr>
      </p:sp>
      <p:sp>
        <p:nvSpPr>
          <p:cNvPr name="TextBox 7" id="7"/>
          <p:cNvSpPr txBox="true"/>
          <p:nvPr/>
        </p:nvSpPr>
        <p:spPr>
          <a:xfrm rot="0">
            <a:off x="6480504" y="1016955"/>
            <a:ext cx="5326992" cy="924212"/>
          </a:xfrm>
          <a:prstGeom prst="rect">
            <a:avLst/>
          </a:prstGeom>
        </p:spPr>
        <p:txBody>
          <a:bodyPr anchor="t" rtlCol="false" tIns="0" lIns="0" bIns="0" rIns="0">
            <a:spAutoFit/>
          </a:bodyPr>
          <a:lstStyle/>
          <a:p>
            <a:pPr algn="ctr">
              <a:lnSpc>
                <a:spcPts val="6163"/>
              </a:lnSpc>
            </a:pPr>
            <a:r>
              <a:rPr lang="en-US" sz="5814">
                <a:solidFill>
                  <a:srgbClr val="1C1B19"/>
                </a:solidFill>
                <a:latin typeface="Gill Sans Condensed"/>
                <a:ea typeface="Gill Sans Condensed"/>
                <a:cs typeface="Gill Sans Condensed"/>
                <a:sym typeface="Gill Sans Condensed"/>
              </a:rPr>
              <a:t>MAPA TECNOLOGICO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Freeform 2" id="2"/>
          <p:cNvSpPr/>
          <p:nvPr/>
        </p:nvSpPr>
        <p:spPr>
          <a:xfrm flipH="false" flipV="false" rot="0">
            <a:off x="6753331" y="2964383"/>
            <a:ext cx="4751477" cy="6440391"/>
          </a:xfrm>
          <a:custGeom>
            <a:avLst/>
            <a:gdLst/>
            <a:ahLst/>
            <a:cxnLst/>
            <a:rect r="r" b="b" t="t" l="l"/>
            <a:pathLst>
              <a:path h="6440391" w="4751477">
                <a:moveTo>
                  <a:pt x="0" y="0"/>
                </a:moveTo>
                <a:lnTo>
                  <a:pt x="4751477" y="0"/>
                </a:lnTo>
                <a:lnTo>
                  <a:pt x="4751477" y="6440390"/>
                </a:lnTo>
                <a:lnTo>
                  <a:pt x="0" y="6440390"/>
                </a:lnTo>
                <a:lnTo>
                  <a:pt x="0" y="0"/>
                </a:lnTo>
                <a:close/>
              </a:path>
            </a:pathLst>
          </a:custGeom>
          <a:blipFill>
            <a:blip r:embed="rId2"/>
            <a:stretch>
              <a:fillRect l="0" t="0" r="0" b="0"/>
            </a:stretch>
          </a:blipFill>
        </p:spPr>
      </p:sp>
      <p:grpSp>
        <p:nvGrpSpPr>
          <p:cNvPr name="Group 3" id="3"/>
          <p:cNvGrpSpPr/>
          <p:nvPr/>
        </p:nvGrpSpPr>
        <p:grpSpPr>
          <a:xfrm rot="0">
            <a:off x="6870321" y="346099"/>
            <a:ext cx="4411568" cy="2102696"/>
            <a:chOff x="0" y="0"/>
            <a:chExt cx="2173615" cy="1036016"/>
          </a:xfrm>
        </p:grpSpPr>
        <p:sp>
          <p:nvSpPr>
            <p:cNvPr name="Freeform 4" id="4"/>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5" id="5"/>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6480504" y="644543"/>
            <a:ext cx="5326992" cy="1505808"/>
          </a:xfrm>
          <a:prstGeom prst="rect">
            <a:avLst/>
          </a:prstGeom>
          <a:solidFill>
            <a:srgbClr val="CFDBFF"/>
          </a:solidFill>
        </p:spPr>
      </p:sp>
      <p:sp>
        <p:nvSpPr>
          <p:cNvPr name="TextBox 7" id="7"/>
          <p:cNvSpPr txBox="true"/>
          <p:nvPr/>
        </p:nvSpPr>
        <p:spPr>
          <a:xfrm rot="0">
            <a:off x="7430676" y="762951"/>
            <a:ext cx="3426647" cy="1387400"/>
          </a:xfrm>
          <a:prstGeom prst="rect">
            <a:avLst/>
          </a:prstGeom>
        </p:spPr>
        <p:txBody>
          <a:bodyPr anchor="t" rtlCol="false" tIns="0" lIns="0" bIns="0" rIns="0">
            <a:spAutoFit/>
          </a:bodyPr>
          <a:lstStyle/>
          <a:p>
            <a:pPr algn="ctr">
              <a:lnSpc>
                <a:spcPts val="5018"/>
              </a:lnSpc>
            </a:pPr>
            <a:r>
              <a:rPr lang="en-US" sz="4734">
                <a:solidFill>
                  <a:srgbClr val="1C1B19"/>
                </a:solidFill>
                <a:latin typeface="Gill Sans Condensed"/>
                <a:ea typeface="Gill Sans Condensed"/>
                <a:cs typeface="Gill Sans Condensed"/>
                <a:sym typeface="Gill Sans Condensed"/>
              </a:rPr>
              <a:t>MODELO DE BASE DE DATOS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870321" y="346099"/>
            <a:ext cx="4411568" cy="2102696"/>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480504" y="644543"/>
            <a:ext cx="5326992" cy="1505808"/>
          </a:xfrm>
          <a:prstGeom prst="rect">
            <a:avLst/>
          </a:prstGeom>
          <a:solidFill>
            <a:srgbClr val="CFDBFF"/>
          </a:solidFill>
        </p:spPr>
      </p:sp>
      <p:graphicFrame>
        <p:nvGraphicFramePr>
          <p:cNvPr name="Object 6" id="6"/>
          <p:cNvGraphicFramePr/>
          <p:nvPr/>
        </p:nvGraphicFramePr>
        <p:xfrm>
          <a:off x="2702723" y="2883503"/>
          <a:ext cx="9344025" cy="4400550"/>
        </p:xfrm>
        <a:graphic>
          <a:graphicData uri="http://schemas.openxmlformats.org/presentationml/2006/ole">
            <p:oleObj imgW="11201400" imgH="6261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7" id="7"/>
          <p:cNvSpPr txBox="true"/>
          <p:nvPr/>
        </p:nvSpPr>
        <p:spPr>
          <a:xfrm rot="0">
            <a:off x="6480504" y="1016955"/>
            <a:ext cx="5326992" cy="924212"/>
          </a:xfrm>
          <a:prstGeom prst="rect">
            <a:avLst/>
          </a:prstGeom>
        </p:spPr>
        <p:txBody>
          <a:bodyPr anchor="t" rtlCol="false" tIns="0" lIns="0" bIns="0" rIns="0">
            <a:spAutoFit/>
          </a:bodyPr>
          <a:lstStyle/>
          <a:p>
            <a:pPr algn="ctr">
              <a:lnSpc>
                <a:spcPts val="6163"/>
              </a:lnSpc>
            </a:pPr>
            <a:r>
              <a:rPr lang="en-US" sz="5814">
                <a:solidFill>
                  <a:srgbClr val="1C1B19"/>
                </a:solidFill>
                <a:latin typeface="Gill Sans Condensed"/>
                <a:ea typeface="Gill Sans Condensed"/>
                <a:cs typeface="Gill Sans Condensed"/>
                <a:sym typeface="Gill Sans Condensed"/>
              </a:rPr>
              <a:t>RIESGOS</a:t>
            </a:r>
          </a:p>
        </p:txBody>
      </p:sp>
      <p:sp>
        <p:nvSpPr>
          <p:cNvPr name="TextBox 8" id="8"/>
          <p:cNvSpPr txBox="true"/>
          <p:nvPr/>
        </p:nvSpPr>
        <p:spPr>
          <a:xfrm rot="0">
            <a:off x="822868" y="1030016"/>
            <a:ext cx="5715597" cy="10473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Riesgos al implementar el proyecto</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90131" y="36103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51109" y="697145"/>
            <a:ext cx="5999394" cy="1695879"/>
          </a:xfrm>
          <a:prstGeom prst="rect">
            <a:avLst/>
          </a:prstGeom>
          <a:solidFill>
            <a:srgbClr val="CFDBFF"/>
          </a:solidFill>
        </p:spPr>
      </p:sp>
      <p:sp>
        <p:nvSpPr>
          <p:cNvPr name="Freeform 6" id="6"/>
          <p:cNvSpPr/>
          <p:nvPr/>
        </p:nvSpPr>
        <p:spPr>
          <a:xfrm flipH="false" flipV="false" rot="0">
            <a:off x="15003642" y="682668"/>
            <a:ext cx="1961394" cy="2949465"/>
          </a:xfrm>
          <a:custGeom>
            <a:avLst/>
            <a:gdLst/>
            <a:ahLst/>
            <a:cxnLst/>
            <a:rect r="r" b="b" t="t" l="l"/>
            <a:pathLst>
              <a:path h="2949465" w="1961394">
                <a:moveTo>
                  <a:pt x="0" y="0"/>
                </a:moveTo>
                <a:lnTo>
                  <a:pt x="1961394" y="0"/>
                </a:lnTo>
                <a:lnTo>
                  <a:pt x="1961394" y="2949465"/>
                </a:lnTo>
                <a:lnTo>
                  <a:pt x="0" y="2949465"/>
                </a:lnTo>
                <a:lnTo>
                  <a:pt x="0" y="0"/>
                </a:lnTo>
                <a:close/>
              </a:path>
            </a:pathLst>
          </a:custGeom>
          <a:blipFill>
            <a:blip r:embed="rId2"/>
            <a:stretch>
              <a:fillRect l="0" t="0" r="0" b="0"/>
            </a:stretch>
          </a:blipFill>
        </p:spPr>
      </p:sp>
      <p:sp>
        <p:nvSpPr>
          <p:cNvPr name="TextBox 7" id="7"/>
          <p:cNvSpPr txBox="true"/>
          <p:nvPr/>
        </p:nvSpPr>
        <p:spPr>
          <a:xfrm rot="0">
            <a:off x="6281201" y="1080644"/>
            <a:ext cx="5725598" cy="890782"/>
          </a:xfrm>
          <a:prstGeom prst="rect">
            <a:avLst/>
          </a:prstGeom>
        </p:spPr>
        <p:txBody>
          <a:bodyPr anchor="t" rtlCol="false" tIns="0" lIns="0" bIns="0" rIns="0">
            <a:spAutoFit/>
          </a:bodyPr>
          <a:lstStyle/>
          <a:p>
            <a:pPr algn="ctr">
              <a:lnSpc>
                <a:spcPts val="5930"/>
              </a:lnSpc>
            </a:pPr>
            <a:r>
              <a:rPr lang="en-US" sz="5595">
                <a:solidFill>
                  <a:srgbClr val="1C1B19"/>
                </a:solidFill>
                <a:latin typeface="Gill Sans Condensed"/>
                <a:ea typeface="Gill Sans Condensed"/>
                <a:cs typeface="Gill Sans Condensed"/>
                <a:sym typeface="Gill Sans Condensed"/>
              </a:rPr>
              <a:t>SEGURIDAD Y PRIVACIDAD</a:t>
            </a:r>
          </a:p>
        </p:txBody>
      </p:sp>
      <p:sp>
        <p:nvSpPr>
          <p:cNvPr name="TextBox 8" id="8"/>
          <p:cNvSpPr txBox="true"/>
          <p:nvPr/>
        </p:nvSpPr>
        <p:spPr>
          <a:xfrm rot="0">
            <a:off x="1361208" y="2890747"/>
            <a:ext cx="13237401" cy="6777182"/>
          </a:xfrm>
          <a:prstGeom prst="rect">
            <a:avLst/>
          </a:prstGeom>
        </p:spPr>
        <p:txBody>
          <a:bodyPr anchor="t" rtlCol="false" tIns="0" lIns="0" bIns="0" rIns="0">
            <a:spAutoFit/>
          </a:bodyPr>
          <a:lstStyle/>
          <a:p>
            <a:pPr algn="l">
              <a:lnSpc>
                <a:spcPts val="3359"/>
              </a:lnSpc>
            </a:pPr>
            <a:r>
              <a:rPr lang="en-US" sz="2399">
                <a:solidFill>
                  <a:srgbClr val="242424"/>
                </a:solidFill>
                <a:latin typeface="TT Chocolates"/>
                <a:ea typeface="TT Chocolates"/>
                <a:cs typeface="TT Chocolates"/>
                <a:sym typeface="TT Chocolates"/>
              </a:rPr>
              <a:t>1. Implementación Técnica (Herramientas)</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Gestión de Credenciales: Uso de archivos .env, .gitignore y GitHub Secrets para que ninguna clave quede expuesta. </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Defensa de Base de Datos: Los datos externos se limpian en Python y se insertan usando el ORM de Django, previniendo inyecciones SQL. </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Aute</a:t>
            </a:r>
            <a:r>
              <a:rPr lang="en-US" sz="2399">
                <a:solidFill>
                  <a:srgbClr val="242424"/>
                </a:solidFill>
                <a:latin typeface="TT Chocolates"/>
                <a:ea typeface="TT Chocolates"/>
                <a:cs typeface="TT Chocolates"/>
                <a:sym typeface="TT Chocolates"/>
              </a:rPr>
              <a:t>nticación y Cifrado: El sistema nativo Django Auth se encarga de encriptar las contraseñas de los usuarios registrados (algoritmo PBKDF2) y manejar las sesiones. </a:t>
            </a:r>
          </a:p>
          <a:p>
            <a:pPr algn="l">
              <a:lnSpc>
                <a:spcPts val="3359"/>
              </a:lnSpc>
            </a:pPr>
            <a:r>
              <a:rPr lang="en-US" sz="2399">
                <a:solidFill>
                  <a:srgbClr val="242424"/>
                </a:solidFill>
                <a:latin typeface="TT Chocolates"/>
                <a:ea typeface="TT Chocolates"/>
                <a:cs typeface="TT Chocolates"/>
                <a:sym typeface="TT Chocolates"/>
              </a:rPr>
              <a:t>2. Privacidad y Uso de la Información (Ley 19.628)</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Scraping de Datos Públicos: El sistema automatizado solo extrae información de dominio público (precios y catálogos). </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Usuarios Registrados: El registro es voluntario y con consentimiento explícito. Los datos personales (email/perfil) se usan exclusivamente para las funciones de la plataforma (ej. alertas, favoritos) y no se comparten con terceros.</a:t>
            </a:r>
          </a:p>
          <a:p>
            <a:pPr algn="l" marL="518093" indent="-259046" lvl="1">
              <a:lnSpc>
                <a:spcPts val="3359"/>
              </a:lnSpc>
              <a:buFont typeface="Arial"/>
              <a:buChar char="•"/>
            </a:pPr>
            <a:r>
              <a:rPr lang="en-US" sz="2399">
                <a:solidFill>
                  <a:srgbClr val="242424"/>
                </a:solidFill>
                <a:latin typeface="TT Chocolates"/>
                <a:ea typeface="TT Chocolates"/>
                <a:cs typeface="TT Chocolates"/>
                <a:sym typeface="TT Chocolates"/>
              </a:rPr>
              <a:t>Geolocalización Efímera: La ubicación exacta del usuario para usar el mapa se procesa en el navegador. No se guarda un historial de ubicaciones en la base de datos.</a:t>
            </a:r>
          </a:p>
          <a:p>
            <a:pPr algn="l">
              <a:lnSpc>
                <a:spcPts val="33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90131" y="36103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51109" y="697145"/>
            <a:ext cx="5999394" cy="1695879"/>
          </a:xfrm>
          <a:prstGeom prst="rect">
            <a:avLst/>
          </a:prstGeom>
          <a:solidFill>
            <a:srgbClr val="CFDBFF"/>
          </a:solidFill>
        </p:spPr>
      </p:sp>
      <p:graphicFrame>
        <p:nvGraphicFramePr>
          <p:cNvPr name="Object 6" id="6"/>
          <p:cNvGraphicFramePr/>
          <p:nvPr/>
        </p:nvGraphicFramePr>
        <p:xfrm>
          <a:off x="3335230" y="3172102"/>
          <a:ext cx="7658100" cy="6286500"/>
        </p:xfrm>
        <a:graphic>
          <a:graphicData uri="http://schemas.openxmlformats.org/presentationml/2006/ole">
            <p:oleObj imgW="9182100" imgH="7810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7" id="7"/>
          <p:cNvSpPr txBox="true"/>
          <p:nvPr/>
        </p:nvSpPr>
        <p:spPr>
          <a:xfrm rot="0">
            <a:off x="6281201" y="1080644"/>
            <a:ext cx="5725598" cy="890751"/>
          </a:xfrm>
          <a:prstGeom prst="rect">
            <a:avLst/>
          </a:prstGeom>
        </p:spPr>
        <p:txBody>
          <a:bodyPr anchor="t" rtlCol="false" tIns="0" lIns="0" bIns="0" rIns="0">
            <a:spAutoFit/>
          </a:bodyPr>
          <a:lstStyle/>
          <a:p>
            <a:pPr algn="ctr">
              <a:lnSpc>
                <a:spcPts val="5930"/>
              </a:lnSpc>
            </a:pPr>
            <a:r>
              <a:rPr lang="en-US" sz="5595">
                <a:solidFill>
                  <a:srgbClr val="1C1B19"/>
                </a:solidFill>
                <a:latin typeface="Gill Sans Condensed"/>
                <a:ea typeface="Gill Sans Condensed"/>
                <a:cs typeface="Gill Sans Condensed"/>
                <a:sym typeface="Gill Sans Condensed"/>
              </a:rPr>
              <a:t>SPRINTS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52245" y="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13223" y="336115"/>
            <a:ext cx="5999394" cy="1695879"/>
          </a:xfrm>
          <a:prstGeom prst="rect">
            <a:avLst/>
          </a:prstGeom>
          <a:solidFill>
            <a:srgbClr val="CFDBFF"/>
          </a:solidFill>
        </p:spPr>
      </p:sp>
      <p:pic>
        <p:nvPicPr>
          <p:cNvPr name="Picture 6" id="6">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2042412" y="1452707"/>
            <a:ext cx="14739051" cy="8323229"/>
          </a:xfrm>
          <a:prstGeom prst="rect">
            <a:avLst/>
          </a:prstGeom>
        </p:spPr>
      </p:pic>
      <p:sp>
        <p:nvSpPr>
          <p:cNvPr name="TextBox 7" id="7"/>
          <p:cNvSpPr txBox="true"/>
          <p:nvPr/>
        </p:nvSpPr>
        <p:spPr>
          <a:xfrm rot="0">
            <a:off x="6243315" y="719614"/>
            <a:ext cx="5725598" cy="890782"/>
          </a:xfrm>
          <a:prstGeom prst="rect">
            <a:avLst/>
          </a:prstGeom>
        </p:spPr>
        <p:txBody>
          <a:bodyPr anchor="t" rtlCol="false" tIns="0" lIns="0" bIns="0" rIns="0">
            <a:spAutoFit/>
          </a:bodyPr>
          <a:lstStyle/>
          <a:p>
            <a:pPr algn="ctr">
              <a:lnSpc>
                <a:spcPts val="5930"/>
              </a:lnSpc>
            </a:pPr>
            <a:r>
              <a:rPr lang="en-US" sz="5595">
                <a:solidFill>
                  <a:srgbClr val="1C1B19"/>
                </a:solidFill>
                <a:latin typeface="Gill Sans Condensed"/>
                <a:ea typeface="Gill Sans Condensed"/>
                <a:cs typeface="Gill Sans Condensed"/>
                <a:sym typeface="Gill Sans Condensed"/>
              </a:rPr>
              <a:t>VIDEO</a:t>
            </a:r>
          </a:p>
        </p:txBody>
      </p:sp>
    </p:spTree>
  </p:cSld>
  <p:clrMapOvr>
    <a:masterClrMapping/>
  </p:clrMapOvr>
  <p:timing>
    <p:tnLst>
      <p:par>
        <p:cTn dur="indefinite" restart="never" nodeType="tmRoot">
          <p:childTnLst>
            <p:video>
              <p:cMediaNode vol="100000">
                <p:cTn fill="hold" display="false">
                  <p:stCondLst>
                    <p:cond delay="indefinite"/>
                  </p:stCondLst>
                </p:cTn>
                <p:tgtEl>
                  <p:spTgt spid="6"/>
                </p:tgtEl>
              </p:cMediaNode>
            </p:video>
          </p:childTnLst>
        </p:cTn>
      </p:par>
    </p:tnLst>
  </p:timing>
</p:sld>
</file>

<file path=ppt/slides/slide12.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2457588" y="1291826"/>
            <a:ext cx="14318678" cy="1282750"/>
            <a:chOff x="0" y="0"/>
            <a:chExt cx="6778587" cy="607265"/>
          </a:xfrm>
        </p:grpSpPr>
        <p:sp>
          <p:nvSpPr>
            <p:cNvPr name="Freeform 4" id="4"/>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ln w="66675" cap="sq">
              <a:solidFill>
                <a:srgbClr val="8FA4E1"/>
              </a:solidFill>
              <a:prstDash val="solid"/>
              <a:miter/>
            </a:ln>
          </p:spPr>
        </p:sp>
        <p:sp>
          <p:nvSpPr>
            <p:cNvPr name="TextBox 5" id="5"/>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3087198" y="1028700"/>
            <a:ext cx="13073008" cy="1809001"/>
          </a:xfrm>
          <a:prstGeom prst="rect">
            <a:avLst/>
          </a:prstGeom>
          <a:solidFill>
            <a:srgbClr val="CFDBFF"/>
          </a:solidFill>
        </p:spPr>
      </p:sp>
      <p:sp>
        <p:nvSpPr>
          <p:cNvPr name="TextBox 7" id="7"/>
          <p:cNvSpPr txBox="true"/>
          <p:nvPr/>
        </p:nvSpPr>
        <p:spPr>
          <a:xfrm rot="0">
            <a:off x="2502385" y="3655082"/>
            <a:ext cx="14229084" cy="3914557"/>
          </a:xfrm>
          <a:prstGeom prst="rect">
            <a:avLst/>
          </a:prstGeom>
        </p:spPr>
        <p:txBody>
          <a:bodyPr anchor="t" rtlCol="false" tIns="0" lIns="0" bIns="0" rIns="0">
            <a:spAutoFit/>
          </a:bodyPr>
          <a:lstStyle/>
          <a:p>
            <a:pPr algn="l">
              <a:lnSpc>
                <a:spcPts val="3895"/>
              </a:lnSpc>
            </a:pPr>
            <a:r>
              <a:rPr lang="en-US" sz="2782">
                <a:solidFill>
                  <a:srgbClr val="242424"/>
                </a:solidFill>
                <a:latin typeface="TT Chocolates"/>
                <a:ea typeface="TT Chocolates"/>
                <a:cs typeface="TT Chocolates"/>
                <a:sym typeface="TT Chocolates"/>
              </a:rPr>
              <a:t>FARMA PRICEY busca facilitar la búsqueda y comparación de precios de medicamentos mediante una plataf</a:t>
            </a:r>
            <a:r>
              <a:rPr lang="en-US" sz="2782">
                <a:solidFill>
                  <a:srgbClr val="242424"/>
                </a:solidFill>
                <a:latin typeface="TT Chocolates"/>
                <a:ea typeface="TT Chocolates"/>
                <a:cs typeface="TT Chocolates"/>
                <a:sym typeface="TT Chocolates"/>
              </a:rPr>
              <a:t>orma web que centraliza información de distintas farmacias, permitiendo a los usuarios identificar alternativas según su precio y disponibilidad.</a:t>
            </a:r>
          </a:p>
          <a:p>
            <a:pPr algn="l">
              <a:lnSpc>
                <a:spcPts val="3895"/>
              </a:lnSpc>
            </a:pPr>
          </a:p>
          <a:p>
            <a:pPr algn="l">
              <a:lnSpc>
                <a:spcPts val="3895"/>
              </a:lnSpc>
            </a:pPr>
            <a:r>
              <a:rPr lang="en-US" sz="2782">
                <a:solidFill>
                  <a:srgbClr val="242424"/>
                </a:solidFill>
                <a:latin typeface="TT Chocolates"/>
                <a:ea typeface="TT Chocolates"/>
                <a:cs typeface="TT Chocolates"/>
                <a:sym typeface="TT Chocolates"/>
              </a:rPr>
              <a:t>Hasta ahora el proyecto va de acuerdo a lo planificado con los sprints, incluso de forma adelantada, se espera que más adelante se puedan implementar más funciones como la geolocalización, además de más productos como de hiegiene, cosmeticos, entre otros.</a:t>
            </a:r>
          </a:p>
          <a:p>
            <a:pPr algn="l" marL="0" indent="0" lvl="0">
              <a:lnSpc>
                <a:spcPts val="3895"/>
              </a:lnSpc>
            </a:pPr>
          </a:p>
        </p:txBody>
      </p:sp>
      <p:sp>
        <p:nvSpPr>
          <p:cNvPr name="TextBox 8" id="8"/>
          <p:cNvSpPr txBox="true"/>
          <p:nvPr/>
        </p:nvSpPr>
        <p:spPr>
          <a:xfrm rot="0">
            <a:off x="3087198" y="1057099"/>
            <a:ext cx="13073008" cy="1899764"/>
          </a:xfrm>
          <a:prstGeom prst="rect">
            <a:avLst/>
          </a:prstGeom>
        </p:spPr>
        <p:txBody>
          <a:bodyPr anchor="t" rtlCol="false" tIns="0" lIns="0" bIns="0" rIns="0">
            <a:spAutoFit/>
          </a:bodyPr>
          <a:lstStyle/>
          <a:p>
            <a:pPr algn="ctr">
              <a:lnSpc>
                <a:spcPts val="13653"/>
              </a:lnSpc>
            </a:pPr>
            <a:r>
              <a:rPr lang="en-US" sz="10343">
                <a:solidFill>
                  <a:srgbClr val="1C1B19"/>
                </a:solidFill>
                <a:latin typeface="Gill Sans Condensed"/>
                <a:ea typeface="Gill Sans Condensed"/>
                <a:cs typeface="Gill Sans Condensed"/>
                <a:sym typeface="Gill Sans Condensed"/>
              </a:rPr>
              <a:t>CONCLUSIONES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94544" y="620169"/>
            <a:ext cx="14619414" cy="8985697"/>
            <a:chOff x="0" y="0"/>
            <a:chExt cx="4284994" cy="2633735"/>
          </a:xfrm>
        </p:grpSpPr>
        <p:sp>
          <p:nvSpPr>
            <p:cNvPr name="Freeform 3" id="3"/>
            <p:cNvSpPr/>
            <p:nvPr/>
          </p:nvSpPr>
          <p:spPr>
            <a:xfrm flipH="false" flipV="false" rot="0">
              <a:off x="0" y="0"/>
              <a:ext cx="4284994" cy="2633735"/>
            </a:xfrm>
            <a:custGeom>
              <a:avLst/>
              <a:gdLst/>
              <a:ahLst/>
              <a:cxnLst/>
              <a:rect r="r" b="b" t="t" l="l"/>
              <a:pathLst>
                <a:path h="2633735" w="4284994">
                  <a:moveTo>
                    <a:pt x="0" y="0"/>
                  </a:moveTo>
                  <a:lnTo>
                    <a:pt x="4284994" y="0"/>
                  </a:lnTo>
                  <a:lnTo>
                    <a:pt x="4284994" y="2633735"/>
                  </a:lnTo>
                  <a:lnTo>
                    <a:pt x="0" y="2633735"/>
                  </a:lnTo>
                  <a:close/>
                </a:path>
              </a:pathLst>
            </a:custGeom>
            <a:ln w="66675" cap="sq">
              <a:solidFill>
                <a:srgbClr val="8FA4E1"/>
              </a:solidFill>
              <a:prstDash val="solid"/>
              <a:miter/>
            </a:ln>
          </p:spPr>
        </p:sp>
        <p:sp>
          <p:nvSpPr>
            <p:cNvPr name="TextBox 4" id="4"/>
            <p:cNvSpPr txBox="true"/>
            <p:nvPr/>
          </p:nvSpPr>
          <p:spPr>
            <a:xfrm>
              <a:off x="0" y="-38100"/>
              <a:ext cx="4284994"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230600" cy="3964452"/>
          </a:xfrm>
          <a:prstGeom prst="rect">
            <a:avLst/>
          </a:prstGeom>
          <a:solidFill>
            <a:srgbClr val="CFDBFF"/>
          </a:solidFill>
        </p:spPr>
      </p:sp>
      <p:sp>
        <p:nvSpPr>
          <p:cNvPr name="TextBox 6" id="6"/>
          <p:cNvSpPr txBox="true"/>
          <p:nvPr/>
        </p:nvSpPr>
        <p:spPr>
          <a:xfrm rot="0">
            <a:off x="2225537" y="3272235"/>
            <a:ext cx="14309803" cy="3695812"/>
          </a:xfrm>
          <a:prstGeom prst="rect">
            <a:avLst/>
          </a:prstGeom>
        </p:spPr>
        <p:txBody>
          <a:bodyPr anchor="t" rtlCol="false" tIns="0" lIns="0" bIns="0" rIns="0">
            <a:spAutoFit/>
          </a:bodyPr>
          <a:lstStyle/>
          <a:p>
            <a:pPr algn="ctr">
              <a:lnSpc>
                <a:spcPts val="26681"/>
              </a:lnSpc>
            </a:pPr>
            <a:r>
              <a:rPr lang="en-US" sz="20212">
                <a:solidFill>
                  <a:srgbClr val="000000"/>
                </a:solidFill>
                <a:latin typeface="Gill Sans Condensed"/>
                <a:ea typeface="Gill Sans Condensed"/>
                <a:cs typeface="Gill Sans Condensed"/>
                <a:sym typeface="Gill Sans Condense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DAHToLa6Uds</dc:identifier>
  <dcterms:modified xsi:type="dcterms:W3CDTF">2011-08-01T06:04:30Z</dcterms:modified>
  <cp:revision>1</cp:revision>
  <dc:title>Presentación Diapositivas Informe de Negocios Corporativo Azul</dc:title>
</cp:coreProperties>
</file>